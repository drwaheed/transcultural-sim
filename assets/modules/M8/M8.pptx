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8"/>
  </p:notesMasterIdLst>
  <p:sldIdLst>
    <p:sldId id="316" r:id="rId3"/>
    <p:sldId id="441" r:id="rId4"/>
    <p:sldId id="282" r:id="rId5"/>
    <p:sldId id="317" r:id="rId6"/>
    <p:sldId id="318" r:id="rId7"/>
    <p:sldId id="319" r:id="rId8"/>
    <p:sldId id="320" r:id="rId9"/>
    <p:sldId id="321" r:id="rId10"/>
    <p:sldId id="322" r:id="rId11"/>
    <p:sldId id="323" r:id="rId12"/>
    <p:sldId id="324" r:id="rId13"/>
    <p:sldId id="325" r:id="rId14"/>
    <p:sldId id="326" r:id="rId15"/>
    <p:sldId id="327" r:id="rId16"/>
    <p:sldId id="328" r:id="rId17"/>
    <p:sldId id="329" r:id="rId18"/>
    <p:sldId id="349" r:id="rId19"/>
    <p:sldId id="331" r:id="rId20"/>
    <p:sldId id="332" r:id="rId21"/>
    <p:sldId id="330" r:id="rId22"/>
    <p:sldId id="333" r:id="rId23"/>
    <p:sldId id="334" r:id="rId24"/>
    <p:sldId id="336" r:id="rId25"/>
    <p:sldId id="339" r:id="rId26"/>
    <p:sldId id="337" r:id="rId27"/>
    <p:sldId id="340" r:id="rId28"/>
    <p:sldId id="345" r:id="rId29"/>
    <p:sldId id="341" r:id="rId30"/>
    <p:sldId id="342" r:id="rId31"/>
    <p:sldId id="343" r:id="rId32"/>
    <p:sldId id="346" r:id="rId33"/>
    <p:sldId id="348" r:id="rId34"/>
    <p:sldId id="351" r:id="rId35"/>
    <p:sldId id="350" r:id="rId36"/>
    <p:sldId id="256" r:id="rId37"/>
    <p:sldId id="354" r:id="rId38"/>
    <p:sldId id="355" r:id="rId39"/>
    <p:sldId id="356" r:id="rId40"/>
    <p:sldId id="358" r:id="rId41"/>
    <p:sldId id="357" r:id="rId42"/>
    <p:sldId id="359" r:id="rId43"/>
    <p:sldId id="360" r:id="rId44"/>
    <p:sldId id="364" r:id="rId45"/>
    <p:sldId id="365" r:id="rId46"/>
    <p:sldId id="366" r:id="rId47"/>
    <p:sldId id="367" r:id="rId48"/>
    <p:sldId id="368" r:id="rId49"/>
    <p:sldId id="369" r:id="rId50"/>
    <p:sldId id="370" r:id="rId51"/>
    <p:sldId id="371" r:id="rId52"/>
    <p:sldId id="372" r:id="rId53"/>
    <p:sldId id="374" r:id="rId54"/>
    <p:sldId id="375" r:id="rId55"/>
    <p:sldId id="440" r:id="rId56"/>
    <p:sldId id="26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F781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70327" autoAdjust="0"/>
  </p:normalViewPr>
  <p:slideViewPr>
    <p:cSldViewPr snapToGrid="0">
      <p:cViewPr varScale="1">
        <p:scale>
          <a:sx n="58" d="100"/>
          <a:sy n="58" d="100"/>
        </p:scale>
        <p:origin x="1483" y="48"/>
      </p:cViewPr>
      <p:guideLst/>
    </p:cSldViewPr>
  </p:slideViewPr>
  <p:outlineViewPr>
    <p:cViewPr>
      <p:scale>
        <a:sx n="33" d="100"/>
        <a:sy n="33" d="100"/>
      </p:scale>
      <p:origin x="0" y="-2452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customXml" Target="../customXml/item2.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65"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4638B-FD58-490D-8585-E913B7759889}"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4F8E-C554-405E-B376-F258D8612E9F}" type="slidenum">
              <a:rPr lang="en-US" smtClean="0"/>
              <a:t>‹#›</a:t>
            </a:fld>
            <a:endParaRPr lang="en-US"/>
          </a:p>
        </p:txBody>
      </p:sp>
    </p:spTree>
    <p:extLst>
      <p:ext uri="{BB962C8B-B14F-4D97-AF65-F5344CB8AC3E}">
        <p14:creationId xmlns:p14="http://schemas.microsoft.com/office/powerpoint/2010/main" val="3186456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69172C6-C4C4-410B-AFF3-11BA2B03F7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50000"/>
              </a:spcBef>
              <a:spcAft>
                <a:spcPct val="0"/>
              </a:spcAft>
              <a:defRPr>
                <a:solidFill>
                  <a:schemeClr val="tx1"/>
                </a:solidFill>
                <a:latin typeface="Arial" panose="020B0604020202020204" pitchFamily="34" charset="0"/>
              </a:defRPr>
            </a:lvl6pPr>
            <a:lvl7pPr marL="2971800" indent="-228600" eaLnBrk="0" fontAlgn="base" hangingPunct="0">
              <a:spcBef>
                <a:spcPct val="50000"/>
              </a:spcBef>
              <a:spcAft>
                <a:spcPct val="0"/>
              </a:spcAft>
              <a:defRPr>
                <a:solidFill>
                  <a:schemeClr val="tx1"/>
                </a:solidFill>
                <a:latin typeface="Arial" panose="020B0604020202020204" pitchFamily="34" charset="0"/>
              </a:defRPr>
            </a:lvl7pPr>
            <a:lvl8pPr marL="3429000" indent="-228600" eaLnBrk="0" fontAlgn="base" hangingPunct="0">
              <a:spcBef>
                <a:spcPct val="50000"/>
              </a:spcBef>
              <a:spcAft>
                <a:spcPct val="0"/>
              </a:spcAft>
              <a:defRPr>
                <a:solidFill>
                  <a:schemeClr val="tx1"/>
                </a:solidFill>
                <a:latin typeface="Arial" panose="020B0604020202020204" pitchFamily="34" charset="0"/>
              </a:defRPr>
            </a:lvl8pPr>
            <a:lvl9pPr marL="3886200" indent="-228600" eaLnBrk="0" fontAlgn="base" hangingPunct="0">
              <a:spcBef>
                <a:spcPct val="50000"/>
              </a:spcBef>
              <a:spcAft>
                <a:spcPct val="0"/>
              </a:spcAft>
              <a:defRPr>
                <a:solidFill>
                  <a:schemeClr val="tx1"/>
                </a:solidFill>
                <a:latin typeface="Arial" panose="020B0604020202020204" pitchFamily="34" charset="0"/>
              </a:defRPr>
            </a:lvl9pPr>
          </a:lstStyle>
          <a:p>
            <a:fld id="{48A7B71A-F077-453E-8961-B5017DDFE4FB}" type="slidenum">
              <a:rPr lang="en-US" altLang="en-US"/>
              <a:pPr/>
              <a:t>1</a:t>
            </a:fld>
            <a:endParaRPr lang="en-US" altLang="en-US"/>
          </a:p>
        </p:txBody>
      </p:sp>
      <p:sp>
        <p:nvSpPr>
          <p:cNvPr id="41987" name="Rectangle 2">
            <a:extLst>
              <a:ext uri="{FF2B5EF4-FFF2-40B4-BE49-F238E27FC236}">
                <a16:creationId xmlns:a16="http://schemas.microsoft.com/office/drawing/2014/main" id="{62F1FA1F-C9B0-434C-86AB-CA04A291062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8FBF7866-3A4B-4FA3-A446-9A9AFA114D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lvl="1" indent="0">
              <a:buFont typeface="+mj-lt"/>
              <a:buNone/>
            </a:pPr>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7F48-60A7-7E48-B6D7-1E184506A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E1670-9DE2-D14A-4F9C-9F8A81255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1A49E-B34C-D3B5-F942-7AFF95D88B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035A5-2F35-F5F5-2F12-E0EC2EA6DC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8573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532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FCAD1-A581-3451-051B-0894558B2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E998B-602B-4744-8844-E7E5BC06A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B545A-E886-4960-A1A2-186A62FB59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211979-88A5-6169-EFCA-E448BD5F34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375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32C5-3507-7384-F384-04DAF718B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591F5-FA4C-EABF-5081-E9B27F7E5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FDDAA-A7B8-A503-340C-37FC7082DA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22B09D-493D-64DA-6C68-F73904F967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2355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2137-4940-9764-5278-BEB6815B3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C34A4-920E-7652-BFC4-18CC18A3DF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6D947-BCB6-6D38-E859-00E4E247B9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7DD362-537D-A111-431D-86235B3F97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009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E4B76-57AA-BC7F-B035-4E66741CF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027F5-D612-D4B0-5AED-0956AE6E0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9ABD2-0A86-E165-B163-E8BE78ACA8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498608-F000-57B6-4836-AC2AF605F9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6071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ABB1D-B3F0-6AAC-364B-3AF2FD673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47D6D-B96B-7285-5FCF-F2DF741D84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7B4ED-EA82-1592-D186-35EDC60F5F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0044B5-E0D8-56BE-8B23-81E7C8AF30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171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A4C60-0359-2BD1-E0F7-D466CCBD7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BEAB2-039C-544B-5A7C-51CCF95E3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C1C37-6EFB-0463-A55E-0E2626FA2E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8698DD-C678-53DB-C4DF-18218D200D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7443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97A6-9324-CE94-3C3A-8E28E6020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6B833-FB90-A962-8D6B-EB8A24449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A0E1D-C047-0BF8-C762-11DA0F049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737153-DFDF-4769-D3EC-F9640F1F2B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2240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A5A6-0C17-84AB-2C8D-F6C1C9667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9348E-0D13-9268-E2E4-90C703828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89BD5-D3C7-0442-CB71-D520DE055E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9A85A1-D88D-B432-5F34-B7B61C3B22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622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E6A0B-BB8E-BAEA-2A24-36D26CE0D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12756-D314-F35A-11C5-003FED81E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790CB-00B7-E448-D70E-ABEB5F4730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BC714A-0282-FA5A-AB71-367CA4CA0C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294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5DEF5-D840-C6B8-6488-BBD36A44E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ACD32-7C9B-7980-D7E1-1DC4D3BC2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B6561-EC3A-FD90-5E11-2554E32A7E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2DE7FB-417A-0012-BEB2-17FF437A18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210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BD900-F9F7-2E0F-0064-E047C4FC8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17ED1-8B9D-489D-55C9-1F08D5404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79AA7-035E-1157-D50A-161E745A0B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1209F8-A8E2-0E0D-94D0-529857744B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378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F9910-90EF-20A8-E2B7-20B2BE9EC5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C519B-1174-7623-0566-146891B8A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D5E42-486A-0154-1898-1FD976086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08DFEC-0AFC-F3F2-F80C-A31221CF67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F04F8E-C554-405E-B376-F258D8612E9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4703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9207E-4983-88EF-A74F-0FA6152FD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86F21-CBE9-061E-9D03-2A3428101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10B98-68B0-D9AC-55A5-34AD083A7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C8E62-EB3C-C5B9-0430-304BA73B34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8262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2558-EB02-3E78-6028-12EE8A4A3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F712C-4193-8594-98A6-185B4520D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DF0A2-E86B-7473-CA9D-45E638B659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1CB9B-CB9F-237F-CB77-66B9990F78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9431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89E2-6803-E16F-3F0A-6440E47EB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BC9F9-36F8-53D7-CAF8-CC2ACA679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351C8-542A-B3BB-91BD-8ADA6D99FD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D4825B-870C-8032-D7D7-4C34AD65F8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6938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06928-1327-7317-E473-292913C8A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103E5-5156-9EF6-E84C-99FA9DBD1F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FD21C-E043-7D85-4F5A-B24110B88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BC0964-58BD-B796-058E-2D5523B301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7237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02FF9-1BB2-D949-C222-6C9A2BE75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F9804-7C0C-EDD3-AC9C-DD34234EB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AB1DD-E8A8-2D04-BDAC-DC029EEDCD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253347-73F0-35CC-0315-76329FD185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925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E202C-7F2F-5624-9565-759C80493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C694C-512A-D6BF-D79F-626FA2AA5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004C9-DB56-E9B9-F39C-92F95D86EC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C78BC-FA9C-C750-AFDB-F256D12E6D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5844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A5881-2BE7-E927-7DC7-FF8E0CE99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3BE1A-CE3C-FF65-C97B-28D105D38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0F2A0-CBB7-95F1-3428-5A222D8CE1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48221A-532E-54CE-BDF6-4ECA223D3F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4419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F93F-2CBD-B891-FB36-64BD5BF60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5A657-55ED-D731-157F-E06D402F3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73806-D873-2ACB-AFF4-B6E6F93F3A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B78BC4-93A0-84D4-60F4-C2DF41CC75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7549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8105-9A21-38D3-C7E2-411B83146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D4912-68E3-BEF1-D1A6-2B27B8DC4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D1062-58E3-6C89-F68E-0AB4B97031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DC8F87-501E-777B-91E0-FADEE4621F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8941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7E86E-CCFF-93F6-93AE-69F5ABA68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E906A-96BF-A63A-B78B-F79501594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F5D54-385F-378D-9BF8-E7CADA0BD8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CB1F36-BB27-4AA4-4AE4-4638563893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8507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661BA-AF61-1DDC-17F8-16CD2C60F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8FB92-E2F3-B7FE-BF16-D95780BF9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2C63D9-DEF2-1D33-194E-2CF5162E9F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9968F-696F-2AD8-F96C-0815901DF0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29665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AA22D-8A09-0364-59C8-EB77EA123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56F3F-C354-80FE-80AD-FCCE48873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38CE7-8FB3-AB2F-366D-539FDE1841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B7F1B-8B74-4AB1-BAE2-9FB9B24FB2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7935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B3039-AEFC-9377-7775-C1AB24F83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C3B06-E574-1C9E-D76F-382D4B67C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02619-AA2E-4BD0-99CF-EE698C2C8D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069F9C-A78D-A150-0A26-03EBBA6E1B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236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99A58-4550-E10B-F6FA-B29DD51FB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E36D9-2127-6E6E-C720-9DFA26BB3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AD026-8DE7-381D-F389-4661AB5B2C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BB24B0-5D78-AEB1-D07A-390FAD1625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18360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D51E3-D5DF-0DC4-2BD3-BBEDD64F6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28ECB-79EC-47FB-8AFD-561C99F52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774A1-470D-CDD5-C9A6-2F04C19821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BFDFE8-C30D-8AB5-C698-BF10A69C33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9485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C710-B004-7F7B-E2ED-B41D9DBFD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E224C-3166-1145-3C4B-111F60D7A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C5CF8-753D-5D32-3D70-4A5182CA0D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EB7510-6C02-FADA-D2CC-B63E0C9651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9712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0262-0E35-043C-EF80-1EF8BEEA5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1CD51-93A6-D075-9F13-5E18EDE9A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B3422-8933-83E1-AB29-745ADAD35B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332A74-7546-1D13-D1D2-14C1B86986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16617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B72AF-FD17-4D88-D46C-05A484F43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E0916-1559-CAF9-4D47-9F60B01FB9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5A3F7-2FA7-327E-2DDB-03EDBD6D20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670F8-9538-2945-C4AA-F010BDC797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3364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F04F8E-C554-405E-B376-F258D8612E9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819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B0E5E-A12E-C922-4480-C2F29F979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3D87D-5D31-E693-6D19-FB87DC045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5A6FE-E5BD-744C-77E8-37DCD9AF17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622FE-CF35-BC24-CACE-9CD17F760D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29114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B0E5E-A12E-C922-4480-C2F29F979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3D87D-5D31-E693-6D19-FB87DC045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5A6FE-E5BD-744C-77E8-37DCD9AF17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622FE-CF35-BC24-CACE-9CD17F760D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64350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8706-6E61-437F-1E2D-0869F7DFA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BEE95-B5DC-B996-4C96-66209E5BA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B97CA-7C59-66E4-1D1F-E31D0FB8CD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A16F66-9EAA-1A07-5A81-56FC304F47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6097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C7E7A-164A-5B91-F7EE-18003E63C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F6501-A760-7DED-B843-4F93FB4E2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E05B6-2A7A-FA09-7E9B-A9C27DD58E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B89FDD-F8F3-F4BE-5D8B-12E3BC8B3E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3042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A2B72-60E3-E5AC-5817-7D043FE9E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7CD08-5F68-739D-C953-79AB615FD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6FEB3-A4B2-E36B-6CCD-B12FD76407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EB00E4-097E-49DC-0CEB-4E60F27D1F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3644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13062-7878-6CF2-0F9C-AFBABB3A0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2E2F2-AD75-FEC3-E6D5-378DF6D55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AA7F1-16AD-ED1B-716A-17D727FB10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33A4E8-B33A-16BA-8843-B2EDAA6A6A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89788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0E2F-B185-8BC6-F8CE-4A65E2672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C5349-5ADF-1802-F2E2-62DF46739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3CD57-49FA-1133-1BC6-A9CFDFCDFB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F88D77-D426-1699-608D-629149B426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28176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934FB-12ED-E36D-A7E1-A977C53D2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DE1D2-27B7-BAD0-3D07-44756C2AC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EA96D-5AA7-C033-27EE-428E057C6B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F9A66-43EB-5540-5759-F8ED9177D7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85990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A7553-DD51-8A9E-E0B1-28EDB5B8B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3DA9F-8142-7C30-62D3-8EED6DF3D7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B50E8-850E-9EDD-0DFA-AA8B42CCF3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B1A4E0-4E63-EF97-A940-C0832CFB1B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94264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A465-2EFF-34C0-A0B4-77CAA0108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9EB72-6331-53A4-9A6E-64C1FD923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4E42B-0EAF-D825-C2F7-CF540299C4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5BF683-065E-B88C-A05F-47411C2826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3456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F8E13-A084-861E-A95B-01CF5032C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9EDC1-1730-B406-4164-877EEC97D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0848A-A181-09E9-8765-921411A51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51F068-3E05-2A18-F20D-5EEBFD634A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968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E14F-82BA-EA73-66A0-6AE0649E5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37EA0-78DB-E602-C0D1-922CEF9C7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F83D2-9C6A-2577-F6E3-5AA91AD79B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AE8666-BBDD-B84C-4852-D0F130AD98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15A8-E8CB-4F6E-81E0-C955B92F09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2911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40EC-8D90-78F3-BF2E-99513E714F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C00749-1536-F29C-432A-913D2AFF55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4B1EF2-E7EE-9E17-D241-6931D70E5373}"/>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5" name="Footer Placeholder 4">
            <a:extLst>
              <a:ext uri="{FF2B5EF4-FFF2-40B4-BE49-F238E27FC236}">
                <a16:creationId xmlns:a16="http://schemas.microsoft.com/office/drawing/2014/main" id="{56B2E151-E6E7-B004-C91D-0DDEFA779B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2F317F-AD32-1C50-D75A-8AE6B3E38BE8}"/>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2790258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D0A8-7C98-0D8E-5B23-B1751EEAD2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6CDA3C-2181-2B12-84CC-560F8B062C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CAD488-B240-53F0-EEC2-71B3724D63D7}"/>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5" name="Footer Placeholder 4">
            <a:extLst>
              <a:ext uri="{FF2B5EF4-FFF2-40B4-BE49-F238E27FC236}">
                <a16:creationId xmlns:a16="http://schemas.microsoft.com/office/drawing/2014/main" id="{A0E41D77-428B-95E1-8AE0-8E0526CC4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639FAC-D2C3-DD18-3BCB-E0B27EE3E1AA}"/>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4019138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B695-E03E-2044-FBD0-914FB6CE2B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5EAE47-3D33-BC36-ECFA-0DE4C5E698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9F1E30-2B75-D70B-4F73-BE387A17FDD7}"/>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5" name="Footer Placeholder 4">
            <a:extLst>
              <a:ext uri="{FF2B5EF4-FFF2-40B4-BE49-F238E27FC236}">
                <a16:creationId xmlns:a16="http://schemas.microsoft.com/office/drawing/2014/main" id="{3838267A-270B-00B3-7E2F-D1677A3CB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07E2A-7119-F11B-D90C-48F7E0E6CFC6}"/>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60072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9772-8153-E46D-8F34-4B16A5D06B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B42156-C734-594D-3E23-B7530DC280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94F9E8-346F-E1DE-7B22-CC9F05D153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90FE35-6C30-299B-1E6F-0821B112DF42}"/>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6" name="Footer Placeholder 5">
            <a:extLst>
              <a:ext uri="{FF2B5EF4-FFF2-40B4-BE49-F238E27FC236}">
                <a16:creationId xmlns:a16="http://schemas.microsoft.com/office/drawing/2014/main" id="{9F363207-1E3F-96A2-2B77-D67969CEF6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D737ED-507B-6C3C-2E78-6DAD6603EC44}"/>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85164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B1534-564A-A848-32AD-6073A62953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4977E0-305B-3444-744B-5C22C2B8D4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DA9836-43EC-52F0-93F3-C9F72B8B1B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212E50-2516-C6B8-9D9F-94AA594406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13301B-ADDC-6F24-3A61-8425DADDCE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6BEC1D-082E-DCDD-1769-8410293A0044}"/>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8" name="Footer Placeholder 7">
            <a:extLst>
              <a:ext uri="{FF2B5EF4-FFF2-40B4-BE49-F238E27FC236}">
                <a16:creationId xmlns:a16="http://schemas.microsoft.com/office/drawing/2014/main" id="{A448EE9D-54E4-84CB-EBDC-0DE0A15B7E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F39D46-A258-E417-FDD7-9FBA0D4FF914}"/>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2132904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D9ED4-6CCD-21A7-A89A-7F7EEDA4BF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9962B2-35D0-5DB9-F062-58C496BFF8B1}"/>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4" name="Footer Placeholder 3">
            <a:extLst>
              <a:ext uri="{FF2B5EF4-FFF2-40B4-BE49-F238E27FC236}">
                <a16:creationId xmlns:a16="http://schemas.microsoft.com/office/drawing/2014/main" id="{96B8CEA8-FF78-B5D0-EB5C-5579F727A1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1E33C3-4F08-2C11-7DD3-6DF5D92E7FA1}"/>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2345188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BA4D5D-EB59-EC8D-9360-B27F09658616}"/>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3" name="Footer Placeholder 2">
            <a:extLst>
              <a:ext uri="{FF2B5EF4-FFF2-40B4-BE49-F238E27FC236}">
                <a16:creationId xmlns:a16="http://schemas.microsoft.com/office/drawing/2014/main" id="{9D06BD01-B050-8AC7-C8D1-C082DB63CA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D33979-3EB6-1274-3D07-39ABA392464E}"/>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2105171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A0EF5-1AD1-D5CE-D5BF-4FBAD1575F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7DC168-14F5-2D4E-0979-92D56B25B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34A861-8250-7820-0BDB-B30D67EEC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9B4057-9274-3FA9-DB02-F246ED58DFA1}"/>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6" name="Footer Placeholder 5">
            <a:extLst>
              <a:ext uri="{FF2B5EF4-FFF2-40B4-BE49-F238E27FC236}">
                <a16:creationId xmlns:a16="http://schemas.microsoft.com/office/drawing/2014/main" id="{60FBF93D-DF32-BD2E-0BF3-DD418D70D9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CB01E-4D72-7124-FB5A-FF2153B15D17}"/>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3152421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6731-CA79-E1A5-4F59-9C3EEFB9F9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83B7F2-087F-9254-E19C-0973691A71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082180-0122-D4EF-86D0-476BDFFCD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41A22-D002-7F18-7C1D-3083471BA3E9}"/>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6" name="Footer Placeholder 5">
            <a:extLst>
              <a:ext uri="{FF2B5EF4-FFF2-40B4-BE49-F238E27FC236}">
                <a16:creationId xmlns:a16="http://schemas.microsoft.com/office/drawing/2014/main" id="{D46EA375-619F-4D72-CB75-08DF7B7C4A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F595EA-ECB5-60CA-355B-FFC5976A6334}"/>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183918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B862-C492-D0CA-6BE5-2F2855B4D5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8F96BB-57D9-8FB3-D7EF-12D02CC49C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13ECE-285A-2167-CEDB-0C9A11774484}"/>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5" name="Footer Placeholder 4">
            <a:extLst>
              <a:ext uri="{FF2B5EF4-FFF2-40B4-BE49-F238E27FC236}">
                <a16:creationId xmlns:a16="http://schemas.microsoft.com/office/drawing/2014/main" id="{DA19B3D6-B463-5375-DE59-9F29864F5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DE1EC-0712-C3B0-1965-6ED92DFEFA35}"/>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2644468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AA1B38-AFC8-9BDD-D476-01A8B3EB20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FC369E-1A43-5380-F6B1-C54D7707DE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70A5E-E972-55AD-2CFC-C2CA608FF00E}"/>
              </a:ext>
            </a:extLst>
          </p:cNvPr>
          <p:cNvSpPr>
            <a:spLocks noGrp="1"/>
          </p:cNvSpPr>
          <p:nvPr>
            <p:ph type="dt" sz="half" idx="10"/>
          </p:nvPr>
        </p:nvSpPr>
        <p:spPr/>
        <p:txBody>
          <a:bodyPr/>
          <a:lstStyle/>
          <a:p>
            <a:fld id="{48EF6573-08D2-49DD-98B3-E9068D560809}" type="datetimeFigureOut">
              <a:rPr lang="en-US" smtClean="0"/>
              <a:t>9/7/2026</a:t>
            </a:fld>
            <a:endParaRPr lang="en-US"/>
          </a:p>
        </p:txBody>
      </p:sp>
      <p:sp>
        <p:nvSpPr>
          <p:cNvPr id="5" name="Footer Placeholder 4">
            <a:extLst>
              <a:ext uri="{FF2B5EF4-FFF2-40B4-BE49-F238E27FC236}">
                <a16:creationId xmlns:a16="http://schemas.microsoft.com/office/drawing/2014/main" id="{BA6BF9B9-987F-B0B6-1D10-EA4D3B5797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18C6E-DA68-F84E-ADBD-7076D52860A8}"/>
              </a:ext>
            </a:extLst>
          </p:cNvPr>
          <p:cNvSpPr>
            <a:spLocks noGrp="1"/>
          </p:cNvSpPr>
          <p:nvPr>
            <p:ph type="sldNum" sz="quarter" idx="12"/>
          </p:nvPr>
        </p:nvSpPr>
        <p:spPr/>
        <p:txBody>
          <a:bodyPr/>
          <a:lstStyle/>
          <a:p>
            <a:fld id="{26ECF34D-B208-45AE-803C-913FFE747C07}" type="slidenum">
              <a:rPr lang="en-US" smtClean="0"/>
              <a:t>‹#›</a:t>
            </a:fld>
            <a:endParaRPr lang="en-US"/>
          </a:p>
        </p:txBody>
      </p:sp>
    </p:spTree>
    <p:extLst>
      <p:ext uri="{BB962C8B-B14F-4D97-AF65-F5344CB8AC3E}">
        <p14:creationId xmlns:p14="http://schemas.microsoft.com/office/powerpoint/2010/main" val="2912462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417A3A2-7744-414A-81D8-CDE5C3B2FB0E}"/>
              </a:ext>
            </a:extLst>
          </p:cNvPr>
          <p:cNvPicPr>
            <a:picLocks noChangeAspect="1"/>
          </p:cNvPicPr>
          <p:nvPr userDrawn="1"/>
        </p:nvPicPr>
        <p:blipFill rotWithShape="1">
          <a:blip r:embed="rId2">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a:stretch/>
        </p:blipFill>
        <p:spPr>
          <a:xfrm>
            <a:off x="0" y="0"/>
            <a:ext cx="12185650" cy="4493502"/>
          </a:xfrm>
          <a:prstGeom prst="rect">
            <a:avLst/>
          </a:prstGeom>
        </p:spPr>
      </p:pic>
      <p:sp>
        <p:nvSpPr>
          <p:cNvPr id="2" name="Title 1">
            <a:extLst>
              <a:ext uri="{FF2B5EF4-FFF2-40B4-BE49-F238E27FC236}">
                <a16:creationId xmlns:a16="http://schemas.microsoft.com/office/drawing/2014/main" id="{A311BA24-6384-4CA4-BC52-AD78086A7FE3}"/>
              </a:ext>
            </a:extLst>
          </p:cNvPr>
          <p:cNvSpPr>
            <a:spLocks noGrp="1"/>
          </p:cNvSpPr>
          <p:nvPr>
            <p:ph type="ctrTitle"/>
          </p:nvPr>
        </p:nvSpPr>
        <p:spPr>
          <a:xfrm>
            <a:off x="1524000" y="2643027"/>
            <a:ext cx="9144000" cy="1795463"/>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53C04F-974C-4E1B-9BF3-ED22B761BC1F}"/>
              </a:ext>
            </a:extLst>
          </p:cNvPr>
          <p:cNvSpPr>
            <a:spLocks noGrp="1"/>
          </p:cNvSpPr>
          <p:nvPr>
            <p:ph type="subTitle" idx="1"/>
          </p:nvPr>
        </p:nvSpPr>
        <p:spPr>
          <a:xfrm>
            <a:off x="1524000" y="4608511"/>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182064-0FD1-483A-A249-F433CBF29FEB}"/>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5" name="Footer Placeholder 4">
            <a:extLst>
              <a:ext uri="{FF2B5EF4-FFF2-40B4-BE49-F238E27FC236}">
                <a16:creationId xmlns:a16="http://schemas.microsoft.com/office/drawing/2014/main" id="{753AA1CE-7F8B-49DD-9726-5218509D7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33BCD-2EC9-487B-A984-23B5A730F231}"/>
              </a:ext>
            </a:extLst>
          </p:cNvPr>
          <p:cNvSpPr>
            <a:spLocks noGrp="1"/>
          </p:cNvSpPr>
          <p:nvPr>
            <p:ph type="sldNum" sz="quarter" idx="12"/>
          </p:nvPr>
        </p:nvSpPr>
        <p:spPr/>
        <p:txBody>
          <a:bodyPr/>
          <a:lstStyle/>
          <a:p>
            <a:fld id="{6440D6AB-CC2A-4E91-816D-9B5CEA33A860}" type="slidenum">
              <a:rPr lang="en-US" smtClean="0"/>
              <a:t>‹#›</a:t>
            </a:fld>
            <a:endParaRPr lang="en-US"/>
          </a:p>
        </p:txBody>
      </p:sp>
      <p:pic>
        <p:nvPicPr>
          <p:cNvPr id="8" name="Picture 7" descr="Logo&#10;&#10;Description automatically generated">
            <a:extLst>
              <a:ext uri="{FF2B5EF4-FFF2-40B4-BE49-F238E27FC236}">
                <a16:creationId xmlns:a16="http://schemas.microsoft.com/office/drawing/2014/main" id="{450D1C29-B3BF-4A69-98A7-C343B6FD290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81400" y="136525"/>
            <a:ext cx="4858933" cy="1511939"/>
          </a:xfrm>
          <a:prstGeom prst="rect">
            <a:avLst/>
          </a:prstGeom>
        </p:spPr>
      </p:pic>
      <p:cxnSp>
        <p:nvCxnSpPr>
          <p:cNvPr id="10" name="Straight Connector 9">
            <a:extLst>
              <a:ext uri="{FF2B5EF4-FFF2-40B4-BE49-F238E27FC236}">
                <a16:creationId xmlns:a16="http://schemas.microsoft.com/office/drawing/2014/main" id="{F76B43B5-2018-4993-9358-781F11D2A804}"/>
              </a:ext>
            </a:extLst>
          </p:cNvPr>
          <p:cNvCxnSpPr/>
          <p:nvPr userDrawn="1"/>
        </p:nvCxnSpPr>
        <p:spPr>
          <a:xfrm>
            <a:off x="0" y="4516432"/>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160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AC8FE8-BCC0-4B47-8CCF-AEAE1B6CCA28}"/>
              </a:ext>
            </a:extLst>
          </p:cNvPr>
          <p:cNvPicPr>
            <a:picLocks noChangeAspect="1"/>
          </p:cNvPicPr>
          <p:nvPr userDrawn="1"/>
        </p:nvPicPr>
        <p:blipFill rotWithShape="1">
          <a:blip r:embed="rId2">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
        <p:nvSpPr>
          <p:cNvPr id="2" name="Title 1">
            <a:extLst>
              <a:ext uri="{FF2B5EF4-FFF2-40B4-BE49-F238E27FC236}">
                <a16:creationId xmlns:a16="http://schemas.microsoft.com/office/drawing/2014/main" id="{577ABF19-236D-452F-9290-556CF6DFC416}"/>
              </a:ext>
            </a:extLst>
          </p:cNvPr>
          <p:cNvSpPr>
            <a:spLocks noGrp="1"/>
          </p:cNvSpPr>
          <p:nvPr>
            <p:ph type="title"/>
          </p:nvPr>
        </p:nvSpPr>
        <p:spPr>
          <a:xfrm>
            <a:off x="838200" y="365126"/>
            <a:ext cx="10515600" cy="70643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5FA680E-54C6-4047-B3AE-7456519E8587}"/>
              </a:ext>
            </a:extLst>
          </p:cNvPr>
          <p:cNvSpPr>
            <a:spLocks noGrp="1"/>
          </p:cNvSpPr>
          <p:nvPr>
            <p:ph idx="1"/>
          </p:nvPr>
        </p:nvSpPr>
        <p:spPr>
          <a:xfrm>
            <a:off x="838200" y="1422395"/>
            <a:ext cx="10515600" cy="4754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A92AC-633C-4E3F-9A07-2FEB96F93D3C}"/>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5" name="Footer Placeholder 4">
            <a:extLst>
              <a:ext uri="{FF2B5EF4-FFF2-40B4-BE49-F238E27FC236}">
                <a16:creationId xmlns:a16="http://schemas.microsoft.com/office/drawing/2014/main" id="{D56DE931-6F61-46B2-B032-C5E8EC7530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AC9C1-D3A9-4F52-A620-61F97D12C193}"/>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8" name="Straight Connector 7">
            <a:extLst>
              <a:ext uri="{FF2B5EF4-FFF2-40B4-BE49-F238E27FC236}">
                <a16:creationId xmlns:a16="http://schemas.microsoft.com/office/drawing/2014/main" id="{35A0AF14-2D93-4186-8077-0189636E0B70}"/>
              </a:ext>
            </a:extLst>
          </p:cNvPr>
          <p:cNvCxnSpPr/>
          <p:nvPr userDrawn="1"/>
        </p:nvCxnSpPr>
        <p:spPr>
          <a:xfrm>
            <a:off x="0" y="1246979"/>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Logo&#10;&#10;Description automatically generated">
            <a:extLst>
              <a:ext uri="{FF2B5EF4-FFF2-40B4-BE49-F238E27FC236}">
                <a16:creationId xmlns:a16="http://schemas.microsoft.com/office/drawing/2014/main" id="{5D15024E-8C85-44F0-8015-7169E0A34C7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spTree>
    <p:extLst>
      <p:ext uri="{BB962C8B-B14F-4D97-AF65-F5344CB8AC3E}">
        <p14:creationId xmlns:p14="http://schemas.microsoft.com/office/powerpoint/2010/main" val="459514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D15A-A71C-467B-AE86-601E833A90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D602FE-78CE-418D-ABB8-2E728778361F}"/>
              </a:ext>
            </a:extLst>
          </p:cNvPr>
          <p:cNvSpPr>
            <a:spLocks noGrp="1"/>
          </p:cNvSpPr>
          <p:nvPr>
            <p:ph type="body" idx="1"/>
          </p:nvPr>
        </p:nvSpPr>
        <p:spPr>
          <a:xfrm>
            <a:off x="831850" y="466486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DF8E32-12CC-466A-BFF3-8C72E5ACCD0C}"/>
              </a:ext>
            </a:extLst>
          </p:cNvPr>
          <p:cNvSpPr>
            <a:spLocks noGrp="1"/>
          </p:cNvSpPr>
          <p:nvPr>
            <p:ph type="dt" sz="half" idx="10"/>
          </p:nvPr>
        </p:nvSpPr>
        <p:spPr/>
        <p:txBody>
          <a:bodyPr/>
          <a:lstStyle/>
          <a:p>
            <a:fld id="{E25083EA-179B-4EA1-9AC9-8EAC64E2C1CA}" type="datetimeFigureOut">
              <a:rPr lang="en-US" smtClean="0"/>
              <a:t>9/7/2026</a:t>
            </a:fld>
            <a:endParaRPr lang="en-US"/>
          </a:p>
        </p:txBody>
      </p:sp>
      <p:pic>
        <p:nvPicPr>
          <p:cNvPr id="12" name="Picture 11">
            <a:extLst>
              <a:ext uri="{FF2B5EF4-FFF2-40B4-BE49-F238E27FC236}">
                <a16:creationId xmlns:a16="http://schemas.microsoft.com/office/drawing/2014/main" id="{F3C6C4A1-8FC1-4737-BAD5-F8C97EE0BA9D}"/>
              </a:ext>
            </a:extLst>
          </p:cNvPr>
          <p:cNvPicPr>
            <a:picLocks noChangeAspect="1"/>
          </p:cNvPicPr>
          <p:nvPr userDrawn="1"/>
        </p:nvPicPr>
        <p:blipFill rotWithShape="1">
          <a:blip r:embed="rId2">
            <a:alphaModFix amt="5000"/>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57001"/>
          <a:stretch/>
        </p:blipFill>
        <p:spPr>
          <a:xfrm>
            <a:off x="-3175" y="-3056"/>
            <a:ext cx="12185650" cy="4532394"/>
          </a:xfrm>
          <a:prstGeom prst="rect">
            <a:avLst/>
          </a:prstGeom>
        </p:spPr>
      </p:pic>
      <p:sp>
        <p:nvSpPr>
          <p:cNvPr id="5" name="Footer Placeholder 4">
            <a:extLst>
              <a:ext uri="{FF2B5EF4-FFF2-40B4-BE49-F238E27FC236}">
                <a16:creationId xmlns:a16="http://schemas.microsoft.com/office/drawing/2014/main" id="{4781CBE8-033E-4613-959F-D18AFA212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6BE7B-190C-4C6C-854A-0569EF307945}"/>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8" name="Straight Connector 7">
            <a:extLst>
              <a:ext uri="{FF2B5EF4-FFF2-40B4-BE49-F238E27FC236}">
                <a16:creationId xmlns:a16="http://schemas.microsoft.com/office/drawing/2014/main" id="{87DEDEA9-E085-437D-B5D6-12A750FB39F4}"/>
              </a:ext>
            </a:extLst>
          </p:cNvPr>
          <p:cNvCxnSpPr/>
          <p:nvPr userDrawn="1"/>
        </p:nvCxnSpPr>
        <p:spPr>
          <a:xfrm>
            <a:off x="0" y="4559950"/>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F37023A7-47D7-48AF-B709-B0D25FF18A0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spTree>
    <p:extLst>
      <p:ext uri="{BB962C8B-B14F-4D97-AF65-F5344CB8AC3E}">
        <p14:creationId xmlns:p14="http://schemas.microsoft.com/office/powerpoint/2010/main" val="2501088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7F3-7D70-457E-9BFA-96A50C40C986}"/>
              </a:ext>
            </a:extLst>
          </p:cNvPr>
          <p:cNvSpPr>
            <a:spLocks noGrp="1"/>
          </p:cNvSpPr>
          <p:nvPr>
            <p:ph type="title"/>
          </p:nvPr>
        </p:nvSpPr>
        <p:spPr>
          <a:xfrm>
            <a:off x="838200" y="365125"/>
            <a:ext cx="10515600" cy="7707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C06EC31-9722-4058-A6CD-EE9B5D2ABAC7}"/>
              </a:ext>
            </a:extLst>
          </p:cNvPr>
          <p:cNvSpPr>
            <a:spLocks noGrp="1"/>
          </p:cNvSpPr>
          <p:nvPr>
            <p:ph sz="half" idx="1"/>
          </p:nvPr>
        </p:nvSpPr>
        <p:spPr>
          <a:xfrm>
            <a:off x="838200" y="1486691"/>
            <a:ext cx="5181600" cy="4690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965372-7BCF-4329-80D6-AFFEE84A0137}"/>
              </a:ext>
            </a:extLst>
          </p:cNvPr>
          <p:cNvSpPr>
            <a:spLocks noGrp="1"/>
          </p:cNvSpPr>
          <p:nvPr>
            <p:ph sz="half" idx="2"/>
          </p:nvPr>
        </p:nvSpPr>
        <p:spPr>
          <a:xfrm>
            <a:off x="6172200" y="1486691"/>
            <a:ext cx="5181600" cy="4690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478F6C-5100-4FB5-AA04-61B5F21A3BCB}"/>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6" name="Footer Placeholder 5">
            <a:extLst>
              <a:ext uri="{FF2B5EF4-FFF2-40B4-BE49-F238E27FC236}">
                <a16:creationId xmlns:a16="http://schemas.microsoft.com/office/drawing/2014/main" id="{4AA2E0FA-1172-41E3-8E77-D9E9C934A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F2B5CB-BCB9-42A3-83BB-3DF2398F84A1}"/>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8" name="Straight Connector 7">
            <a:extLst>
              <a:ext uri="{FF2B5EF4-FFF2-40B4-BE49-F238E27FC236}">
                <a16:creationId xmlns:a16="http://schemas.microsoft.com/office/drawing/2014/main" id="{56656912-F706-4F51-8DB1-8A3455DC7EC3}"/>
              </a:ext>
            </a:extLst>
          </p:cNvPr>
          <p:cNvCxnSpPr/>
          <p:nvPr userDrawn="1"/>
        </p:nvCxnSpPr>
        <p:spPr>
          <a:xfrm>
            <a:off x="0" y="1243008"/>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descr="Logo&#10;&#10;Description automatically generated">
            <a:extLst>
              <a:ext uri="{FF2B5EF4-FFF2-40B4-BE49-F238E27FC236}">
                <a16:creationId xmlns:a16="http://schemas.microsoft.com/office/drawing/2014/main" id="{634E8C4E-5D10-4AB1-AA55-A5ED9BC6AD2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pic>
        <p:nvPicPr>
          <p:cNvPr id="12" name="Picture 11">
            <a:extLst>
              <a:ext uri="{FF2B5EF4-FFF2-40B4-BE49-F238E27FC236}">
                <a16:creationId xmlns:a16="http://schemas.microsoft.com/office/drawing/2014/main" id="{15821C7E-9A53-45BB-8D0C-A30C2D4607A1}"/>
              </a:ext>
            </a:extLst>
          </p:cNvPr>
          <p:cNvPicPr>
            <a:picLocks noChangeAspect="1"/>
          </p:cNvPicPr>
          <p:nvPr userDrawn="1"/>
        </p:nvPicPr>
        <p:blipFill rotWithShape="1">
          <a:blip r:embed="rId3">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Tree>
    <p:extLst>
      <p:ext uri="{BB962C8B-B14F-4D97-AF65-F5344CB8AC3E}">
        <p14:creationId xmlns:p14="http://schemas.microsoft.com/office/powerpoint/2010/main" val="30091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29512-F68B-4FAF-A453-536BB5FB1DEB}"/>
              </a:ext>
            </a:extLst>
          </p:cNvPr>
          <p:cNvSpPr>
            <a:spLocks noGrp="1"/>
          </p:cNvSpPr>
          <p:nvPr>
            <p:ph type="title"/>
          </p:nvPr>
        </p:nvSpPr>
        <p:spPr>
          <a:xfrm>
            <a:off x="839788" y="36512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F8F2F1-4BE6-487F-BFD3-9BAD605B794D}"/>
              </a:ext>
            </a:extLst>
          </p:cNvPr>
          <p:cNvSpPr>
            <a:spLocks noGrp="1"/>
          </p:cNvSpPr>
          <p:nvPr>
            <p:ph type="body" idx="1"/>
          </p:nvPr>
        </p:nvSpPr>
        <p:spPr>
          <a:xfrm>
            <a:off x="838200" y="1371603"/>
            <a:ext cx="5157787" cy="85486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4C3611-AE6C-441C-9327-C9E2BB4C04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F88372-D388-4A83-98F4-28F5433D2D77}"/>
              </a:ext>
            </a:extLst>
          </p:cNvPr>
          <p:cNvSpPr>
            <a:spLocks noGrp="1"/>
          </p:cNvSpPr>
          <p:nvPr>
            <p:ph type="body" sz="quarter" idx="3"/>
          </p:nvPr>
        </p:nvSpPr>
        <p:spPr>
          <a:xfrm>
            <a:off x="6170612" y="137160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ED181C-D6F3-41FA-B734-2DA72DBCF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32C270-25A6-4DD1-A9EE-F4D5BF29D1E3}"/>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8" name="Footer Placeholder 7">
            <a:extLst>
              <a:ext uri="{FF2B5EF4-FFF2-40B4-BE49-F238E27FC236}">
                <a16:creationId xmlns:a16="http://schemas.microsoft.com/office/drawing/2014/main" id="{819EB071-8146-4151-A349-866A864920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7F3179-A81B-4614-B017-1965AD1061C8}"/>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10" name="Straight Connector 9">
            <a:extLst>
              <a:ext uri="{FF2B5EF4-FFF2-40B4-BE49-F238E27FC236}">
                <a16:creationId xmlns:a16="http://schemas.microsoft.com/office/drawing/2014/main" id="{08CC0170-7AB0-4615-B593-B377D9A98C84}"/>
              </a:ext>
            </a:extLst>
          </p:cNvPr>
          <p:cNvCxnSpPr/>
          <p:nvPr userDrawn="1"/>
        </p:nvCxnSpPr>
        <p:spPr>
          <a:xfrm>
            <a:off x="0" y="1243008"/>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Logo&#10;&#10;Description automatically generated">
            <a:extLst>
              <a:ext uri="{FF2B5EF4-FFF2-40B4-BE49-F238E27FC236}">
                <a16:creationId xmlns:a16="http://schemas.microsoft.com/office/drawing/2014/main" id="{BB3D828F-C764-4405-915D-D65FBF4598A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pic>
        <p:nvPicPr>
          <p:cNvPr id="14" name="Picture 13">
            <a:extLst>
              <a:ext uri="{FF2B5EF4-FFF2-40B4-BE49-F238E27FC236}">
                <a16:creationId xmlns:a16="http://schemas.microsoft.com/office/drawing/2014/main" id="{CF6F12A8-3358-4C71-ABCE-6EF02BEB3A08}"/>
              </a:ext>
            </a:extLst>
          </p:cNvPr>
          <p:cNvPicPr>
            <a:picLocks noChangeAspect="1"/>
          </p:cNvPicPr>
          <p:nvPr userDrawn="1"/>
        </p:nvPicPr>
        <p:blipFill rotWithShape="1">
          <a:blip r:embed="rId3">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Tree>
    <p:extLst>
      <p:ext uri="{BB962C8B-B14F-4D97-AF65-F5344CB8AC3E}">
        <p14:creationId xmlns:p14="http://schemas.microsoft.com/office/powerpoint/2010/main" val="2042610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ED13-F604-414B-9F4B-9C9431350D2E}"/>
              </a:ext>
            </a:extLst>
          </p:cNvPr>
          <p:cNvSpPr>
            <a:spLocks noGrp="1"/>
          </p:cNvSpPr>
          <p:nvPr>
            <p:ph type="title"/>
          </p:nvPr>
        </p:nvSpPr>
        <p:spPr>
          <a:xfrm>
            <a:off x="838200" y="365125"/>
            <a:ext cx="10515600" cy="827881"/>
          </a:xfrm>
        </p:spPr>
        <p:txBody>
          <a:bodyPr/>
          <a:lstStyle/>
          <a:p>
            <a:r>
              <a:rPr lang="en-US"/>
              <a:t>Click to edit Master title style</a:t>
            </a:r>
          </a:p>
        </p:txBody>
      </p:sp>
      <p:sp>
        <p:nvSpPr>
          <p:cNvPr id="3" name="Date Placeholder 2">
            <a:extLst>
              <a:ext uri="{FF2B5EF4-FFF2-40B4-BE49-F238E27FC236}">
                <a16:creationId xmlns:a16="http://schemas.microsoft.com/office/drawing/2014/main" id="{058E7A70-917D-48F7-8006-1D3EBCC2D4DA}"/>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4" name="Footer Placeholder 3">
            <a:extLst>
              <a:ext uri="{FF2B5EF4-FFF2-40B4-BE49-F238E27FC236}">
                <a16:creationId xmlns:a16="http://schemas.microsoft.com/office/drawing/2014/main" id="{4AD4B8DC-CC4C-49B6-B52B-3CDE6DEF30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BB2499-4D1F-40D5-8C6E-7DEFB25CF17B}"/>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6" name="Straight Connector 5">
            <a:extLst>
              <a:ext uri="{FF2B5EF4-FFF2-40B4-BE49-F238E27FC236}">
                <a16:creationId xmlns:a16="http://schemas.microsoft.com/office/drawing/2014/main" id="{17F50E10-CB71-4816-B14D-F55CE59A20C5}"/>
              </a:ext>
            </a:extLst>
          </p:cNvPr>
          <p:cNvCxnSpPr/>
          <p:nvPr userDrawn="1"/>
        </p:nvCxnSpPr>
        <p:spPr>
          <a:xfrm>
            <a:off x="0" y="1254124"/>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C89BC23E-854C-48B6-9DB0-91EE85C321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pic>
        <p:nvPicPr>
          <p:cNvPr id="10" name="Picture 9">
            <a:extLst>
              <a:ext uri="{FF2B5EF4-FFF2-40B4-BE49-F238E27FC236}">
                <a16:creationId xmlns:a16="http://schemas.microsoft.com/office/drawing/2014/main" id="{627478DE-A091-474A-946E-1D66BF85B114}"/>
              </a:ext>
            </a:extLst>
          </p:cNvPr>
          <p:cNvPicPr>
            <a:picLocks noChangeAspect="1"/>
          </p:cNvPicPr>
          <p:nvPr userDrawn="1"/>
        </p:nvPicPr>
        <p:blipFill rotWithShape="1">
          <a:blip r:embed="rId3">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Tree>
    <p:extLst>
      <p:ext uri="{BB962C8B-B14F-4D97-AF65-F5344CB8AC3E}">
        <p14:creationId xmlns:p14="http://schemas.microsoft.com/office/powerpoint/2010/main" val="38454431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E8FB6D-2DCD-429E-B3CA-E9D75D77AE91}"/>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3" name="Footer Placeholder 2">
            <a:extLst>
              <a:ext uri="{FF2B5EF4-FFF2-40B4-BE49-F238E27FC236}">
                <a16:creationId xmlns:a16="http://schemas.microsoft.com/office/drawing/2014/main" id="{9A9A6A1F-C8D2-4E8F-8B5F-14115382F4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E656AC-28DE-453B-8D72-A21B9D18F94E}"/>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30617819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5BDA-8220-4F77-BDEA-8322B7556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AB7FD2-D01E-4277-9993-A5E462306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0183CC-4D34-4728-86EE-07CE61028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54D16C-3F1D-4FCC-9FE3-AA82889EDD3B}"/>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6" name="Footer Placeholder 5">
            <a:extLst>
              <a:ext uri="{FF2B5EF4-FFF2-40B4-BE49-F238E27FC236}">
                <a16:creationId xmlns:a16="http://schemas.microsoft.com/office/drawing/2014/main" id="{7AE9CF6A-ADDA-4DD6-99D0-E91B03DD0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C4A5E-8C0C-485C-BF5A-6C8CB647909A}"/>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3214996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F230-E0C8-4F6D-8E5E-C563CD586C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9B4C63-5F6F-421F-86D4-543E9B6191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40F886-8696-4A02-921E-09BFF06AF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6F755-A75B-4D9C-9DA8-786F04D65978}"/>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6" name="Footer Placeholder 5">
            <a:extLst>
              <a:ext uri="{FF2B5EF4-FFF2-40B4-BE49-F238E27FC236}">
                <a16:creationId xmlns:a16="http://schemas.microsoft.com/office/drawing/2014/main" id="{A7D0561B-8548-4432-8228-1EEA25E5E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A9F78E-2459-4778-B655-985CA6D14E35}"/>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2200129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FBEF9-1301-4B67-A2BE-EF5407AD85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802055-8973-4D39-B281-929C221C2E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088323-1F3D-4686-8F13-FECE05793041}"/>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5" name="Footer Placeholder 4">
            <a:extLst>
              <a:ext uri="{FF2B5EF4-FFF2-40B4-BE49-F238E27FC236}">
                <a16:creationId xmlns:a16="http://schemas.microsoft.com/office/drawing/2014/main" id="{A5A1FF0B-4877-45AD-9E54-8A0B0101D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3D00D-5FE0-4927-89F4-78F09F52D543}"/>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2760087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5C6F36-9FB8-40C2-8A23-4EF6118062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454D5A-7E5B-46E6-BEFC-2BC9E018E1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07CB6-BFE8-4297-B615-25A2E23B26CF}"/>
              </a:ext>
            </a:extLst>
          </p:cNvPr>
          <p:cNvSpPr>
            <a:spLocks noGrp="1"/>
          </p:cNvSpPr>
          <p:nvPr>
            <p:ph type="dt" sz="half" idx="10"/>
          </p:nvPr>
        </p:nvSpPr>
        <p:spPr/>
        <p:txBody>
          <a:bodyPr/>
          <a:lstStyle/>
          <a:p>
            <a:fld id="{E25083EA-179B-4EA1-9AC9-8EAC64E2C1CA}" type="datetimeFigureOut">
              <a:rPr lang="en-US" smtClean="0"/>
              <a:t>9/7/2026</a:t>
            </a:fld>
            <a:endParaRPr lang="en-US"/>
          </a:p>
        </p:txBody>
      </p:sp>
      <p:sp>
        <p:nvSpPr>
          <p:cNvPr id="5" name="Footer Placeholder 4">
            <a:extLst>
              <a:ext uri="{FF2B5EF4-FFF2-40B4-BE49-F238E27FC236}">
                <a16:creationId xmlns:a16="http://schemas.microsoft.com/office/drawing/2014/main" id="{5AD25B95-AC18-44F1-B702-762A3F34F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0B42AB-EA2C-4B0B-A798-175D2701DBC9}"/>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359402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A8ED7-72DE-AE6D-EB81-15C64D4C65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1B889B-C0FD-119B-3DB0-6ED79E9D91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4FCDC-6F3A-257A-03BB-C36BA9DF16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EF6573-08D2-49DD-98B3-E9068D560809}" type="datetimeFigureOut">
              <a:rPr lang="en-US" smtClean="0"/>
              <a:t>9/7/2026</a:t>
            </a:fld>
            <a:endParaRPr lang="en-US"/>
          </a:p>
        </p:txBody>
      </p:sp>
      <p:sp>
        <p:nvSpPr>
          <p:cNvPr id="5" name="Footer Placeholder 4">
            <a:extLst>
              <a:ext uri="{FF2B5EF4-FFF2-40B4-BE49-F238E27FC236}">
                <a16:creationId xmlns:a16="http://schemas.microsoft.com/office/drawing/2014/main" id="{2208442B-E2F4-F68E-5D68-4138A5483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C8D475-294B-0658-13E4-CA45652EB3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CF34D-B208-45AE-803C-913FFE747C07}" type="slidenum">
              <a:rPr lang="en-US" smtClean="0"/>
              <a:t>‹#›</a:t>
            </a:fld>
            <a:endParaRPr lang="en-US"/>
          </a:p>
        </p:txBody>
      </p:sp>
    </p:spTree>
    <p:extLst>
      <p:ext uri="{BB962C8B-B14F-4D97-AF65-F5344CB8AC3E}">
        <p14:creationId xmlns:p14="http://schemas.microsoft.com/office/powerpoint/2010/main" val="2144580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011F7F-58CA-4947-AF3E-386B481932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67D21E-692C-40DD-B3A4-ABCE96945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6DDE93-2A8C-49C3-A769-8B83860CB7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5083EA-179B-4EA1-9AC9-8EAC64E2C1CA}" type="datetimeFigureOut">
              <a:rPr lang="en-US" smtClean="0"/>
              <a:t>9/7/2026</a:t>
            </a:fld>
            <a:endParaRPr lang="en-US"/>
          </a:p>
        </p:txBody>
      </p:sp>
      <p:sp>
        <p:nvSpPr>
          <p:cNvPr id="5" name="Footer Placeholder 4">
            <a:extLst>
              <a:ext uri="{FF2B5EF4-FFF2-40B4-BE49-F238E27FC236}">
                <a16:creationId xmlns:a16="http://schemas.microsoft.com/office/drawing/2014/main" id="{D2136455-C2F2-4EEC-A5D9-D0AABE098E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E07ECE-8DFD-479E-A4A2-0FAD1F699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0D6AB-CC2A-4E91-816D-9B5CEA33A860}" type="slidenum">
              <a:rPr lang="en-US" smtClean="0"/>
              <a:t>‹#›</a:t>
            </a:fld>
            <a:endParaRPr lang="en-US"/>
          </a:p>
        </p:txBody>
      </p:sp>
    </p:spTree>
    <p:extLst>
      <p:ext uri="{BB962C8B-B14F-4D97-AF65-F5344CB8AC3E}">
        <p14:creationId xmlns:p14="http://schemas.microsoft.com/office/powerpoint/2010/main" val="14895839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14.jpeg"/><Relationship Id="rId4" Type="http://schemas.openxmlformats.org/officeDocument/2006/relationships/image" Target="../media/image13.jpeg"/></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DD5B11-5A68-8CA2-D18F-C537385CC497}"/>
              </a:ext>
            </a:extLst>
          </p:cNvPr>
          <p:cNvPicPr>
            <a:picLocks noChangeAspect="1"/>
          </p:cNvPicPr>
          <p:nvPr/>
        </p:nvPicPr>
        <p:blipFill>
          <a:blip r:embed="rId3"/>
          <a:srcRect r="425" b="-1"/>
          <a:stretch/>
        </p:blipFill>
        <p:spPr>
          <a:xfrm>
            <a:off x="20" y="1282"/>
            <a:ext cx="12191980" cy="6856718"/>
          </a:xfrm>
          <a:prstGeom prst="rect">
            <a:avLst/>
          </a:prstGeom>
        </p:spPr>
      </p:pic>
      <p:sp>
        <p:nvSpPr>
          <p:cNvPr id="8" name="TextBox 7">
            <a:extLst>
              <a:ext uri="{FF2B5EF4-FFF2-40B4-BE49-F238E27FC236}">
                <a16:creationId xmlns:a16="http://schemas.microsoft.com/office/drawing/2014/main" id="{81F0A9E2-7498-35E0-9EEA-806A206D5E33}"/>
              </a:ext>
            </a:extLst>
          </p:cNvPr>
          <p:cNvSpPr txBox="1"/>
          <p:nvPr/>
        </p:nvSpPr>
        <p:spPr>
          <a:xfrm>
            <a:off x="6865256" y="4708598"/>
            <a:ext cx="5021943" cy="1985159"/>
          </a:xfrm>
          <a:prstGeom prst="rect">
            <a:avLst/>
          </a:prstGeom>
          <a:noFill/>
        </p:spPr>
        <p:txBody>
          <a:bodyPr wrap="square">
            <a:spAutoFit/>
          </a:bodyPr>
          <a:lstStyle/>
          <a:p>
            <a:pPr lvl="0" algn="ctr">
              <a:lnSpc>
                <a:spcPct val="90000"/>
              </a:lnSpc>
              <a:spcBef>
                <a:spcPct val="0"/>
              </a:spcBef>
              <a:spcAft>
                <a:spcPts val="600"/>
              </a:spcAft>
              <a:defRPr/>
            </a:pPr>
            <a:r>
              <a:rPr kumimoji="0" lang="en-US" sz="3200" b="1" i="0" u="none" strike="noStrike" kern="1200" cap="none" spc="0" normalizeH="0" baseline="0" noProof="0" dirty="0">
                <a:ln>
                  <a:noFill/>
                </a:ln>
                <a:solidFill>
                  <a:srgbClr val="002060"/>
                </a:solidFill>
                <a:effectLst/>
                <a:uLnTx/>
                <a:uFillTx/>
                <a:latin typeface="Agency FB" panose="020B0503020202020204" pitchFamily="34" charset="0"/>
                <a:ea typeface="+mj-ea"/>
                <a:cs typeface="+mj-cs"/>
              </a:rPr>
              <a:t>College of Health &amp; Sport Sciences </a:t>
            </a:r>
          </a:p>
          <a:p>
            <a:pPr lvl="0" algn="ctr">
              <a:lnSpc>
                <a:spcPct val="90000"/>
              </a:lnSpc>
              <a:spcBef>
                <a:spcPct val="0"/>
              </a:spcBef>
              <a:spcAft>
                <a:spcPts val="600"/>
              </a:spcAft>
              <a:defRPr/>
            </a:pPr>
            <a:r>
              <a:rPr kumimoji="0" lang="en-US" sz="3200" b="1" i="0" u="none" strike="noStrike" kern="1200" cap="none" spc="0" normalizeH="0" baseline="0" noProof="0" dirty="0">
                <a:ln>
                  <a:noFill/>
                </a:ln>
                <a:solidFill>
                  <a:srgbClr val="002060"/>
                </a:solidFill>
                <a:effectLst/>
                <a:uLnTx/>
                <a:uFillTx/>
                <a:latin typeface="Agency FB" panose="020B0503020202020204" pitchFamily="34" charset="0"/>
                <a:ea typeface="+mj-ea"/>
                <a:cs typeface="+mj-cs"/>
              </a:rPr>
              <a:t>Department of Nursing</a:t>
            </a:r>
          </a:p>
          <a:p>
            <a:pPr lvl="0" algn="ctr">
              <a:lnSpc>
                <a:spcPct val="90000"/>
              </a:lnSpc>
              <a:spcBef>
                <a:spcPct val="0"/>
              </a:spcBef>
              <a:spcAft>
                <a:spcPts val="600"/>
              </a:spcAft>
              <a:defRPr/>
            </a:pPr>
            <a:r>
              <a:rPr kumimoji="0" lang="en-US" sz="2800" b="1" i="0" u="none" strike="noStrike" kern="1200" cap="none" spc="0" normalizeH="0" baseline="0" noProof="0" dirty="0">
                <a:ln>
                  <a:noFill/>
                </a:ln>
                <a:solidFill>
                  <a:srgbClr val="C00000"/>
                </a:solidFill>
                <a:effectLst/>
                <a:uLnTx/>
                <a:uFillTx/>
                <a:latin typeface="Agency FB" panose="020B0503020202020204" pitchFamily="34" charset="0"/>
                <a:ea typeface="+mj-ea"/>
                <a:cs typeface="+mj-cs"/>
              </a:rPr>
              <a:t>NUR </a:t>
            </a:r>
            <a:r>
              <a:rPr lang="en-US" sz="2800" b="1" kern="1200" dirty="0">
                <a:solidFill>
                  <a:srgbClr val="C00000"/>
                </a:solidFill>
                <a:latin typeface="Agency FB" panose="020B0503020202020204" pitchFamily="34" charset="0"/>
                <a:ea typeface="+mj-ea"/>
                <a:cs typeface="+mj-cs"/>
              </a:rPr>
              <a:t>415 (2025-26) – 1</a:t>
            </a:r>
            <a:r>
              <a:rPr lang="en-US" sz="2800" b="1" kern="1200" baseline="30000" dirty="0">
                <a:solidFill>
                  <a:srgbClr val="C00000"/>
                </a:solidFill>
                <a:latin typeface="Agency FB" panose="020B0503020202020204" pitchFamily="34" charset="0"/>
                <a:ea typeface="+mj-ea"/>
                <a:cs typeface="+mj-cs"/>
              </a:rPr>
              <a:t>st</a:t>
            </a:r>
            <a:r>
              <a:rPr lang="en-US" sz="2800" b="1" kern="1200" dirty="0">
                <a:solidFill>
                  <a:srgbClr val="C00000"/>
                </a:solidFill>
                <a:latin typeface="Agency FB" panose="020B0503020202020204" pitchFamily="34" charset="0"/>
                <a:ea typeface="+mj-ea"/>
                <a:cs typeface="+mj-cs"/>
              </a:rPr>
              <a:t> SEM</a:t>
            </a:r>
          </a:p>
          <a:p>
            <a:pPr lvl="0" algn="ctr">
              <a:lnSpc>
                <a:spcPct val="90000"/>
              </a:lnSpc>
              <a:spcBef>
                <a:spcPct val="0"/>
              </a:spcBef>
              <a:spcAft>
                <a:spcPts val="600"/>
              </a:spcAft>
              <a:defRPr/>
            </a:pPr>
            <a:r>
              <a:rPr lang="en-US" sz="2800" b="1" dirty="0">
                <a:solidFill>
                  <a:srgbClr val="C00000"/>
                </a:solidFill>
                <a:latin typeface="Agency FB" panose="020B0503020202020204" pitchFamily="34" charset="0"/>
                <a:ea typeface="+mj-ea"/>
                <a:cs typeface="+mj-cs"/>
              </a:rPr>
              <a:t>BSc. Nursing</a:t>
            </a:r>
            <a:endParaRPr lang="en-US" sz="2800" b="1" kern="1200" dirty="0">
              <a:solidFill>
                <a:srgbClr val="C00000"/>
              </a:solidFill>
              <a:latin typeface="Agency FB" panose="020B0503020202020204" pitchFamily="34" charset="0"/>
              <a:ea typeface="+mj-ea"/>
              <a:cs typeface="+mj-cs"/>
            </a:endParaRPr>
          </a:p>
        </p:txBody>
      </p:sp>
      <p:sp>
        <p:nvSpPr>
          <p:cNvPr id="9" name="TextBox 8">
            <a:extLst>
              <a:ext uri="{FF2B5EF4-FFF2-40B4-BE49-F238E27FC236}">
                <a16:creationId xmlns:a16="http://schemas.microsoft.com/office/drawing/2014/main" id="{9C2B09AD-0CA9-D01E-D17A-45189DB4D3D4}"/>
              </a:ext>
            </a:extLst>
          </p:cNvPr>
          <p:cNvSpPr txBox="1"/>
          <p:nvPr/>
        </p:nvSpPr>
        <p:spPr>
          <a:xfrm>
            <a:off x="406400" y="4834542"/>
            <a:ext cx="3526971" cy="1665071"/>
          </a:xfrm>
          <a:prstGeom prst="rect">
            <a:avLst/>
          </a:prstGeom>
          <a:noFill/>
        </p:spPr>
        <p:txBody>
          <a:bodyPr wrap="square">
            <a:spAutoFit/>
          </a:bodyPr>
          <a:lstStyle/>
          <a:p>
            <a:pPr lvl="0" algn="ctr">
              <a:lnSpc>
                <a:spcPct val="90000"/>
              </a:lnSpc>
              <a:spcBef>
                <a:spcPct val="0"/>
              </a:spcBef>
              <a:spcAft>
                <a:spcPts val="600"/>
              </a:spcAft>
              <a:defRPr/>
            </a:pPr>
            <a:r>
              <a:rPr kumimoji="0" lang="en-US" sz="5400" b="1" i="0" u="none" strike="noStrike" kern="1200" cap="none" spc="0" normalizeH="0" baseline="0" noProof="0" dirty="0">
                <a:ln>
                  <a:noFill/>
                </a:ln>
                <a:solidFill>
                  <a:srgbClr val="00B050"/>
                </a:solidFill>
                <a:effectLst/>
                <a:uLnTx/>
                <a:uFillTx/>
                <a:latin typeface="Agency FB" panose="020B0503020202020204" pitchFamily="34" charset="0"/>
                <a:ea typeface="+mj-ea"/>
                <a:cs typeface="+mj-cs"/>
              </a:rPr>
              <a:t>Violence &amp;</a:t>
            </a:r>
          </a:p>
          <a:p>
            <a:pPr lvl="0" algn="ctr">
              <a:lnSpc>
                <a:spcPct val="90000"/>
              </a:lnSpc>
              <a:spcBef>
                <a:spcPct val="0"/>
              </a:spcBef>
              <a:spcAft>
                <a:spcPts val="600"/>
              </a:spcAft>
              <a:defRPr/>
            </a:pPr>
            <a:r>
              <a:rPr kumimoji="0" lang="en-US" sz="5400" b="1" i="0" u="none" strike="noStrike" kern="1200" cap="none" spc="0" normalizeH="0" baseline="0" noProof="0" dirty="0">
                <a:ln>
                  <a:noFill/>
                </a:ln>
                <a:solidFill>
                  <a:srgbClr val="00B050"/>
                </a:solidFill>
                <a:effectLst/>
                <a:uLnTx/>
                <a:uFillTx/>
                <a:latin typeface="Agency FB" panose="020B0503020202020204" pitchFamily="34" charset="0"/>
                <a:ea typeface="+mj-ea"/>
                <a:cs typeface="+mj-cs"/>
              </a:rPr>
              <a:t> Abuse</a:t>
            </a:r>
          </a:p>
        </p:txBody>
      </p:sp>
      <p:pic>
        <p:nvPicPr>
          <p:cNvPr id="2" name="Picture 4" descr="Premium Vector | Family violence and unhealthy environment for children  growing up. isolated husband yelling and beating wife, parents quarreling  or fighting, conflicts and abuse relationship. vector in flat style">
            <a:extLst>
              <a:ext uri="{FF2B5EF4-FFF2-40B4-BE49-F238E27FC236}">
                <a16:creationId xmlns:a16="http://schemas.microsoft.com/office/drawing/2014/main" id="{F7BBD505-48C4-992D-1212-A36833186F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2584" r="9093" b="8552"/>
          <a:stretch/>
        </p:blipFill>
        <p:spPr bwMode="auto">
          <a:xfrm>
            <a:off x="4136572" y="4759494"/>
            <a:ext cx="2322285" cy="18372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73BA5-C57C-EB56-586C-31D2CADA76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1CBC1-FCCD-FD65-109B-C28045D5694E}"/>
              </a:ext>
            </a:extLst>
          </p:cNvPr>
          <p:cNvSpPr>
            <a:spLocks noGrp="1"/>
          </p:cNvSpPr>
          <p:nvPr>
            <p:ph idx="1"/>
          </p:nvPr>
        </p:nvSpPr>
        <p:spPr>
          <a:xfrm>
            <a:off x="190500" y="1423189"/>
            <a:ext cx="11893924" cy="4870034"/>
          </a:xfrm>
        </p:spPr>
        <p:txBody>
          <a:bodyPr>
            <a:noAutofit/>
          </a:bodyPr>
          <a:lstStyle/>
          <a:p>
            <a:pPr marL="0" indent="0">
              <a:lnSpc>
                <a:spcPct val="150000"/>
              </a:lnSpc>
              <a:buNone/>
            </a:pPr>
            <a:r>
              <a:rPr lang="en-US" sz="1800" b="1" dirty="0">
                <a:solidFill>
                  <a:srgbClr val="006600"/>
                </a:solidFill>
              </a:rPr>
              <a:t>By the end of this session, students will be able to:</a:t>
            </a:r>
          </a:p>
          <a:p>
            <a:pPr>
              <a:lnSpc>
                <a:spcPct val="150000"/>
              </a:lnSpc>
            </a:pPr>
            <a:r>
              <a:rPr lang="en-US" sz="1800" b="1" dirty="0"/>
              <a:t>Define</a:t>
            </a:r>
            <a:r>
              <a:rPr lang="en-US" sz="1800" dirty="0"/>
              <a:t> key concepts related to </a:t>
            </a:r>
            <a:r>
              <a:rPr lang="en-US" sz="1800" b="1" dirty="0"/>
              <a:t>violence</a:t>
            </a:r>
            <a:r>
              <a:rPr lang="en-US" sz="1800" dirty="0"/>
              <a:t> and </a:t>
            </a:r>
            <a:r>
              <a:rPr lang="en-US" sz="1800" b="1" dirty="0"/>
              <a:t>crisis</a:t>
            </a:r>
            <a:r>
              <a:rPr lang="en-US" sz="1800" dirty="0"/>
              <a:t>, including WHO and CDC definitions.</a:t>
            </a:r>
          </a:p>
          <a:p>
            <a:pPr>
              <a:lnSpc>
                <a:spcPct val="150000"/>
              </a:lnSpc>
            </a:pPr>
            <a:r>
              <a:rPr lang="en-US" sz="1800" b="1" dirty="0"/>
              <a:t>Describe</a:t>
            </a:r>
            <a:r>
              <a:rPr lang="en-US" sz="1800" dirty="0"/>
              <a:t> the </a:t>
            </a:r>
            <a:r>
              <a:rPr lang="en-US" sz="1800" b="1" dirty="0"/>
              <a:t>types and forms of violence</a:t>
            </a:r>
            <a:r>
              <a:rPr lang="en-US" sz="1800" dirty="0"/>
              <a:t> encountered across the lifespan (child abuse, intimate partner violence, elder abuse, etc.).</a:t>
            </a:r>
          </a:p>
          <a:p>
            <a:pPr>
              <a:lnSpc>
                <a:spcPct val="150000"/>
              </a:lnSpc>
            </a:pPr>
            <a:r>
              <a:rPr lang="en-US" sz="1800" b="1" dirty="0"/>
              <a:t>Differentiate</a:t>
            </a:r>
            <a:r>
              <a:rPr lang="en-US" sz="1800" dirty="0"/>
              <a:t> between </a:t>
            </a:r>
            <a:r>
              <a:rPr lang="en-US" sz="1800" b="1" dirty="0"/>
              <a:t>risk factors</a:t>
            </a:r>
            <a:r>
              <a:rPr lang="en-US" sz="1800" dirty="0"/>
              <a:t> and </a:t>
            </a:r>
            <a:r>
              <a:rPr lang="en-US" sz="1800" b="1" dirty="0"/>
              <a:t>protective factors</a:t>
            </a:r>
            <a:r>
              <a:rPr lang="en-US" sz="1800" dirty="0"/>
              <a:t> influencing violence at individual, relationship, community, and societal levels.</a:t>
            </a:r>
          </a:p>
          <a:p>
            <a:pPr>
              <a:lnSpc>
                <a:spcPct val="150000"/>
              </a:lnSpc>
            </a:pPr>
            <a:r>
              <a:rPr lang="en-US" sz="1800" b="1" dirty="0"/>
              <a:t>Recognize</a:t>
            </a:r>
            <a:r>
              <a:rPr lang="en-US" sz="1800" dirty="0"/>
              <a:t> the </a:t>
            </a:r>
            <a:r>
              <a:rPr lang="en-US" sz="1800" b="1" dirty="0"/>
              <a:t>signs and symptoms</a:t>
            </a:r>
            <a:r>
              <a:rPr lang="en-US" sz="1800" dirty="0"/>
              <a:t> of physical, emotional, sexual, and neglect-related abuse in children and vulnerable populations.</a:t>
            </a:r>
          </a:p>
          <a:p>
            <a:pPr>
              <a:lnSpc>
                <a:spcPct val="150000"/>
              </a:lnSpc>
            </a:pPr>
            <a:r>
              <a:rPr lang="en-US" sz="1800" b="1" dirty="0"/>
              <a:t>Explain</a:t>
            </a:r>
            <a:r>
              <a:rPr lang="en-US" sz="1800" dirty="0"/>
              <a:t> the </a:t>
            </a:r>
            <a:r>
              <a:rPr lang="en-US" sz="1800" b="1" dirty="0"/>
              <a:t>cycle of violence</a:t>
            </a:r>
            <a:r>
              <a:rPr lang="en-US" sz="1800" dirty="0"/>
              <a:t> in intimate partner relationships and its health implications.</a:t>
            </a:r>
          </a:p>
          <a:p>
            <a:pPr>
              <a:lnSpc>
                <a:spcPct val="150000"/>
              </a:lnSpc>
            </a:pPr>
            <a:r>
              <a:rPr lang="en-US" sz="1800" b="1" dirty="0"/>
              <a:t>Identify</a:t>
            </a:r>
            <a:r>
              <a:rPr lang="en-US" sz="1800" dirty="0"/>
              <a:t> the </a:t>
            </a:r>
            <a:r>
              <a:rPr lang="en-US" sz="1800" b="1" dirty="0"/>
              <a:t>nursing roles</a:t>
            </a:r>
            <a:r>
              <a:rPr lang="en-US" sz="1800" dirty="0"/>
              <a:t> in the </a:t>
            </a:r>
            <a:r>
              <a:rPr lang="en-US" sz="1800" b="1" dirty="0"/>
              <a:t>primary, secondary, and tertiary prevention</a:t>
            </a:r>
            <a:r>
              <a:rPr lang="en-US" sz="1800" dirty="0"/>
              <a:t> of violence and crisis.</a:t>
            </a:r>
          </a:p>
        </p:txBody>
      </p:sp>
      <p:sp>
        <p:nvSpPr>
          <p:cNvPr id="4" name="Title 1">
            <a:extLst>
              <a:ext uri="{FF2B5EF4-FFF2-40B4-BE49-F238E27FC236}">
                <a16:creationId xmlns:a16="http://schemas.microsoft.com/office/drawing/2014/main" id="{86311B9E-8F98-A0FB-B26D-D21C8DB855DF}"/>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Objectives</a:t>
            </a:r>
          </a:p>
        </p:txBody>
      </p:sp>
    </p:spTree>
    <p:extLst>
      <p:ext uri="{BB962C8B-B14F-4D97-AF65-F5344CB8AC3E}">
        <p14:creationId xmlns:p14="http://schemas.microsoft.com/office/powerpoint/2010/main" val="471405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743115-C21D-4126-90AC-9B40CA788945}"/>
              </a:ext>
            </a:extLst>
          </p:cNvPr>
          <p:cNvSpPr>
            <a:spLocks noGrp="1"/>
          </p:cNvSpPr>
          <p:nvPr>
            <p:ph idx="1"/>
          </p:nvPr>
        </p:nvSpPr>
        <p:spPr>
          <a:xfrm>
            <a:off x="419100" y="1530766"/>
            <a:ext cx="11353800" cy="4870034"/>
          </a:xfrm>
        </p:spPr>
        <p:txBody>
          <a:bodyPr>
            <a:noAutofit/>
          </a:bodyPr>
          <a:lstStyle/>
          <a:p>
            <a:pPr>
              <a:lnSpc>
                <a:spcPct val="150000"/>
              </a:lnSpc>
            </a:pPr>
            <a:r>
              <a:rPr lang="en-US" sz="2400" dirty="0"/>
              <a:t>Violence is a global public health issue. </a:t>
            </a:r>
          </a:p>
          <a:p>
            <a:pPr>
              <a:lnSpc>
                <a:spcPct val="150000"/>
              </a:lnSpc>
            </a:pPr>
            <a:r>
              <a:rPr lang="en-US" sz="2400" dirty="0"/>
              <a:t>It is not limited by sociodemographic or geographic factors—anyone may experience violence or abuse at any point in one's lifetime.</a:t>
            </a:r>
          </a:p>
          <a:p>
            <a:pPr>
              <a:lnSpc>
                <a:spcPct val="150000"/>
              </a:lnSpc>
            </a:pPr>
            <a:r>
              <a:rPr lang="en-US" sz="2400" dirty="0"/>
              <a:t>Acts of violence may occur once or multiple times and involve a single perpetrator or a group of perpetrators who may or may not be known to the person experiencing violence. </a:t>
            </a:r>
          </a:p>
          <a:p>
            <a:pPr>
              <a:lnSpc>
                <a:spcPct val="150000"/>
              </a:lnSpc>
            </a:pPr>
            <a:r>
              <a:rPr lang="en-US" sz="2400" dirty="0"/>
              <a:t>Violence and abuse may occur in any setting—at home, in public, at work, or at school.</a:t>
            </a:r>
          </a:p>
        </p:txBody>
      </p:sp>
      <p:sp>
        <p:nvSpPr>
          <p:cNvPr id="4" name="Title 1">
            <a:extLst>
              <a:ext uri="{FF2B5EF4-FFF2-40B4-BE49-F238E27FC236}">
                <a16:creationId xmlns:a16="http://schemas.microsoft.com/office/drawing/2014/main" id="{0283997B-7F56-42F6-AD51-281195BC1E16}"/>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Introduction</a:t>
            </a:r>
          </a:p>
        </p:txBody>
      </p:sp>
    </p:spTree>
    <p:extLst>
      <p:ext uri="{BB962C8B-B14F-4D97-AF65-F5344CB8AC3E}">
        <p14:creationId xmlns:p14="http://schemas.microsoft.com/office/powerpoint/2010/main" val="242639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87F1-B5B6-4918-F314-0F0F73310F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7AADC0-12DE-671A-737B-34935B5B3081}"/>
              </a:ext>
            </a:extLst>
          </p:cNvPr>
          <p:cNvSpPr>
            <a:spLocks noGrp="1"/>
          </p:cNvSpPr>
          <p:nvPr>
            <p:ph idx="1"/>
          </p:nvPr>
        </p:nvSpPr>
        <p:spPr>
          <a:xfrm>
            <a:off x="491670" y="1704938"/>
            <a:ext cx="11353800" cy="4245920"/>
          </a:xfrm>
        </p:spPr>
        <p:txBody>
          <a:bodyPr>
            <a:noAutofit/>
          </a:bodyPr>
          <a:lstStyle/>
          <a:p>
            <a:pPr marL="0" indent="0" algn="just">
              <a:lnSpc>
                <a:spcPct val="150000"/>
              </a:lnSpc>
              <a:buNone/>
            </a:pPr>
            <a:r>
              <a:rPr lang="en-US" sz="2200" b="1" dirty="0">
                <a:solidFill>
                  <a:srgbClr val="002060"/>
                </a:solidFill>
              </a:rPr>
              <a:t>Violence:</a:t>
            </a:r>
          </a:p>
          <a:p>
            <a:pPr marL="0" indent="0" algn="just">
              <a:lnSpc>
                <a:spcPct val="150000"/>
              </a:lnSpc>
              <a:buNone/>
            </a:pPr>
            <a:r>
              <a:rPr lang="en-US" sz="2200" dirty="0"/>
              <a:t>The World Health Organization defines violence as “the intentional use of physical force or power, threatened or actual, against oneself, another person, or a group or community, that either results in or has a high likelihood of resulting in injury, death, psychological harm, maldevelopment, or deprivation.” </a:t>
            </a:r>
          </a:p>
          <a:p>
            <a:pPr marL="0" indent="0">
              <a:lnSpc>
                <a:spcPct val="150000"/>
              </a:lnSpc>
              <a:buNone/>
            </a:pPr>
            <a:r>
              <a:rPr lang="en-US" sz="2200" b="1" dirty="0">
                <a:solidFill>
                  <a:srgbClr val="002060"/>
                </a:solidFill>
              </a:rPr>
              <a:t>Crisis:</a:t>
            </a:r>
          </a:p>
          <a:p>
            <a:pPr>
              <a:lnSpc>
                <a:spcPct val="150000"/>
              </a:lnSpc>
            </a:pPr>
            <a:r>
              <a:rPr lang="en-US" sz="2200" dirty="0"/>
              <a:t>Stressful/disruptive event(s) that disturb the equilibrium of an individual, family, or community. Can occur </a:t>
            </a:r>
            <a:r>
              <a:rPr lang="en-US" sz="2200" b="1" dirty="0"/>
              <a:t>with or without warning</a:t>
            </a:r>
            <a:endParaRPr lang="en-US" sz="2200" dirty="0"/>
          </a:p>
          <a:p>
            <a:pPr marL="0" indent="0" algn="just">
              <a:lnSpc>
                <a:spcPct val="150000"/>
              </a:lnSpc>
              <a:buNone/>
            </a:pPr>
            <a:endParaRPr lang="en-US" sz="2200" dirty="0"/>
          </a:p>
        </p:txBody>
      </p:sp>
      <p:sp>
        <p:nvSpPr>
          <p:cNvPr id="4" name="Title 1">
            <a:extLst>
              <a:ext uri="{FF2B5EF4-FFF2-40B4-BE49-F238E27FC236}">
                <a16:creationId xmlns:a16="http://schemas.microsoft.com/office/drawing/2014/main" id="{BC1C02E5-8B92-BF0C-A30F-80835071D4F5}"/>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Definitions</a:t>
            </a:r>
          </a:p>
        </p:txBody>
      </p:sp>
      <p:pic>
        <p:nvPicPr>
          <p:cNvPr id="2" name="Picture 2" descr="Solutions for Families in Crisis | Law Offices of Randy W. Medina">
            <a:extLst>
              <a:ext uri="{FF2B5EF4-FFF2-40B4-BE49-F238E27FC236}">
                <a16:creationId xmlns:a16="http://schemas.microsoft.com/office/drawing/2014/main" id="{EFE5EC38-0D4E-3E05-3BAA-19785979E9B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505989" y="0"/>
            <a:ext cx="2686011" cy="1759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58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CCB8F-4A00-23FF-6C23-C20FCFA72F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98E242-EC53-9021-D02D-CE52B0BA8E52}"/>
              </a:ext>
            </a:extLst>
          </p:cNvPr>
          <p:cNvSpPr>
            <a:spLocks noGrp="1"/>
          </p:cNvSpPr>
          <p:nvPr>
            <p:ph idx="1"/>
          </p:nvPr>
        </p:nvSpPr>
        <p:spPr>
          <a:xfrm>
            <a:off x="247830" y="1481418"/>
            <a:ext cx="11700330" cy="4245920"/>
          </a:xfrm>
        </p:spPr>
        <p:txBody>
          <a:bodyPr>
            <a:noAutofit/>
          </a:bodyPr>
          <a:lstStyle/>
          <a:p>
            <a:pPr>
              <a:lnSpc>
                <a:spcPct val="150000"/>
              </a:lnSpc>
            </a:pPr>
            <a:r>
              <a:rPr lang="en-US" sz="2200" dirty="0"/>
              <a:t>Each person is a dynamic system living within a given environment under the circumstances unique to that person alone. </a:t>
            </a:r>
          </a:p>
          <a:p>
            <a:pPr>
              <a:lnSpc>
                <a:spcPct val="150000"/>
              </a:lnSpc>
            </a:pPr>
            <a:r>
              <a:rPr lang="en-US" sz="2200" dirty="0"/>
              <a:t>Occurs when an internal or external force disrupts an individual’s balance, affecting functioning. </a:t>
            </a:r>
          </a:p>
          <a:p>
            <a:pPr>
              <a:lnSpc>
                <a:spcPct val="150000"/>
              </a:lnSpc>
            </a:pPr>
            <a:r>
              <a:rPr lang="en-US" sz="2200" dirty="0"/>
              <a:t>Individual attempts to restore equilibrium using available resources.</a:t>
            </a:r>
          </a:p>
          <a:p>
            <a:pPr>
              <a:lnSpc>
                <a:spcPct val="150000"/>
              </a:lnSpc>
            </a:pPr>
            <a:r>
              <a:rPr lang="en-US" sz="2200" dirty="0"/>
              <a:t>Inability to cope effectively = crisis (Boyd, 2018).</a:t>
            </a:r>
          </a:p>
          <a:p>
            <a:pPr>
              <a:lnSpc>
                <a:spcPct val="150000"/>
              </a:lnSpc>
            </a:pPr>
            <a:r>
              <a:rPr lang="en-US" sz="2200" dirty="0"/>
              <a:t>Typically resolved within 4–8 weeks (Kanel, 2019).</a:t>
            </a:r>
          </a:p>
          <a:p>
            <a:pPr>
              <a:lnSpc>
                <a:spcPct val="150000"/>
              </a:lnSpc>
            </a:pPr>
            <a:r>
              <a:rPr lang="en-US" sz="2200" dirty="0"/>
              <a:t>Long-term biopsychosocial effects may persist, especially after violence or trauma.</a:t>
            </a:r>
          </a:p>
        </p:txBody>
      </p:sp>
      <p:sp>
        <p:nvSpPr>
          <p:cNvPr id="4" name="Title 1">
            <a:extLst>
              <a:ext uri="{FF2B5EF4-FFF2-40B4-BE49-F238E27FC236}">
                <a16:creationId xmlns:a16="http://schemas.microsoft.com/office/drawing/2014/main" id="{3FCE524E-89B8-C164-086F-7716FC2EABD3}"/>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Dynamics and characteristics of a crisis</a:t>
            </a:r>
          </a:p>
        </p:txBody>
      </p:sp>
    </p:spTree>
    <p:extLst>
      <p:ext uri="{BB962C8B-B14F-4D97-AF65-F5344CB8AC3E}">
        <p14:creationId xmlns:p14="http://schemas.microsoft.com/office/powerpoint/2010/main" val="941147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32D64-E211-BC3E-8593-DC2C8450F241}"/>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F5BD7D2A-90CC-7CDF-60EE-1ABE8D0EE95C}"/>
              </a:ext>
            </a:extLst>
          </p:cNvPr>
          <p:cNvGraphicFramePr>
            <a:graphicFrameLocks noGrp="1"/>
          </p:cNvGraphicFramePr>
          <p:nvPr>
            <p:ph idx="1"/>
            <p:extLst>
              <p:ext uri="{D42A27DB-BD31-4B8C-83A1-F6EECF244321}">
                <p14:modId xmlns:p14="http://schemas.microsoft.com/office/powerpoint/2010/main" val="1914649880"/>
              </p:ext>
            </p:extLst>
          </p:nvPr>
        </p:nvGraphicFramePr>
        <p:xfrm>
          <a:off x="467360" y="1381760"/>
          <a:ext cx="11440161" cy="5019039"/>
        </p:xfrm>
        <a:graphic>
          <a:graphicData uri="http://schemas.openxmlformats.org/drawingml/2006/table">
            <a:tbl>
              <a:tblPr>
                <a:tableStyleId>{9DCAF9ED-07DC-4A11-8D7F-57B35C25682E}</a:tableStyleId>
              </a:tblPr>
              <a:tblGrid>
                <a:gridCol w="3813387">
                  <a:extLst>
                    <a:ext uri="{9D8B030D-6E8A-4147-A177-3AD203B41FA5}">
                      <a16:colId xmlns:a16="http://schemas.microsoft.com/office/drawing/2014/main" val="84018303"/>
                    </a:ext>
                  </a:extLst>
                </a:gridCol>
                <a:gridCol w="3813387">
                  <a:extLst>
                    <a:ext uri="{9D8B030D-6E8A-4147-A177-3AD203B41FA5}">
                      <a16:colId xmlns:a16="http://schemas.microsoft.com/office/drawing/2014/main" val="3064045103"/>
                    </a:ext>
                  </a:extLst>
                </a:gridCol>
                <a:gridCol w="3813387">
                  <a:extLst>
                    <a:ext uri="{9D8B030D-6E8A-4147-A177-3AD203B41FA5}">
                      <a16:colId xmlns:a16="http://schemas.microsoft.com/office/drawing/2014/main" val="2428217143"/>
                    </a:ext>
                  </a:extLst>
                </a:gridCol>
              </a:tblGrid>
              <a:tr h="436438">
                <a:tc>
                  <a:txBody>
                    <a:bodyPr/>
                    <a:lstStyle/>
                    <a:p>
                      <a:pPr algn="ctr">
                        <a:buNone/>
                      </a:pPr>
                      <a:r>
                        <a:rPr lang="en-US"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a:t>Characteristics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dirty="0"/>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19362925"/>
                  </a:ext>
                </a:extLst>
              </a:tr>
              <a:tr h="1418424">
                <a:tc>
                  <a:txBody>
                    <a:bodyPr/>
                    <a:lstStyle/>
                    <a:p>
                      <a:pPr algn="ctr">
                        <a:buNone/>
                      </a:pPr>
                      <a:r>
                        <a:rPr lang="en-US" b="1" dirty="0"/>
                        <a:t>Developmental Crisis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Part of normal growth; gradual onset; related to life transitions and societal expectations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Adolescence, marriage, retirement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5735080"/>
                  </a:ext>
                </a:extLst>
              </a:tr>
              <a:tr h="1745753">
                <a:tc>
                  <a:txBody>
                    <a:bodyPr/>
                    <a:lstStyle/>
                    <a:p>
                      <a:pPr algn="ctr">
                        <a:buNone/>
                      </a:pPr>
                      <a:r>
                        <a:rPr lang="en-US" b="1" dirty="0"/>
                        <a:t>Situational Crisis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Unexpected disruption in normalcy; event jeopardizes physical/psychological well-being; internal or external origin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Illness (cancer), job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467700"/>
                  </a:ext>
                </a:extLst>
              </a:tr>
              <a:tr h="1418424">
                <a:tc>
                  <a:txBody>
                    <a:bodyPr/>
                    <a:lstStyle/>
                    <a:p>
                      <a:pPr algn="ctr">
                        <a:buNone/>
                      </a:pPr>
                      <a:r>
                        <a:rPr lang="en-US" b="1" dirty="0"/>
                        <a:t>Traumatic Crisis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Sudden, overwhelming, unusual event; affects individual or group; causes death, injury, or destruction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Natural disasters, acts of violence, terrorism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819263"/>
                  </a:ext>
                </a:extLst>
              </a:tr>
            </a:tbl>
          </a:graphicData>
        </a:graphic>
      </p:graphicFrame>
      <p:sp>
        <p:nvSpPr>
          <p:cNvPr id="4" name="Title 1">
            <a:extLst>
              <a:ext uri="{FF2B5EF4-FFF2-40B4-BE49-F238E27FC236}">
                <a16:creationId xmlns:a16="http://schemas.microsoft.com/office/drawing/2014/main" id="{8E13F9FD-57C7-22A8-2E0E-DFA0BFFD5EE8}"/>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Types of Crisis</a:t>
            </a:r>
          </a:p>
        </p:txBody>
      </p:sp>
    </p:spTree>
    <p:extLst>
      <p:ext uri="{BB962C8B-B14F-4D97-AF65-F5344CB8AC3E}">
        <p14:creationId xmlns:p14="http://schemas.microsoft.com/office/powerpoint/2010/main" val="2008023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0F939-011A-3890-8100-47C3513EA4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003704-125C-CE7A-5ACB-321861C59B75}"/>
              </a:ext>
            </a:extLst>
          </p:cNvPr>
          <p:cNvSpPr>
            <a:spLocks noGrp="1"/>
          </p:cNvSpPr>
          <p:nvPr>
            <p:ph idx="1"/>
          </p:nvPr>
        </p:nvSpPr>
        <p:spPr>
          <a:xfrm>
            <a:off x="349430" y="1501738"/>
            <a:ext cx="11700330" cy="4245920"/>
          </a:xfrm>
        </p:spPr>
        <p:txBody>
          <a:bodyPr>
            <a:noAutofit/>
          </a:bodyPr>
          <a:lstStyle/>
          <a:p>
            <a:r>
              <a:rPr lang="en-US" sz="2400" dirty="0"/>
              <a:t>Violence can occur </a:t>
            </a:r>
            <a:r>
              <a:rPr lang="en-US" sz="2400" b="1" dirty="0"/>
              <a:t>from birth to death</a:t>
            </a:r>
            <a:r>
              <a:rPr lang="en-US" sz="2400" dirty="0"/>
              <a:t>, in chronic or sudden forms:</a:t>
            </a:r>
          </a:p>
          <a:p>
            <a:pPr marL="1435100" indent="-342900">
              <a:buFont typeface="Wingdings" panose="05000000000000000000" pitchFamily="2" charset="2"/>
              <a:buChar char="Ø"/>
            </a:pPr>
            <a:r>
              <a:rPr lang="en-US" sz="2400" b="1" dirty="0"/>
              <a:t>Chronic:</a:t>
            </a:r>
            <a:r>
              <a:rPr lang="en-US" sz="2400" dirty="0"/>
              <a:t> Long-term abuse, neglect, or maltreatment</a:t>
            </a:r>
          </a:p>
          <a:p>
            <a:pPr marL="1435100" indent="-342900">
              <a:buFont typeface="Wingdings" panose="05000000000000000000" pitchFamily="2" charset="2"/>
              <a:buChar char="Ø"/>
            </a:pPr>
            <a:r>
              <a:rPr lang="en-US" sz="2400" b="1" dirty="0"/>
              <a:t>Situational:</a:t>
            </a:r>
            <a:r>
              <a:rPr lang="en-US" sz="2400" dirty="0"/>
              <a:t> Unexpected, acute events</a:t>
            </a:r>
          </a:p>
          <a:p>
            <a:r>
              <a:rPr lang="en-US" sz="2400" b="1" dirty="0"/>
              <a:t>Types of violence encountered by C/PHNs:</a:t>
            </a:r>
            <a:endParaRPr lang="en-US" sz="2400" dirty="0"/>
          </a:p>
          <a:p>
            <a:pPr marL="1374775" indent="-342900">
              <a:buFont typeface="Wingdings" panose="05000000000000000000" pitchFamily="2" charset="2"/>
              <a:buChar char="ü"/>
            </a:pPr>
            <a:r>
              <a:rPr lang="en-US" sz="2400" dirty="0"/>
              <a:t>Child abuse and neglect</a:t>
            </a:r>
          </a:p>
          <a:p>
            <a:pPr marL="1374775" indent="-342900">
              <a:buFont typeface="Wingdings" panose="05000000000000000000" pitchFamily="2" charset="2"/>
              <a:buChar char="ü"/>
            </a:pPr>
            <a:r>
              <a:rPr lang="en-US" sz="2400" dirty="0"/>
              <a:t>Youth violence, bullying, gang violence</a:t>
            </a:r>
          </a:p>
          <a:p>
            <a:pPr marL="1374775" indent="-342900">
              <a:buFont typeface="Wingdings" panose="05000000000000000000" pitchFamily="2" charset="2"/>
              <a:buChar char="ü"/>
            </a:pPr>
            <a:r>
              <a:rPr lang="en-US" sz="2400" dirty="0"/>
              <a:t>Intimate partner violence (IPV) and dating violence</a:t>
            </a:r>
          </a:p>
          <a:p>
            <a:pPr marL="1374775" indent="-342900">
              <a:buFont typeface="Wingdings" panose="05000000000000000000" pitchFamily="2" charset="2"/>
              <a:buChar char="ü"/>
            </a:pPr>
            <a:r>
              <a:rPr lang="en-US" sz="2400" dirty="0"/>
              <a:t>Sexual violence</a:t>
            </a:r>
          </a:p>
          <a:p>
            <a:pPr marL="1374775" indent="-342900">
              <a:buFont typeface="Wingdings" panose="05000000000000000000" pitchFamily="2" charset="2"/>
              <a:buChar char="ü"/>
            </a:pPr>
            <a:r>
              <a:rPr lang="en-US" sz="2400" dirty="0"/>
              <a:t>Elder abuse and neglect</a:t>
            </a:r>
          </a:p>
          <a:p>
            <a:pPr>
              <a:lnSpc>
                <a:spcPct val="150000"/>
              </a:lnSpc>
            </a:pPr>
            <a:r>
              <a:rPr lang="en-US" sz="2200" dirty="0"/>
              <a:t>Multiple types of violence can occur within a single household, community, or neighborhood, affecting people at different stages in life.</a:t>
            </a:r>
          </a:p>
        </p:txBody>
      </p:sp>
      <p:sp>
        <p:nvSpPr>
          <p:cNvPr id="4" name="Title 1">
            <a:extLst>
              <a:ext uri="{FF2B5EF4-FFF2-40B4-BE49-F238E27FC236}">
                <a16:creationId xmlns:a16="http://schemas.microsoft.com/office/drawing/2014/main" id="{C56360D6-8FE6-4A9B-663F-EC2F7C479217}"/>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Overview of violence across the life cycle</a:t>
            </a:r>
          </a:p>
        </p:txBody>
      </p:sp>
    </p:spTree>
    <p:extLst>
      <p:ext uri="{BB962C8B-B14F-4D97-AF65-F5344CB8AC3E}">
        <p14:creationId xmlns:p14="http://schemas.microsoft.com/office/powerpoint/2010/main" val="4177179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682D3-EFDF-8F2F-0C83-38C7A68F5B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465A43-0C08-D329-1808-3B17F3545052}"/>
              </a:ext>
            </a:extLst>
          </p:cNvPr>
          <p:cNvSpPr>
            <a:spLocks noGrp="1"/>
          </p:cNvSpPr>
          <p:nvPr>
            <p:ph idx="1"/>
          </p:nvPr>
        </p:nvSpPr>
        <p:spPr>
          <a:xfrm>
            <a:off x="308790" y="1583018"/>
            <a:ext cx="11700330" cy="4245920"/>
          </a:xfrm>
        </p:spPr>
        <p:txBody>
          <a:bodyPr>
            <a:noAutofit/>
          </a:bodyPr>
          <a:lstStyle/>
          <a:p>
            <a:pPr>
              <a:lnSpc>
                <a:spcPct val="150000"/>
              </a:lnSpc>
            </a:pPr>
            <a:r>
              <a:rPr lang="en-US" sz="2200" dirty="0"/>
              <a:t>Different types of violence are interconnected. For example:</a:t>
            </a:r>
          </a:p>
          <a:p>
            <a:pPr marL="804863" indent="-342900">
              <a:lnSpc>
                <a:spcPct val="150000"/>
              </a:lnSpc>
              <a:buFont typeface="Wingdings" panose="05000000000000000000" pitchFamily="2" charset="2"/>
              <a:buChar char="Ø"/>
            </a:pPr>
            <a:r>
              <a:rPr lang="en-US" sz="2200" dirty="0"/>
              <a:t>People who experience one form of violence are likely to experience other forms of violence.</a:t>
            </a:r>
          </a:p>
          <a:p>
            <a:pPr marL="804863" indent="-342900">
              <a:lnSpc>
                <a:spcPct val="150000"/>
              </a:lnSpc>
              <a:buFont typeface="Wingdings" panose="05000000000000000000" pitchFamily="2" charset="2"/>
              <a:buChar char="Ø"/>
            </a:pPr>
            <a:r>
              <a:rPr lang="en-US" sz="2200" dirty="0"/>
              <a:t>People who use violence in a context are likely to use it in another context.</a:t>
            </a:r>
          </a:p>
          <a:p>
            <a:pPr>
              <a:lnSpc>
                <a:spcPct val="150000"/>
              </a:lnSpc>
            </a:pPr>
            <a:r>
              <a:rPr lang="en-US" sz="2200" dirty="0"/>
              <a:t>Different types of violence share common short-and long-term biopsychosocial health effects that may contribute to chronic health conditions such as cardiovascular disease, lung disease, and diabetes.</a:t>
            </a:r>
          </a:p>
          <a:p>
            <a:pPr>
              <a:lnSpc>
                <a:spcPct val="150000"/>
              </a:lnSpc>
            </a:pPr>
            <a:r>
              <a:rPr lang="en-US" sz="2200" dirty="0"/>
              <a:t>Shared </a:t>
            </a:r>
            <a:r>
              <a:rPr lang="en-US" sz="2200" b="1" dirty="0"/>
              <a:t>risk and protective factors</a:t>
            </a:r>
            <a:r>
              <a:rPr lang="en-US" sz="2200" dirty="0"/>
              <a:t> exist across different types of violence.</a:t>
            </a:r>
          </a:p>
        </p:txBody>
      </p:sp>
      <p:sp>
        <p:nvSpPr>
          <p:cNvPr id="4" name="Title 1">
            <a:extLst>
              <a:ext uri="{FF2B5EF4-FFF2-40B4-BE49-F238E27FC236}">
                <a16:creationId xmlns:a16="http://schemas.microsoft.com/office/drawing/2014/main" id="{C2967E33-3C35-F8EE-A613-DAB646C206F3}"/>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Overview of violence across the life cycle</a:t>
            </a:r>
          </a:p>
        </p:txBody>
      </p:sp>
    </p:spTree>
    <p:extLst>
      <p:ext uri="{BB962C8B-B14F-4D97-AF65-F5344CB8AC3E}">
        <p14:creationId xmlns:p14="http://schemas.microsoft.com/office/powerpoint/2010/main" val="2034784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50A25-B4F2-442F-18FB-7F38BA6EBE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49C5B-EE21-D34E-451F-C6A6FD49225A}"/>
              </a:ext>
            </a:extLst>
          </p:cNvPr>
          <p:cNvSpPr>
            <a:spLocks noGrp="1"/>
          </p:cNvSpPr>
          <p:nvPr>
            <p:ph idx="1"/>
          </p:nvPr>
        </p:nvSpPr>
        <p:spPr>
          <a:xfrm>
            <a:off x="329110" y="1461098"/>
            <a:ext cx="11558090" cy="5396902"/>
          </a:xfrm>
        </p:spPr>
        <p:txBody>
          <a:bodyPr>
            <a:noAutofit/>
          </a:bodyPr>
          <a:lstStyle/>
          <a:p>
            <a:pPr lvl="1">
              <a:lnSpc>
                <a:spcPct val="150000"/>
              </a:lnSpc>
            </a:pPr>
            <a:r>
              <a:rPr lang="en-US" sz="2000" dirty="0"/>
              <a:t>Understanding trauma improves </a:t>
            </a:r>
            <a:r>
              <a:rPr lang="en-US" sz="2000" b="1" dirty="0"/>
              <a:t>trauma-informed care</a:t>
            </a:r>
            <a:endParaRPr lang="en-US" sz="2000" dirty="0"/>
          </a:p>
          <a:p>
            <a:pPr lvl="1">
              <a:lnSpc>
                <a:spcPct val="150000"/>
              </a:lnSpc>
            </a:pPr>
            <a:r>
              <a:rPr lang="en-US" sz="2000" dirty="0"/>
              <a:t>Many victims are </a:t>
            </a:r>
            <a:r>
              <a:rPr lang="en-US" sz="2000" b="1" dirty="0"/>
              <a:t>revictimized or misunderstood</a:t>
            </a:r>
            <a:r>
              <a:rPr lang="en-US" sz="2000" dirty="0"/>
              <a:t> due to lack of knowledge about normal trauma responses</a:t>
            </a:r>
          </a:p>
          <a:p>
            <a:pPr lvl="1">
              <a:lnSpc>
                <a:spcPct val="150000"/>
              </a:lnSpc>
            </a:pPr>
            <a:r>
              <a:rPr lang="en-US" sz="2000" dirty="0"/>
              <a:t>Reactions to trauma are </a:t>
            </a:r>
            <a:r>
              <a:rPr lang="en-US" sz="2000" b="1" dirty="0"/>
              <a:t>highly individual</a:t>
            </a:r>
            <a:r>
              <a:rPr lang="en-US" sz="2000" dirty="0"/>
              <a:t>—no “one-size-fits-all” response</a:t>
            </a:r>
          </a:p>
          <a:p>
            <a:pPr lvl="1">
              <a:lnSpc>
                <a:spcPct val="150000"/>
              </a:lnSpc>
            </a:pPr>
            <a:r>
              <a:rPr lang="en-US" sz="2000" dirty="0"/>
              <a:t>Extraneous factors (substance use, past trauma, neurological patterns) influence responses</a:t>
            </a:r>
          </a:p>
          <a:p>
            <a:pPr>
              <a:lnSpc>
                <a:spcPct val="150000"/>
              </a:lnSpc>
            </a:pPr>
            <a:r>
              <a:rPr lang="en-US" sz="2000" b="1" dirty="0"/>
              <a:t>Trauma-informed practices:</a:t>
            </a:r>
            <a:endParaRPr lang="en-US" sz="2000" dirty="0"/>
          </a:p>
          <a:p>
            <a:pPr lvl="1">
              <a:lnSpc>
                <a:spcPct val="100000"/>
              </a:lnSpc>
            </a:pPr>
            <a:r>
              <a:rPr lang="en-US" sz="2000" dirty="0"/>
              <a:t>Improve </a:t>
            </a:r>
            <a:r>
              <a:rPr lang="en-US" sz="2000" b="1" dirty="0"/>
              <a:t>nurse interviews</a:t>
            </a:r>
            <a:r>
              <a:rPr lang="en-US" sz="2000" dirty="0"/>
              <a:t> and </a:t>
            </a:r>
            <a:r>
              <a:rPr lang="en-US" sz="2000" b="1" dirty="0"/>
              <a:t>anticipation of support they need for coping with the physiological and psychological impact of traumatic experience</a:t>
            </a:r>
            <a:endParaRPr lang="en-US" sz="2000" dirty="0"/>
          </a:p>
          <a:p>
            <a:pPr lvl="1">
              <a:lnSpc>
                <a:spcPct val="100000"/>
              </a:lnSpc>
            </a:pPr>
            <a:r>
              <a:rPr lang="en-US" sz="2000" dirty="0"/>
              <a:t>Enhance </a:t>
            </a:r>
            <a:r>
              <a:rPr lang="en-US" sz="2000" b="1" dirty="0"/>
              <a:t>linkage to community resources</a:t>
            </a:r>
            <a:endParaRPr lang="en-US" sz="2000" dirty="0"/>
          </a:p>
          <a:p>
            <a:pPr lvl="1">
              <a:lnSpc>
                <a:spcPct val="100000"/>
              </a:lnSpc>
            </a:pPr>
            <a:r>
              <a:rPr lang="en-US" sz="2000" dirty="0"/>
              <a:t>Focus on </a:t>
            </a:r>
            <a:r>
              <a:rPr lang="en-US" sz="2000" b="1" dirty="0"/>
              <a:t>physiological and psychological impacts</a:t>
            </a:r>
            <a:endParaRPr lang="en-US" sz="2000" dirty="0"/>
          </a:p>
          <a:p>
            <a:pPr marL="0" indent="0">
              <a:lnSpc>
                <a:spcPct val="150000"/>
              </a:lnSpc>
              <a:buNone/>
            </a:pPr>
            <a:endParaRPr lang="en-US" sz="2200" b="1" dirty="0"/>
          </a:p>
        </p:txBody>
      </p:sp>
      <p:sp>
        <p:nvSpPr>
          <p:cNvPr id="4" name="Title 1">
            <a:extLst>
              <a:ext uri="{FF2B5EF4-FFF2-40B4-BE49-F238E27FC236}">
                <a16:creationId xmlns:a16="http://schemas.microsoft.com/office/drawing/2014/main" id="{18A1ABF5-EAC5-5263-A7CD-809E21AC4240}"/>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Overview of violence across the life cycle</a:t>
            </a:r>
          </a:p>
        </p:txBody>
      </p:sp>
    </p:spTree>
    <p:extLst>
      <p:ext uri="{BB962C8B-B14F-4D97-AF65-F5344CB8AC3E}">
        <p14:creationId xmlns:p14="http://schemas.microsoft.com/office/powerpoint/2010/main" val="1679540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5BA14-D766-A9D7-F427-917CC1A0D18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9246BF3-E370-1858-2BBC-884B31857D8E}"/>
              </a:ext>
            </a:extLst>
          </p:cNvPr>
          <p:cNvSpPr txBox="1">
            <a:spLocks/>
          </p:cNvSpPr>
          <p:nvPr/>
        </p:nvSpPr>
        <p:spPr>
          <a:xfrm>
            <a:off x="1154704" y="80010"/>
            <a:ext cx="9960335" cy="122900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Risk Factors and Protective Factors for Violence</a:t>
            </a:r>
          </a:p>
        </p:txBody>
      </p:sp>
      <p:sp>
        <p:nvSpPr>
          <p:cNvPr id="5" name="Rectangle 2">
            <a:extLst>
              <a:ext uri="{FF2B5EF4-FFF2-40B4-BE49-F238E27FC236}">
                <a16:creationId xmlns:a16="http://schemas.microsoft.com/office/drawing/2014/main" id="{B326068E-4DAF-867D-50EA-CEAF154E8876}"/>
              </a:ext>
            </a:extLst>
          </p:cNvPr>
          <p:cNvSpPr>
            <a:spLocks noGrp="1" noChangeArrowheads="1"/>
          </p:cNvSpPr>
          <p:nvPr>
            <p:ph idx="1"/>
          </p:nvPr>
        </p:nvSpPr>
        <p:spPr bwMode="auto">
          <a:xfrm>
            <a:off x="833121" y="1761333"/>
            <a:ext cx="10180320" cy="4267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masis MT Pro" panose="02040504050005020304" pitchFamily="18" charset="0"/>
              </a:rPr>
              <a:t>Risk factors:</a:t>
            </a:r>
            <a:r>
              <a:rPr kumimoji="0" lang="en-US" altLang="en-US" b="0" i="0" u="none" strike="noStrike" cap="none" normalizeH="0" baseline="0" dirty="0">
                <a:ln>
                  <a:noFill/>
                </a:ln>
                <a:solidFill>
                  <a:schemeClr val="tx1"/>
                </a:solidFill>
                <a:effectLst/>
                <a:latin typeface="Amasis MT Pro" panose="02040504050005020304" pitchFamily="18" charset="0"/>
              </a:rPr>
              <a:t> Increase likelihood of experiencing or using violence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masis MT Pro" panose="02040504050005020304" pitchFamily="18" charset="0"/>
              </a:rPr>
              <a:t>Protective factors:</a:t>
            </a:r>
            <a:r>
              <a:rPr kumimoji="0" lang="en-US" altLang="en-US" b="0" i="0" u="none" strike="noStrike" cap="none" normalizeH="0" baseline="0" dirty="0">
                <a:ln>
                  <a:noFill/>
                </a:ln>
                <a:solidFill>
                  <a:schemeClr val="tx1"/>
                </a:solidFill>
                <a:effectLst/>
                <a:latin typeface="Amasis MT Pro" panose="02040504050005020304" pitchFamily="18" charset="0"/>
              </a:rPr>
              <a:t> Reduce likelihood or enhance resilience after violence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masis MT Pro" panose="02040504050005020304" pitchFamily="18" charset="0"/>
              </a:rPr>
              <a:t>Individual experiences and characteristics can act as either</a:t>
            </a:r>
          </a:p>
        </p:txBody>
      </p:sp>
    </p:spTree>
    <p:extLst>
      <p:ext uri="{BB962C8B-B14F-4D97-AF65-F5344CB8AC3E}">
        <p14:creationId xmlns:p14="http://schemas.microsoft.com/office/powerpoint/2010/main" val="3950187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D649B-9C02-1012-449E-7582E6068C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B25B95-E4CA-B661-B605-E99553FC3711}"/>
              </a:ext>
            </a:extLst>
          </p:cNvPr>
          <p:cNvSpPr>
            <a:spLocks noGrp="1"/>
          </p:cNvSpPr>
          <p:nvPr>
            <p:ph idx="1"/>
          </p:nvPr>
        </p:nvSpPr>
        <p:spPr>
          <a:xfrm>
            <a:off x="329110" y="1461098"/>
            <a:ext cx="11558090" cy="5396902"/>
          </a:xfrm>
        </p:spPr>
        <p:txBody>
          <a:bodyPr>
            <a:noAutofit/>
          </a:bodyPr>
          <a:lstStyle/>
          <a:p>
            <a:pPr lvl="1">
              <a:lnSpc>
                <a:spcPct val="150000"/>
              </a:lnSpc>
            </a:pPr>
            <a:r>
              <a:rPr lang="en-US" sz="3200" b="1" dirty="0">
                <a:solidFill>
                  <a:srgbClr val="00B050"/>
                </a:solidFill>
              </a:rPr>
              <a:t>Examples from CDC (2020c)</a:t>
            </a:r>
          </a:p>
          <a:p>
            <a:pPr marL="0" indent="0">
              <a:lnSpc>
                <a:spcPct val="150000"/>
              </a:lnSpc>
              <a:buNone/>
            </a:pPr>
            <a:r>
              <a:rPr lang="en-US" sz="2400" b="1" dirty="0"/>
              <a:t>Protective Factors:</a:t>
            </a:r>
            <a:endParaRPr lang="en-US" sz="2400" dirty="0"/>
          </a:p>
          <a:p>
            <a:pPr>
              <a:lnSpc>
                <a:spcPct val="150000"/>
              </a:lnSpc>
            </a:pPr>
            <a:r>
              <a:rPr lang="en-US" sz="2400" b="1" dirty="0"/>
              <a:t>Community:</a:t>
            </a:r>
            <a:r>
              <a:rPr lang="en-US" sz="2400" dirty="0"/>
              <a:t> Coordinated services and services among community agencies, mental health/substance abuse access, social connectedness</a:t>
            </a:r>
          </a:p>
          <a:p>
            <a:pPr>
              <a:lnSpc>
                <a:spcPct val="150000"/>
              </a:lnSpc>
            </a:pPr>
            <a:r>
              <a:rPr lang="en-US" sz="2400" b="1" dirty="0"/>
              <a:t>Relationship:</a:t>
            </a:r>
            <a:r>
              <a:rPr lang="en-US" sz="2400" dirty="0"/>
              <a:t> Family support, caring adult relationships, prosocial peer connections, school attachment</a:t>
            </a:r>
          </a:p>
          <a:p>
            <a:pPr>
              <a:lnSpc>
                <a:spcPct val="150000"/>
              </a:lnSpc>
            </a:pPr>
            <a:r>
              <a:rPr lang="en-US" sz="2400" b="1" dirty="0"/>
              <a:t>Individual:</a:t>
            </a:r>
            <a:r>
              <a:rPr lang="en-US" sz="2400" dirty="0"/>
              <a:t> Nonviolent problem-solving skills</a:t>
            </a:r>
          </a:p>
          <a:p>
            <a:pPr marL="457200" lvl="1" indent="0">
              <a:lnSpc>
                <a:spcPct val="150000"/>
              </a:lnSpc>
              <a:buNone/>
            </a:pPr>
            <a:endParaRPr lang="en-US" b="1" dirty="0"/>
          </a:p>
        </p:txBody>
      </p:sp>
      <p:sp>
        <p:nvSpPr>
          <p:cNvPr id="4" name="Title 1">
            <a:extLst>
              <a:ext uri="{FF2B5EF4-FFF2-40B4-BE49-F238E27FC236}">
                <a16:creationId xmlns:a16="http://schemas.microsoft.com/office/drawing/2014/main" id="{B9B8EA9A-FBE6-99A7-E3F7-F7303C13F0E6}"/>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Overview of violence across the life cycle</a:t>
            </a:r>
          </a:p>
        </p:txBody>
      </p:sp>
    </p:spTree>
    <p:extLst>
      <p:ext uri="{BB962C8B-B14F-4D97-AF65-F5344CB8AC3E}">
        <p14:creationId xmlns:p14="http://schemas.microsoft.com/office/powerpoint/2010/main" val="1443587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21D7-2C9B-C726-2051-2AF3730FB6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AF45B-B915-1309-1322-0E8E8D722EE6}"/>
              </a:ext>
            </a:extLst>
          </p:cNvPr>
          <p:cNvSpPr>
            <a:spLocks noGrp="1"/>
          </p:cNvSpPr>
          <p:nvPr>
            <p:ph idx="1"/>
          </p:nvPr>
        </p:nvSpPr>
        <p:spPr>
          <a:xfrm>
            <a:off x="308790" y="1278218"/>
            <a:ext cx="11558090" cy="5396902"/>
          </a:xfrm>
        </p:spPr>
        <p:txBody>
          <a:bodyPr>
            <a:noAutofit/>
          </a:bodyPr>
          <a:lstStyle/>
          <a:p>
            <a:pPr lvl="1">
              <a:lnSpc>
                <a:spcPct val="150000"/>
              </a:lnSpc>
            </a:pPr>
            <a:r>
              <a:rPr lang="en-US" sz="2800" b="1" dirty="0">
                <a:solidFill>
                  <a:srgbClr val="00B050"/>
                </a:solidFill>
              </a:rPr>
              <a:t>Examples from CDC (2020c)</a:t>
            </a:r>
          </a:p>
          <a:p>
            <a:pPr marL="0" indent="0">
              <a:lnSpc>
                <a:spcPct val="150000"/>
              </a:lnSpc>
              <a:buNone/>
            </a:pPr>
            <a:r>
              <a:rPr lang="en-US" sz="2000" b="1" dirty="0"/>
              <a:t>Risk Factors:</a:t>
            </a:r>
            <a:endParaRPr lang="en-US" sz="2000" dirty="0"/>
          </a:p>
          <a:p>
            <a:pPr>
              <a:lnSpc>
                <a:spcPct val="150000"/>
              </a:lnSpc>
            </a:pPr>
            <a:r>
              <a:rPr lang="en-US" sz="2000" b="1" dirty="0"/>
              <a:t>Societal:</a:t>
            </a:r>
            <a:r>
              <a:rPr lang="en-US" sz="2000" dirty="0"/>
              <a:t> Cultural norms supporting aggression, violent media, income inequity, harmful gender norms</a:t>
            </a:r>
          </a:p>
          <a:p>
            <a:pPr>
              <a:lnSpc>
                <a:spcPct val="150000"/>
              </a:lnSpc>
            </a:pPr>
            <a:r>
              <a:rPr lang="en-US" sz="2000" b="1" dirty="0"/>
              <a:t>Community:</a:t>
            </a:r>
            <a:r>
              <a:rPr lang="en-US" sz="2000" dirty="0"/>
              <a:t> Neighborhood poverty, high alcohol availability, community violence, unemployment, poor cohesion</a:t>
            </a:r>
          </a:p>
          <a:p>
            <a:pPr>
              <a:lnSpc>
                <a:spcPct val="150000"/>
              </a:lnSpc>
            </a:pPr>
            <a:r>
              <a:rPr lang="en-US" sz="2000" b="1" dirty="0"/>
              <a:t>Relationship:</a:t>
            </a:r>
            <a:r>
              <a:rPr lang="en-US" sz="2000" dirty="0"/>
              <a:t> Social isolation, poor parent–child relationships, family conflict, delinquent peer associations</a:t>
            </a:r>
          </a:p>
          <a:p>
            <a:pPr>
              <a:lnSpc>
                <a:spcPct val="150000"/>
              </a:lnSpc>
            </a:pPr>
            <a:r>
              <a:rPr lang="en-US" sz="2000" b="1" dirty="0"/>
              <a:t>Individual:</a:t>
            </a:r>
            <a:r>
              <a:rPr lang="en-US" sz="2000" dirty="0"/>
              <a:t> Low education, poor behavioral control, impulsivity, prior victimization, mental health/substance issues</a:t>
            </a:r>
          </a:p>
          <a:p>
            <a:pPr marL="457200" lvl="1" indent="0">
              <a:lnSpc>
                <a:spcPct val="150000"/>
              </a:lnSpc>
              <a:buNone/>
            </a:pPr>
            <a:endParaRPr lang="en-US" b="1" dirty="0"/>
          </a:p>
        </p:txBody>
      </p:sp>
      <p:sp>
        <p:nvSpPr>
          <p:cNvPr id="4" name="Title 1">
            <a:extLst>
              <a:ext uri="{FF2B5EF4-FFF2-40B4-BE49-F238E27FC236}">
                <a16:creationId xmlns:a16="http://schemas.microsoft.com/office/drawing/2014/main" id="{665C6504-39A6-04B2-99DD-AA335BFEC10B}"/>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Overview of violence across the life cycle</a:t>
            </a:r>
          </a:p>
        </p:txBody>
      </p:sp>
    </p:spTree>
    <p:extLst>
      <p:ext uri="{BB962C8B-B14F-4D97-AF65-F5344CB8AC3E}">
        <p14:creationId xmlns:p14="http://schemas.microsoft.com/office/powerpoint/2010/main" val="3266299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3FEE9-2724-1E74-811D-E924214A93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F0189-9486-9136-6A7E-0B691BEAA19E}"/>
              </a:ext>
            </a:extLst>
          </p:cNvPr>
          <p:cNvSpPr>
            <a:spLocks noGrp="1"/>
          </p:cNvSpPr>
          <p:nvPr>
            <p:ph idx="1"/>
          </p:nvPr>
        </p:nvSpPr>
        <p:spPr>
          <a:xfrm>
            <a:off x="451030" y="2192618"/>
            <a:ext cx="11558090" cy="1790102"/>
          </a:xfrm>
        </p:spPr>
        <p:txBody>
          <a:bodyPr>
            <a:noAutofit/>
          </a:bodyPr>
          <a:lstStyle/>
          <a:p>
            <a:pPr marL="0" indent="0" algn="ctr">
              <a:lnSpc>
                <a:spcPct val="200000"/>
              </a:lnSpc>
              <a:buNone/>
            </a:pPr>
            <a:r>
              <a:rPr lang="en-US" sz="4400" b="1" dirty="0">
                <a:solidFill>
                  <a:srgbClr val="002060"/>
                </a:solidFill>
              </a:rPr>
              <a:t>What are some of the risk factors and  protective factors in your community?</a:t>
            </a:r>
          </a:p>
          <a:p>
            <a:pPr algn="ctr">
              <a:lnSpc>
                <a:spcPct val="200000"/>
              </a:lnSpc>
            </a:pPr>
            <a:endParaRPr lang="en-US" sz="4400" b="1" dirty="0">
              <a:solidFill>
                <a:srgbClr val="002060"/>
              </a:solidFill>
            </a:endParaRPr>
          </a:p>
          <a:p>
            <a:pPr marL="457200" lvl="1" indent="0">
              <a:lnSpc>
                <a:spcPct val="200000"/>
              </a:lnSpc>
              <a:buNone/>
            </a:pPr>
            <a:endParaRPr lang="en-US" sz="2000" b="1" dirty="0">
              <a:solidFill>
                <a:srgbClr val="002060"/>
              </a:solidFill>
            </a:endParaRPr>
          </a:p>
        </p:txBody>
      </p:sp>
      <p:sp>
        <p:nvSpPr>
          <p:cNvPr id="4" name="Title 1">
            <a:extLst>
              <a:ext uri="{FF2B5EF4-FFF2-40B4-BE49-F238E27FC236}">
                <a16:creationId xmlns:a16="http://schemas.microsoft.com/office/drawing/2014/main" id="{43AF3BDC-9CA5-3D32-A6C6-F38D7DC69230}"/>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Overview of violence across the life cycle</a:t>
            </a:r>
          </a:p>
        </p:txBody>
      </p:sp>
    </p:spTree>
    <p:extLst>
      <p:ext uri="{BB962C8B-B14F-4D97-AF65-F5344CB8AC3E}">
        <p14:creationId xmlns:p14="http://schemas.microsoft.com/office/powerpoint/2010/main" val="841616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5C901-456A-11F1-1911-33303F7AD9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C1F3359-3E84-8E86-D745-A563828A5F4F}"/>
              </a:ext>
            </a:extLst>
          </p:cNvPr>
          <p:cNvSpPr txBox="1">
            <a:spLocks/>
          </p:cNvSpPr>
          <p:nvPr/>
        </p:nvSpPr>
        <p:spPr>
          <a:xfrm>
            <a:off x="1154705" y="80010"/>
            <a:ext cx="9144000" cy="122900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Myths and Truths About Violence and Abuse</a:t>
            </a:r>
          </a:p>
        </p:txBody>
      </p:sp>
      <p:pic>
        <p:nvPicPr>
          <p:cNvPr id="5" name="Picture 4">
            <a:extLst>
              <a:ext uri="{FF2B5EF4-FFF2-40B4-BE49-F238E27FC236}">
                <a16:creationId xmlns:a16="http://schemas.microsoft.com/office/drawing/2014/main" id="{76245425-4AF4-A4D5-F315-4041F4B81696}"/>
              </a:ext>
            </a:extLst>
          </p:cNvPr>
          <p:cNvPicPr>
            <a:picLocks noChangeAspect="1"/>
          </p:cNvPicPr>
          <p:nvPr/>
        </p:nvPicPr>
        <p:blipFill>
          <a:blip r:embed="rId3"/>
          <a:stretch>
            <a:fillRect/>
          </a:stretch>
        </p:blipFill>
        <p:spPr>
          <a:xfrm>
            <a:off x="3210560" y="1377912"/>
            <a:ext cx="5719481" cy="5312695"/>
          </a:xfrm>
          <a:prstGeom prst="rect">
            <a:avLst/>
          </a:prstGeom>
        </p:spPr>
      </p:pic>
    </p:spTree>
    <p:extLst>
      <p:ext uri="{BB962C8B-B14F-4D97-AF65-F5344CB8AC3E}">
        <p14:creationId xmlns:p14="http://schemas.microsoft.com/office/powerpoint/2010/main" val="813763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29B5B3-8693-89FB-8E71-60F1FB57E1BC}"/>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D50007E6-44FB-1E98-E788-D61D77878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descr="2,600+ Family Violence Illustrations, Royalty-Free Vector Graphics &amp; Clip  Art - iStock | Domestic and family violence, Family violence icon, Escaping family  violence">
            <a:extLst>
              <a:ext uri="{FF2B5EF4-FFF2-40B4-BE49-F238E27FC236}">
                <a16:creationId xmlns:a16="http://schemas.microsoft.com/office/drawing/2014/main" id="{C0257215-BE7A-2A3C-0721-5167939C2B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30" t="9091"/>
          <a:stretch/>
        </p:blipFill>
        <p:spPr bwMode="auto">
          <a:xfrm>
            <a:off x="3522468" y="0"/>
            <a:ext cx="866953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2825E6CB-751A-3F14-BEDB-2FECE55A6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83" name="Rectangle 3082">
            <a:extLst>
              <a:ext uri="{FF2B5EF4-FFF2-40B4-BE49-F238E27FC236}">
                <a16:creationId xmlns:a16="http://schemas.microsoft.com/office/drawing/2014/main" id="{295A486A-ADAE-CE35-D45B-0688DD443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85" name="Rectangle 3084">
            <a:extLst>
              <a:ext uri="{FF2B5EF4-FFF2-40B4-BE49-F238E27FC236}">
                <a16:creationId xmlns:a16="http://schemas.microsoft.com/office/drawing/2014/main" id="{3F9393ED-EE2C-DD6E-DDCE-E07BCCD53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312E88ED-854B-9949-D114-C8BF58878E76}"/>
              </a:ext>
            </a:extLst>
          </p:cNvPr>
          <p:cNvSpPr txBox="1"/>
          <p:nvPr/>
        </p:nvSpPr>
        <p:spPr>
          <a:xfrm>
            <a:off x="426720" y="3798054"/>
            <a:ext cx="6096000" cy="2123658"/>
          </a:xfrm>
          <a:prstGeom prst="rect">
            <a:avLst/>
          </a:prstGeom>
          <a:noFill/>
        </p:spPr>
        <p:txBody>
          <a:bodyPr wrap="square">
            <a:spAutoFit/>
          </a:bodyPr>
          <a:lstStyle/>
          <a:p>
            <a:r>
              <a:rPr lang="en-US" sz="6600" b="1" dirty="0">
                <a:solidFill>
                  <a:srgbClr val="FFFF00"/>
                </a:solidFill>
                <a:latin typeface="Agency FB" panose="020B0503020202020204" pitchFamily="34" charset="0"/>
              </a:rPr>
              <a:t>FAMILY VIOLENCE AGAINST CHILDREN</a:t>
            </a:r>
            <a:endParaRPr lang="en-US" sz="6600" dirty="0">
              <a:latin typeface="Agency FB" panose="020B0503020202020204" pitchFamily="34" charset="0"/>
            </a:endParaRPr>
          </a:p>
        </p:txBody>
      </p:sp>
    </p:spTree>
    <p:extLst>
      <p:ext uri="{BB962C8B-B14F-4D97-AF65-F5344CB8AC3E}">
        <p14:creationId xmlns:p14="http://schemas.microsoft.com/office/powerpoint/2010/main" val="1550231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9E353-985C-63E1-C15B-B1281619B13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7D996E2-A07D-09FF-4EEC-442839F98586}"/>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06DCABD5-51F0-B9AB-C6C1-1B7AAAB3CAA9}"/>
              </a:ext>
            </a:extLst>
          </p:cNvPr>
          <p:cNvSpPr>
            <a:spLocks noGrp="1" noChangeArrowheads="1"/>
          </p:cNvSpPr>
          <p:nvPr>
            <p:ph idx="1"/>
          </p:nvPr>
        </p:nvSpPr>
        <p:spPr bwMode="auto">
          <a:xfrm>
            <a:off x="351766" y="1277625"/>
            <a:ext cx="11055123" cy="5763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rgbClr val="002060"/>
                </a:solidFill>
                <a:effectLst/>
                <a:latin typeface="Arial" panose="020B0604020202020204" pitchFamily="34" charset="0"/>
              </a:rPr>
              <a:t>Child abuse (CAPTA, 2019):</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1" u="none" strike="noStrike" cap="none" normalizeH="0" baseline="0" dirty="0">
                <a:ln>
                  <a:noFill/>
                </a:ln>
                <a:solidFill>
                  <a:schemeClr val="tx1"/>
                </a:solidFill>
                <a:effectLst/>
                <a:latin typeface="Arial" panose="020B0604020202020204" pitchFamily="34" charset="0"/>
              </a:rPr>
              <a:t>Any act or failure to act by a parent/caregiver resulting in death, serious harm, sexual abuse, or an imminent risk of serious harm.</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rgbClr val="002060"/>
                </a:solidFill>
                <a:effectLst/>
                <a:latin typeface="Arial" panose="020B0604020202020204" pitchFamily="34" charset="0"/>
              </a:rPr>
              <a:t>Child maltreatment (WHO, 2020):</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1" u="none" strike="noStrike" cap="none" normalizeH="0" baseline="0" dirty="0">
                <a:ln>
                  <a:noFill/>
                </a:ln>
                <a:solidFill>
                  <a:schemeClr val="tx1"/>
                </a:solidFill>
                <a:effectLst/>
                <a:latin typeface="Arial" panose="020B0604020202020204" pitchFamily="34" charset="0"/>
              </a:rPr>
              <a:t>All forms of abuse and neglect toward children under 18 that result in actual or potential harm to health, development, or dignity within a relationship of responsibility, trust, or power.</a:t>
            </a:r>
          </a:p>
          <a:p>
            <a:pPr marL="1884363">
              <a:lnSpc>
                <a:spcPct val="100000"/>
              </a:lnSpc>
              <a:buNone/>
            </a:pPr>
            <a:r>
              <a:rPr lang="en-US" sz="2000" b="1" dirty="0">
                <a:solidFill>
                  <a:srgbClr val="7030A0"/>
                </a:solidFill>
              </a:rPr>
              <a:t>Global Perspective</a:t>
            </a:r>
          </a:p>
          <a:p>
            <a:pPr marL="1884363">
              <a:lnSpc>
                <a:spcPct val="100000"/>
              </a:lnSpc>
            </a:pPr>
            <a:r>
              <a:rPr lang="en-US" sz="2000" dirty="0">
                <a:solidFill>
                  <a:srgbClr val="7030A0"/>
                </a:solidFill>
              </a:rPr>
              <a:t>25% of adults report physical abuse in childhood.</a:t>
            </a:r>
          </a:p>
          <a:p>
            <a:pPr marL="1884363">
              <a:lnSpc>
                <a:spcPct val="100000"/>
              </a:lnSpc>
            </a:pPr>
            <a:r>
              <a:rPr lang="en-US" sz="2000" dirty="0">
                <a:solidFill>
                  <a:srgbClr val="7030A0"/>
                </a:solidFill>
              </a:rPr>
              <a:t>36% report emotional abuse; 16.3% report neglect.</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2518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8574F5-8B6A-85CF-DE79-3731FD7458DE}"/>
            </a:ext>
          </a:extLst>
        </p:cNvPr>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438B291C-C1B6-8EC1-2CB9-33DE066B6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Color 2">
            <a:extLst>
              <a:ext uri="{FF2B5EF4-FFF2-40B4-BE49-F238E27FC236}">
                <a16:creationId xmlns:a16="http://schemas.microsoft.com/office/drawing/2014/main" id="{9D558519-B471-2BE5-1C3D-05870F0AD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400A0D11-2512-7E47-A7FC-43B6EBAA6A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4" name="Color">
              <a:extLst>
                <a:ext uri="{FF2B5EF4-FFF2-40B4-BE49-F238E27FC236}">
                  <a16:creationId xmlns:a16="http://schemas.microsoft.com/office/drawing/2014/main" id="{ACE0D4AD-E111-6216-28C1-F5B5E5B21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Color">
              <a:extLst>
                <a:ext uri="{FF2B5EF4-FFF2-40B4-BE49-F238E27FC236}">
                  <a16:creationId xmlns:a16="http://schemas.microsoft.com/office/drawing/2014/main" id="{1A41CA7D-DF59-9F89-3581-AEB9EE950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 name="Group 16">
            <a:extLst>
              <a:ext uri="{FF2B5EF4-FFF2-40B4-BE49-F238E27FC236}">
                <a16:creationId xmlns:a16="http://schemas.microsoft.com/office/drawing/2014/main" id="{240B862F-8677-5CD0-B730-F6DB1940EDD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504C11F8-B711-750F-A96A-31083E1EA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E72B7101-789C-E7CD-8646-CE0198F477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CB748E5E-F9B0-B998-A898-2D731219F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F99634F6-7740-3D0D-F3D5-5B8C58887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225842F0-BFA2-2197-AA6C-0C47D4F21D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13AB92F-8CF8-0DCC-F122-16B63DD6B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7D6130AE-D13C-16BA-CBFC-68F4680353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3D1DEE73-9FE9-3A19-B9A0-491FBDD082E3}"/>
              </a:ext>
            </a:extLst>
          </p:cNvPr>
          <p:cNvSpPr>
            <a:spLocks noGrp="1"/>
          </p:cNvSpPr>
          <p:nvPr>
            <p:ph type="title"/>
          </p:nvPr>
        </p:nvSpPr>
        <p:spPr>
          <a:xfrm>
            <a:off x="430785" y="841248"/>
            <a:ext cx="5129600" cy="5340097"/>
          </a:xfrm>
        </p:spPr>
        <p:txBody>
          <a:bodyPr anchor="ctr">
            <a:normAutofit/>
          </a:bodyPr>
          <a:lstStyle/>
          <a:p>
            <a:pPr algn="ctr"/>
            <a:r>
              <a:rPr lang="en-US" sz="4800" b="1" dirty="0">
                <a:solidFill>
                  <a:schemeClr val="tx1">
                    <a:lumMod val="95000"/>
                    <a:lumOff val="5000"/>
                  </a:schemeClr>
                </a:solidFill>
              </a:rPr>
              <a:t>Major Types of FAMILY VIOLENCE AGAINST CHILDREN</a:t>
            </a:r>
          </a:p>
        </p:txBody>
      </p:sp>
      <p:grpSp>
        <p:nvGrpSpPr>
          <p:cNvPr id="6" name="Group 5">
            <a:extLst>
              <a:ext uri="{FF2B5EF4-FFF2-40B4-BE49-F238E27FC236}">
                <a16:creationId xmlns:a16="http://schemas.microsoft.com/office/drawing/2014/main" id="{22E5C3E5-4535-0A93-9278-DD24DB8BD84A}"/>
              </a:ext>
            </a:extLst>
          </p:cNvPr>
          <p:cNvGrpSpPr/>
          <p:nvPr/>
        </p:nvGrpSpPr>
        <p:grpSpPr>
          <a:xfrm>
            <a:off x="7089050" y="689550"/>
            <a:ext cx="3379720" cy="354240"/>
            <a:chOff x="1448451" y="116683"/>
            <a:chExt cx="3379720" cy="354240"/>
          </a:xfrm>
        </p:grpSpPr>
        <p:sp>
          <p:nvSpPr>
            <p:cNvPr id="7" name="Rectangle: Rounded Corners 6">
              <a:extLst>
                <a:ext uri="{FF2B5EF4-FFF2-40B4-BE49-F238E27FC236}">
                  <a16:creationId xmlns:a16="http://schemas.microsoft.com/office/drawing/2014/main" id="{679C523A-3951-062D-3776-0AE9FF18AC3E}"/>
                </a:ext>
              </a:extLst>
            </p:cNvPr>
            <p:cNvSpPr/>
            <p:nvPr/>
          </p:nvSpPr>
          <p:spPr>
            <a:xfrm>
              <a:off x="1448451" y="116683"/>
              <a:ext cx="3379720" cy="354240"/>
            </a:xfrm>
            <a:prstGeom prst="roundRect">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8" name="Rectangle: Rounded Corners 4">
              <a:extLst>
                <a:ext uri="{FF2B5EF4-FFF2-40B4-BE49-F238E27FC236}">
                  <a16:creationId xmlns:a16="http://schemas.microsoft.com/office/drawing/2014/main" id="{DA74CB76-DCC3-0C95-BB5C-FDFBEC2F4008}"/>
                </a:ext>
              </a:extLst>
            </p:cNvPr>
            <p:cNvSpPr txBox="1"/>
            <p:nvPr/>
          </p:nvSpPr>
          <p:spPr>
            <a:xfrm>
              <a:off x="1465744" y="133976"/>
              <a:ext cx="3345134" cy="3196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745" tIns="0" rIns="127745" bIns="0" numCol="1" spcCol="1270" anchor="ctr" anchorCtr="0">
              <a:noAutofit/>
            </a:bodyPr>
            <a:lstStyle/>
            <a:p>
              <a:pPr marL="0" lvl="0" indent="0" algn="l" defTabSz="488950">
                <a:lnSpc>
                  <a:spcPct val="90000"/>
                </a:lnSpc>
                <a:spcBef>
                  <a:spcPct val="0"/>
                </a:spcBef>
                <a:spcAft>
                  <a:spcPct val="35000"/>
                </a:spcAft>
                <a:buNone/>
              </a:pPr>
              <a:r>
                <a:rPr lang="en-US" sz="1100" kern="1200" dirty="0"/>
                <a:t>Child Neglect</a:t>
              </a:r>
            </a:p>
          </p:txBody>
        </p:sp>
      </p:grpSp>
      <p:grpSp>
        <p:nvGrpSpPr>
          <p:cNvPr id="10" name="Group 9">
            <a:extLst>
              <a:ext uri="{FF2B5EF4-FFF2-40B4-BE49-F238E27FC236}">
                <a16:creationId xmlns:a16="http://schemas.microsoft.com/office/drawing/2014/main" id="{D7279213-6F26-6AFD-994E-7121F4E5BFCC}"/>
              </a:ext>
            </a:extLst>
          </p:cNvPr>
          <p:cNvGrpSpPr/>
          <p:nvPr/>
        </p:nvGrpSpPr>
        <p:grpSpPr>
          <a:xfrm>
            <a:off x="7089050" y="1222113"/>
            <a:ext cx="3379720" cy="354240"/>
            <a:chOff x="241408" y="2168255"/>
            <a:chExt cx="3379720" cy="354240"/>
          </a:xfrm>
        </p:grpSpPr>
        <p:sp>
          <p:nvSpPr>
            <p:cNvPr id="12" name="Rectangle: Rounded Corners 11">
              <a:extLst>
                <a:ext uri="{FF2B5EF4-FFF2-40B4-BE49-F238E27FC236}">
                  <a16:creationId xmlns:a16="http://schemas.microsoft.com/office/drawing/2014/main" id="{4ADAD438-55E7-F9BC-E381-146D866D9B31}"/>
                </a:ext>
              </a:extLst>
            </p:cNvPr>
            <p:cNvSpPr/>
            <p:nvPr/>
          </p:nvSpPr>
          <p:spPr>
            <a:xfrm>
              <a:off x="241408" y="2168255"/>
              <a:ext cx="3379720" cy="354240"/>
            </a:xfrm>
            <a:prstGeom prst="roundRect">
              <a:avLst/>
            </a:pr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a:lstStyle/>
            <a:p>
              <a:endParaRPr lang="en-US"/>
            </a:p>
          </p:txBody>
        </p:sp>
        <p:sp>
          <p:nvSpPr>
            <p:cNvPr id="16" name="Rectangle: Rounded Corners 4">
              <a:extLst>
                <a:ext uri="{FF2B5EF4-FFF2-40B4-BE49-F238E27FC236}">
                  <a16:creationId xmlns:a16="http://schemas.microsoft.com/office/drawing/2014/main" id="{46E141B3-B277-647B-A184-CFCEE4102A50}"/>
                </a:ext>
              </a:extLst>
            </p:cNvPr>
            <p:cNvSpPr txBox="1"/>
            <p:nvPr/>
          </p:nvSpPr>
          <p:spPr>
            <a:xfrm>
              <a:off x="258701" y="2185548"/>
              <a:ext cx="3345134" cy="3196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745" tIns="0" rIns="127745" bIns="0" numCol="1" spcCol="1270" anchor="ctr" anchorCtr="0">
              <a:noAutofit/>
            </a:bodyPr>
            <a:lstStyle/>
            <a:p>
              <a:pPr marL="0" lvl="0" indent="0" algn="l" defTabSz="488950">
                <a:lnSpc>
                  <a:spcPct val="90000"/>
                </a:lnSpc>
                <a:spcBef>
                  <a:spcPct val="0"/>
                </a:spcBef>
                <a:spcAft>
                  <a:spcPct val="35000"/>
                </a:spcAft>
                <a:buNone/>
              </a:pPr>
              <a:r>
                <a:rPr lang="en-US" sz="1100" kern="1200" dirty="0"/>
                <a:t>Physical Abuse</a:t>
              </a:r>
            </a:p>
          </p:txBody>
        </p:sp>
      </p:grpSp>
      <p:grpSp>
        <p:nvGrpSpPr>
          <p:cNvPr id="25" name="Group 24">
            <a:extLst>
              <a:ext uri="{FF2B5EF4-FFF2-40B4-BE49-F238E27FC236}">
                <a16:creationId xmlns:a16="http://schemas.microsoft.com/office/drawing/2014/main" id="{72ED37C0-597A-9401-31A9-0800B5D00C6F}"/>
              </a:ext>
            </a:extLst>
          </p:cNvPr>
          <p:cNvGrpSpPr/>
          <p:nvPr/>
        </p:nvGrpSpPr>
        <p:grpSpPr>
          <a:xfrm>
            <a:off x="7119195" y="1855159"/>
            <a:ext cx="3379720" cy="354240"/>
            <a:chOff x="241408" y="2712575"/>
            <a:chExt cx="3379720" cy="354240"/>
          </a:xfrm>
        </p:grpSpPr>
        <p:sp>
          <p:nvSpPr>
            <p:cNvPr id="26" name="Rectangle: Rounded Corners 25">
              <a:extLst>
                <a:ext uri="{FF2B5EF4-FFF2-40B4-BE49-F238E27FC236}">
                  <a16:creationId xmlns:a16="http://schemas.microsoft.com/office/drawing/2014/main" id="{9F9146E3-CB94-D0CE-5B44-C0F269C7E9CC}"/>
                </a:ext>
              </a:extLst>
            </p:cNvPr>
            <p:cNvSpPr/>
            <p:nvPr/>
          </p:nvSpPr>
          <p:spPr>
            <a:xfrm>
              <a:off x="241408" y="2712575"/>
              <a:ext cx="3379720" cy="354240"/>
            </a:xfrm>
            <a:prstGeom prst="roundRect">
              <a:avLst/>
            </a:pr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lstStyle/>
            <a:p>
              <a:endParaRPr lang="en-US"/>
            </a:p>
          </p:txBody>
        </p:sp>
        <p:sp>
          <p:nvSpPr>
            <p:cNvPr id="27" name="Rectangle: Rounded Corners 4">
              <a:extLst>
                <a:ext uri="{FF2B5EF4-FFF2-40B4-BE49-F238E27FC236}">
                  <a16:creationId xmlns:a16="http://schemas.microsoft.com/office/drawing/2014/main" id="{C44112CB-ED6B-B155-864F-0D5C77B737EF}"/>
                </a:ext>
              </a:extLst>
            </p:cNvPr>
            <p:cNvSpPr txBox="1"/>
            <p:nvPr/>
          </p:nvSpPr>
          <p:spPr>
            <a:xfrm>
              <a:off x="258701" y="2729868"/>
              <a:ext cx="3345134" cy="3196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745" tIns="0" rIns="127745" bIns="0" numCol="1" spcCol="1270" anchor="ctr" anchorCtr="0">
              <a:noAutofit/>
            </a:bodyPr>
            <a:lstStyle/>
            <a:p>
              <a:pPr marL="0" lvl="0" indent="0" algn="l" defTabSz="488950">
                <a:lnSpc>
                  <a:spcPct val="90000"/>
                </a:lnSpc>
                <a:spcBef>
                  <a:spcPct val="0"/>
                </a:spcBef>
                <a:spcAft>
                  <a:spcPct val="35000"/>
                </a:spcAft>
                <a:buNone/>
              </a:pPr>
              <a:r>
                <a:rPr lang="en-US" sz="1100" kern="1200" dirty="0"/>
                <a:t>Sexual abuse</a:t>
              </a:r>
            </a:p>
          </p:txBody>
        </p:sp>
      </p:grpSp>
      <p:grpSp>
        <p:nvGrpSpPr>
          <p:cNvPr id="28" name="Group 27">
            <a:extLst>
              <a:ext uri="{FF2B5EF4-FFF2-40B4-BE49-F238E27FC236}">
                <a16:creationId xmlns:a16="http://schemas.microsoft.com/office/drawing/2014/main" id="{15794A21-3172-33DA-3F8A-28E773DFDCC6}"/>
              </a:ext>
            </a:extLst>
          </p:cNvPr>
          <p:cNvGrpSpPr/>
          <p:nvPr/>
        </p:nvGrpSpPr>
        <p:grpSpPr>
          <a:xfrm>
            <a:off x="7129243" y="2508302"/>
            <a:ext cx="3379720" cy="354240"/>
            <a:chOff x="241408" y="3256895"/>
            <a:chExt cx="3379720" cy="354240"/>
          </a:xfrm>
        </p:grpSpPr>
        <p:sp>
          <p:nvSpPr>
            <p:cNvPr id="29" name="Rectangle: Rounded Corners 28">
              <a:extLst>
                <a:ext uri="{FF2B5EF4-FFF2-40B4-BE49-F238E27FC236}">
                  <a16:creationId xmlns:a16="http://schemas.microsoft.com/office/drawing/2014/main" id="{7BDE4BCC-2488-E345-A248-F9CE9D8EE890}"/>
                </a:ext>
              </a:extLst>
            </p:cNvPr>
            <p:cNvSpPr/>
            <p:nvPr/>
          </p:nvSpPr>
          <p:spPr>
            <a:xfrm>
              <a:off x="241408" y="3256895"/>
              <a:ext cx="3379720" cy="354240"/>
            </a:xfrm>
            <a:prstGeom prst="roundRect">
              <a:avLst/>
            </a:pr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a:lstStyle/>
            <a:p>
              <a:endParaRPr lang="en-US"/>
            </a:p>
          </p:txBody>
        </p:sp>
        <p:sp>
          <p:nvSpPr>
            <p:cNvPr id="30" name="Rectangle: Rounded Corners 4">
              <a:extLst>
                <a:ext uri="{FF2B5EF4-FFF2-40B4-BE49-F238E27FC236}">
                  <a16:creationId xmlns:a16="http://schemas.microsoft.com/office/drawing/2014/main" id="{12418E92-949E-ECD1-C72C-DB6694834759}"/>
                </a:ext>
              </a:extLst>
            </p:cNvPr>
            <p:cNvSpPr txBox="1"/>
            <p:nvPr/>
          </p:nvSpPr>
          <p:spPr>
            <a:xfrm>
              <a:off x="258701" y="3274188"/>
              <a:ext cx="3345134" cy="3196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745" tIns="0" rIns="127745" bIns="0" numCol="1" spcCol="1270" anchor="ctr" anchorCtr="0">
              <a:noAutofit/>
            </a:bodyPr>
            <a:lstStyle/>
            <a:p>
              <a:pPr marL="0" lvl="0" indent="0" algn="l" defTabSz="488950">
                <a:lnSpc>
                  <a:spcPct val="90000"/>
                </a:lnSpc>
                <a:spcBef>
                  <a:spcPct val="0"/>
                </a:spcBef>
                <a:spcAft>
                  <a:spcPct val="35000"/>
                </a:spcAft>
                <a:buNone/>
              </a:pPr>
              <a:r>
                <a:rPr lang="en-US" sz="1100" kern="1200" dirty="0"/>
                <a:t>Emotional/ Psychological abuse </a:t>
              </a:r>
            </a:p>
          </p:txBody>
        </p:sp>
      </p:grpSp>
      <p:grpSp>
        <p:nvGrpSpPr>
          <p:cNvPr id="31" name="Group 30">
            <a:extLst>
              <a:ext uri="{FF2B5EF4-FFF2-40B4-BE49-F238E27FC236}">
                <a16:creationId xmlns:a16="http://schemas.microsoft.com/office/drawing/2014/main" id="{A599801C-0EEE-7495-F7E2-134865D2D00D}"/>
              </a:ext>
            </a:extLst>
          </p:cNvPr>
          <p:cNvGrpSpPr/>
          <p:nvPr/>
        </p:nvGrpSpPr>
        <p:grpSpPr>
          <a:xfrm>
            <a:off x="7079002" y="2936914"/>
            <a:ext cx="3552154" cy="2268132"/>
            <a:chOff x="241408" y="3801215"/>
            <a:chExt cx="3379720" cy="1044462"/>
          </a:xfrm>
        </p:grpSpPr>
        <p:sp>
          <p:nvSpPr>
            <p:cNvPr id="32" name="Rectangle: Rounded Corners 31">
              <a:extLst>
                <a:ext uri="{FF2B5EF4-FFF2-40B4-BE49-F238E27FC236}">
                  <a16:creationId xmlns:a16="http://schemas.microsoft.com/office/drawing/2014/main" id="{5547131D-5B67-518E-6624-73DFD20CB398}"/>
                </a:ext>
              </a:extLst>
            </p:cNvPr>
            <p:cNvSpPr/>
            <p:nvPr/>
          </p:nvSpPr>
          <p:spPr>
            <a:xfrm>
              <a:off x="241408" y="3801215"/>
              <a:ext cx="3379720" cy="1044462"/>
            </a:xfrm>
            <a:prstGeom prst="roundRect">
              <a:avLst/>
            </a:pr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en-US"/>
            </a:p>
          </p:txBody>
        </p:sp>
        <p:sp>
          <p:nvSpPr>
            <p:cNvPr id="33" name="Rectangle: Rounded Corners 4">
              <a:extLst>
                <a:ext uri="{FF2B5EF4-FFF2-40B4-BE49-F238E27FC236}">
                  <a16:creationId xmlns:a16="http://schemas.microsoft.com/office/drawing/2014/main" id="{E8338FF5-6395-3972-3E8D-108487E6B5D3}"/>
                </a:ext>
              </a:extLst>
            </p:cNvPr>
            <p:cNvSpPr txBox="1"/>
            <p:nvPr/>
          </p:nvSpPr>
          <p:spPr>
            <a:xfrm>
              <a:off x="292394" y="3852201"/>
              <a:ext cx="3277748" cy="94249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745" tIns="0" rIns="127745" bIns="0" numCol="1" spcCol="1270" anchor="ctr" anchorCtr="0">
              <a:noAutofit/>
            </a:bodyPr>
            <a:lstStyle/>
            <a:p>
              <a:pPr marL="0" lvl="0" indent="0" algn="l" defTabSz="488950">
                <a:lnSpc>
                  <a:spcPct val="90000"/>
                </a:lnSpc>
                <a:spcBef>
                  <a:spcPct val="0"/>
                </a:spcBef>
                <a:spcAft>
                  <a:spcPct val="35000"/>
                </a:spcAft>
                <a:buNone/>
              </a:pPr>
              <a:r>
                <a:rPr lang="en-US" sz="1200" kern="1200" dirty="0">
                  <a:solidFill>
                    <a:schemeClr val="tx1">
                      <a:lumMod val="95000"/>
                      <a:lumOff val="5000"/>
                    </a:schemeClr>
                  </a:solidFill>
                </a:rPr>
                <a:t>Specific Abusive Situations:</a:t>
              </a:r>
            </a:p>
            <a:p>
              <a:pPr marL="0" lvl="0" indent="0" algn="l" defTabSz="488950">
                <a:lnSpc>
                  <a:spcPct val="90000"/>
                </a:lnSpc>
                <a:spcBef>
                  <a:spcPct val="0"/>
                </a:spcBef>
                <a:spcAft>
                  <a:spcPct val="35000"/>
                </a:spcAft>
                <a:buNone/>
              </a:pPr>
              <a:r>
                <a:rPr lang="en-US" sz="1200" kern="1200" dirty="0">
                  <a:solidFill>
                    <a:schemeClr val="tx1">
                      <a:lumMod val="95000"/>
                      <a:lumOff val="5000"/>
                    </a:schemeClr>
                  </a:solidFill>
                </a:rPr>
                <a:t>1- Abusive Head Trauma (Shaken Baby Syndrome)</a:t>
              </a:r>
            </a:p>
            <a:p>
              <a:pPr marL="0" lvl="0" indent="0" algn="l" defTabSz="488950">
                <a:lnSpc>
                  <a:spcPct val="90000"/>
                </a:lnSpc>
                <a:spcBef>
                  <a:spcPct val="0"/>
                </a:spcBef>
                <a:spcAft>
                  <a:spcPct val="35000"/>
                </a:spcAft>
                <a:buNone/>
              </a:pPr>
              <a:r>
                <a:rPr lang="en-US" sz="1200" kern="1200" dirty="0">
                  <a:solidFill>
                    <a:schemeClr val="tx1">
                      <a:lumMod val="95000"/>
                      <a:lumOff val="5000"/>
                    </a:schemeClr>
                  </a:solidFill>
                </a:rPr>
                <a:t>2. Munchausen Syndrome by Proxy</a:t>
              </a:r>
            </a:p>
            <a:p>
              <a:pPr marL="0" lvl="0" indent="0" algn="l" defTabSz="488950">
                <a:lnSpc>
                  <a:spcPct val="90000"/>
                </a:lnSpc>
                <a:spcBef>
                  <a:spcPct val="0"/>
                </a:spcBef>
                <a:spcAft>
                  <a:spcPct val="35000"/>
                </a:spcAft>
                <a:buNone/>
              </a:pPr>
              <a:r>
                <a:rPr lang="en-US" sz="1200" kern="1200" dirty="0">
                  <a:solidFill>
                    <a:schemeClr val="tx1">
                      <a:lumMod val="95000"/>
                      <a:lumOff val="5000"/>
                    </a:schemeClr>
                  </a:solidFill>
                </a:rPr>
                <a:t>3. Parental Filicide (Child Murder by Parent)</a:t>
              </a:r>
            </a:p>
            <a:p>
              <a:pPr marL="0" lvl="0" indent="0" algn="l" defTabSz="488950">
                <a:lnSpc>
                  <a:spcPct val="90000"/>
                </a:lnSpc>
                <a:spcBef>
                  <a:spcPct val="0"/>
                </a:spcBef>
                <a:spcAft>
                  <a:spcPct val="35000"/>
                </a:spcAft>
                <a:buNone/>
              </a:pPr>
              <a:r>
                <a:rPr lang="en-US" sz="1200" b="1" kern="1200" dirty="0">
                  <a:solidFill>
                    <a:schemeClr val="tx1">
                      <a:lumMod val="95000"/>
                      <a:lumOff val="5000"/>
                    </a:schemeClr>
                  </a:solidFill>
                </a:rPr>
                <a:t>4- Internet and Technology-Facilitated Crimes</a:t>
              </a:r>
            </a:p>
            <a:p>
              <a:pPr marL="0" lvl="0" indent="0" algn="l" defTabSz="488950">
                <a:lnSpc>
                  <a:spcPct val="90000"/>
                </a:lnSpc>
                <a:spcBef>
                  <a:spcPct val="0"/>
                </a:spcBef>
                <a:spcAft>
                  <a:spcPct val="35000"/>
                </a:spcAft>
                <a:buNone/>
              </a:pPr>
              <a:r>
                <a:rPr lang="en-US" sz="1200" b="1" kern="1200" dirty="0">
                  <a:solidFill>
                    <a:schemeClr val="tx1">
                      <a:lumMod val="95000"/>
                      <a:lumOff val="5000"/>
                    </a:schemeClr>
                  </a:solidFill>
                </a:rPr>
                <a:t>5. Child Abduction</a:t>
              </a:r>
            </a:p>
            <a:p>
              <a:pPr marL="0" lvl="0" indent="0" algn="l" defTabSz="488950">
                <a:lnSpc>
                  <a:spcPct val="90000"/>
                </a:lnSpc>
                <a:spcBef>
                  <a:spcPct val="0"/>
                </a:spcBef>
                <a:spcAft>
                  <a:spcPct val="35000"/>
                </a:spcAft>
                <a:buNone/>
              </a:pPr>
              <a:r>
                <a:rPr lang="en-US" sz="1200" b="1" kern="1200" dirty="0">
                  <a:solidFill>
                    <a:schemeClr val="tx1">
                      <a:lumMod val="95000"/>
                      <a:lumOff val="5000"/>
                    </a:schemeClr>
                  </a:solidFill>
                </a:rPr>
                <a:t>6. Abuse by Babysitters or Caretakers</a:t>
              </a:r>
            </a:p>
            <a:p>
              <a:pPr marL="0" lvl="0" indent="0" algn="l" defTabSz="488950">
                <a:lnSpc>
                  <a:spcPct val="90000"/>
                </a:lnSpc>
                <a:spcBef>
                  <a:spcPct val="0"/>
                </a:spcBef>
                <a:spcAft>
                  <a:spcPct val="35000"/>
                </a:spcAft>
                <a:buNone/>
              </a:pPr>
              <a:r>
                <a:rPr lang="en-US" sz="1200" b="1" kern="1200" dirty="0">
                  <a:solidFill>
                    <a:schemeClr val="tx1">
                      <a:lumMod val="95000"/>
                      <a:lumOff val="5000"/>
                    </a:schemeClr>
                  </a:solidFill>
                </a:rPr>
                <a:t>7. School Violence</a:t>
              </a:r>
              <a:endParaRPr lang="en-US" sz="1200" kern="1200" dirty="0">
                <a:solidFill>
                  <a:schemeClr val="tx1">
                    <a:lumMod val="95000"/>
                    <a:lumOff val="5000"/>
                  </a:schemeClr>
                </a:solidFill>
              </a:endParaRPr>
            </a:p>
          </p:txBody>
        </p:sp>
      </p:grpSp>
    </p:spTree>
    <p:extLst>
      <p:ext uri="{BB962C8B-B14F-4D97-AF65-F5344CB8AC3E}">
        <p14:creationId xmlns:p14="http://schemas.microsoft.com/office/powerpoint/2010/main" val="361759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2F5F9-7473-9B96-46B0-2BC79AF47A5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6B0BB80-CC51-FD16-2040-70C3EE097542}"/>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22AB6A08-CB0F-76E7-0B24-DA838411EADB}"/>
              </a:ext>
            </a:extLst>
          </p:cNvPr>
          <p:cNvSpPr>
            <a:spLocks noGrp="1" noChangeArrowheads="1"/>
          </p:cNvSpPr>
          <p:nvPr>
            <p:ph idx="1"/>
          </p:nvPr>
        </p:nvSpPr>
        <p:spPr bwMode="auto">
          <a:xfrm>
            <a:off x="351766" y="1359731"/>
            <a:ext cx="11055123"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400" b="1" dirty="0">
                <a:solidFill>
                  <a:srgbClr val="7030A0"/>
                </a:solidFill>
              </a:rPr>
              <a:t>Major Types of Child Abuse         </a:t>
            </a:r>
            <a:r>
              <a:rPr lang="en-US" sz="2400" b="1" dirty="0">
                <a:solidFill>
                  <a:srgbClr val="0070C0"/>
                </a:solidFill>
              </a:rPr>
              <a:t>A- NEGLECT</a:t>
            </a:r>
          </a:p>
          <a:p>
            <a:pPr marL="0" indent="0">
              <a:lnSpc>
                <a:spcPct val="150000"/>
              </a:lnSpc>
              <a:buNone/>
            </a:pPr>
            <a:r>
              <a:rPr lang="en-US" sz="2400" dirty="0"/>
              <a:t>Failure to provide basic physical, emotional, medical, or educational needs.</a:t>
            </a:r>
          </a:p>
          <a:p>
            <a:pPr marL="0" indent="0">
              <a:lnSpc>
                <a:spcPct val="150000"/>
              </a:lnSpc>
              <a:buNone/>
            </a:pPr>
            <a:r>
              <a:rPr lang="en-US" sz="2400" b="1" dirty="0"/>
              <a:t>Types:</a:t>
            </a:r>
          </a:p>
          <a:p>
            <a:pPr marL="520700">
              <a:lnSpc>
                <a:spcPct val="100000"/>
              </a:lnSpc>
            </a:pPr>
            <a:r>
              <a:rPr lang="en-US" sz="2400" b="1" dirty="0"/>
              <a:t>Physical neglect:</a:t>
            </a:r>
            <a:r>
              <a:rPr lang="en-US" sz="2400" dirty="0"/>
              <a:t> Poor hygiene, lack of food or shelter.</a:t>
            </a:r>
          </a:p>
          <a:p>
            <a:pPr marL="520700">
              <a:lnSpc>
                <a:spcPct val="100000"/>
              </a:lnSpc>
            </a:pPr>
            <a:r>
              <a:rPr lang="en-US" sz="2400" b="1" dirty="0"/>
              <a:t>Medical neglect:</a:t>
            </a:r>
            <a:r>
              <a:rPr lang="en-US" sz="2400" dirty="0"/>
              <a:t> Not providing necessary health care.</a:t>
            </a:r>
          </a:p>
          <a:p>
            <a:pPr marL="520700">
              <a:lnSpc>
                <a:spcPct val="100000"/>
              </a:lnSpc>
            </a:pPr>
            <a:r>
              <a:rPr lang="en-US" sz="2400" b="1" dirty="0"/>
              <a:t>Educational neglect:</a:t>
            </a:r>
            <a:r>
              <a:rPr lang="en-US" sz="2400" dirty="0"/>
              <a:t> Frequent absence, not enrolled in school.</a:t>
            </a:r>
          </a:p>
          <a:p>
            <a:pPr marL="520700">
              <a:lnSpc>
                <a:spcPct val="100000"/>
              </a:lnSpc>
            </a:pPr>
            <a:r>
              <a:rPr lang="en-US" sz="2400" b="1" dirty="0"/>
              <a:t>Emotional neglect:</a:t>
            </a:r>
            <a:r>
              <a:rPr lang="en-US" sz="2400" dirty="0"/>
              <a:t> Lack of affection, excessive or inappropriate demands.</a:t>
            </a:r>
          </a:p>
        </p:txBody>
      </p:sp>
      <p:pic>
        <p:nvPicPr>
          <p:cNvPr id="2" name="Picture 2" descr="Child Abuse and Neglect">
            <a:extLst>
              <a:ext uri="{FF2B5EF4-FFF2-40B4-BE49-F238E27FC236}">
                <a16:creationId xmlns:a16="http://schemas.microsoft.com/office/drawing/2014/main" id="{F05CCA92-E71D-5E02-386C-B79444859E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603" b="24110"/>
          <a:stretch/>
        </p:blipFill>
        <p:spPr bwMode="auto">
          <a:xfrm>
            <a:off x="9144001" y="0"/>
            <a:ext cx="3047999" cy="1496096"/>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07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DF559-CCC4-85E9-AF6C-F3C8BB187D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2D88F49-DF87-97FF-4509-785F96F7E2AB}"/>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CD6D1328-D166-E089-E7D2-C88D8A4FC68C}"/>
              </a:ext>
            </a:extLst>
          </p:cNvPr>
          <p:cNvSpPr>
            <a:spLocks noGrp="1" noChangeArrowheads="1"/>
          </p:cNvSpPr>
          <p:nvPr>
            <p:ph idx="1"/>
          </p:nvPr>
        </p:nvSpPr>
        <p:spPr bwMode="auto">
          <a:xfrm>
            <a:off x="422105" y="1610694"/>
            <a:ext cx="11055123" cy="4703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000" b="1" dirty="0">
                <a:solidFill>
                  <a:srgbClr val="7030A0"/>
                </a:solidFill>
              </a:rPr>
              <a:t>Major Types of Child Abuse         </a:t>
            </a:r>
            <a:r>
              <a:rPr lang="en-US" sz="2000" b="1" dirty="0">
                <a:solidFill>
                  <a:srgbClr val="0070C0"/>
                </a:solidFill>
              </a:rPr>
              <a:t>A- NEGLECT</a:t>
            </a:r>
          </a:p>
          <a:p>
            <a:pPr marL="0" indent="0">
              <a:lnSpc>
                <a:spcPct val="150000"/>
              </a:lnSpc>
              <a:buNone/>
            </a:pPr>
            <a:r>
              <a:rPr lang="en-US" sz="2000" b="1" dirty="0"/>
              <a:t>Examples:</a:t>
            </a:r>
          </a:p>
          <a:p>
            <a:r>
              <a:rPr lang="en-US" sz="2000" dirty="0"/>
              <a:t>Parents may refuse to buy eyeglasses for a child who needs them or to access dental care for severely decayed teeth </a:t>
            </a:r>
            <a:r>
              <a:rPr lang="en-US" sz="2000" b="1" dirty="0">
                <a:solidFill>
                  <a:srgbClr val="0070C0"/>
                </a:solidFill>
              </a:rPr>
              <a:t>(medical neglect).</a:t>
            </a:r>
          </a:p>
          <a:p>
            <a:r>
              <a:rPr lang="en-US" sz="2000" dirty="0"/>
              <a:t>An 8-year-old may get to school only 3 days a week, possibly without breakfast and no lunch money or packed lunch</a:t>
            </a:r>
            <a:r>
              <a:rPr lang="en-US" sz="2000" b="1" dirty="0">
                <a:solidFill>
                  <a:srgbClr val="0070C0"/>
                </a:solidFill>
              </a:rPr>
              <a:t> (educational neglect).</a:t>
            </a:r>
          </a:p>
          <a:p>
            <a:r>
              <a:rPr lang="en-US" sz="2000" dirty="0"/>
              <a:t>A family with three children may live in a sparsely furnished apartment with very little food available and only intermittent heat and multiple people coming and going in the residence, while the children may appear at school unwashed and without coats in winter weather </a:t>
            </a:r>
            <a:r>
              <a:rPr lang="en-US" sz="2000" b="1" dirty="0">
                <a:solidFill>
                  <a:srgbClr val="0070C0"/>
                </a:solidFill>
              </a:rPr>
              <a:t>(general neglect).</a:t>
            </a:r>
          </a:p>
          <a:p>
            <a:r>
              <a:rPr lang="en-US" sz="2000" b="1" dirty="0">
                <a:solidFill>
                  <a:srgbClr val="0070C0"/>
                </a:solidFill>
              </a:rPr>
              <a:t>Emotional neglect </a:t>
            </a:r>
            <a:r>
              <a:rPr lang="en-US" sz="2000" dirty="0"/>
              <a:t>may be seen when demands placed on a child are excessive or inappropriate for his or her development, or the caretaker berates or verbally humiliates a child frequently and without reason.</a:t>
            </a:r>
          </a:p>
        </p:txBody>
      </p:sp>
      <p:pic>
        <p:nvPicPr>
          <p:cNvPr id="2" name="Picture 2" descr="Child Abuse and Neglect">
            <a:extLst>
              <a:ext uri="{FF2B5EF4-FFF2-40B4-BE49-F238E27FC236}">
                <a16:creationId xmlns:a16="http://schemas.microsoft.com/office/drawing/2014/main" id="{CEF84676-17C1-CE4E-41B0-D2E7EF91E6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603" b="24110"/>
          <a:stretch/>
        </p:blipFill>
        <p:spPr bwMode="auto">
          <a:xfrm>
            <a:off x="9144001" y="0"/>
            <a:ext cx="3047999" cy="1496096"/>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060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AA9F-10D5-3850-220F-E6A8261200F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3E10EDB-7DC4-91BE-2156-813D0DA3E522}"/>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9566D518-464F-7B45-70F9-00AA24DCA729}"/>
              </a:ext>
            </a:extLst>
          </p:cNvPr>
          <p:cNvSpPr>
            <a:spLocks noGrp="1" noChangeArrowheads="1"/>
          </p:cNvSpPr>
          <p:nvPr>
            <p:ph idx="1"/>
          </p:nvPr>
        </p:nvSpPr>
        <p:spPr bwMode="auto">
          <a:xfrm>
            <a:off x="323631" y="1490072"/>
            <a:ext cx="11055123"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400" b="1" dirty="0">
                <a:solidFill>
                  <a:srgbClr val="7030A0"/>
                </a:solidFill>
              </a:rPr>
              <a:t>Major Types of Child Abuse         </a:t>
            </a:r>
            <a:r>
              <a:rPr lang="en-US" sz="2400" b="1" dirty="0">
                <a:solidFill>
                  <a:srgbClr val="0070C0"/>
                </a:solidFill>
              </a:rPr>
              <a:t>A- NEGLECT</a:t>
            </a:r>
          </a:p>
          <a:p>
            <a:pPr marL="0" indent="0">
              <a:lnSpc>
                <a:spcPct val="150000"/>
              </a:lnSpc>
              <a:buNone/>
            </a:pPr>
            <a:r>
              <a:rPr lang="en-US" sz="1800" b="1" dirty="0"/>
              <a:t>Signs and Symptoms:</a:t>
            </a:r>
          </a:p>
          <a:p>
            <a:pPr marL="463550">
              <a:lnSpc>
                <a:spcPct val="100000"/>
              </a:lnSpc>
            </a:pPr>
            <a:r>
              <a:rPr lang="en-US" sz="1800" dirty="0"/>
              <a:t>Poor hygiene, malnutrition, inappropriate clothing.</a:t>
            </a:r>
          </a:p>
          <a:p>
            <a:pPr marL="463550">
              <a:lnSpc>
                <a:spcPct val="100000"/>
              </a:lnSpc>
            </a:pPr>
            <a:r>
              <a:rPr lang="en-US" sz="1800" dirty="0"/>
              <a:t>Lack of medical/dental care or immunizations.</a:t>
            </a:r>
          </a:p>
          <a:p>
            <a:pPr marL="463550">
              <a:lnSpc>
                <a:spcPct val="100000"/>
              </a:lnSpc>
            </a:pPr>
            <a:r>
              <a:rPr lang="en-US" sz="1800" dirty="0"/>
              <a:t>Poor supervision, unsafe home environment.</a:t>
            </a:r>
          </a:p>
          <a:p>
            <a:pPr marL="463550">
              <a:lnSpc>
                <a:spcPct val="100000"/>
              </a:lnSpc>
            </a:pPr>
            <a:r>
              <a:rPr lang="en-US" sz="1800" dirty="0"/>
              <a:t>Sleepy, hungry, failure to thrive.</a:t>
            </a:r>
          </a:p>
          <a:p>
            <a:pPr marL="0" indent="0">
              <a:lnSpc>
                <a:spcPct val="150000"/>
              </a:lnSpc>
              <a:buNone/>
            </a:pPr>
            <a:r>
              <a:rPr lang="en-US" sz="1800" b="1" dirty="0"/>
              <a:t>Nursing Considerations (C/PHN Role):</a:t>
            </a:r>
          </a:p>
          <a:p>
            <a:pPr marL="576263">
              <a:lnSpc>
                <a:spcPct val="100000"/>
              </a:lnSpc>
            </a:pPr>
            <a:r>
              <a:rPr lang="en-US" sz="1800" dirty="0"/>
              <a:t>Assess causes (lack of knowledge, finances, or access).</a:t>
            </a:r>
          </a:p>
          <a:p>
            <a:pPr marL="576263">
              <a:lnSpc>
                <a:spcPct val="100000"/>
              </a:lnSpc>
            </a:pPr>
            <a:r>
              <a:rPr lang="en-US" sz="1800" dirty="0"/>
              <a:t>Link families to support: </a:t>
            </a:r>
            <a:r>
              <a:rPr lang="en-US" sz="1800" b="1" dirty="0"/>
              <a:t>WIC (</a:t>
            </a:r>
            <a:r>
              <a:rPr lang="en-US" sz="1800" dirty="0"/>
              <a:t>Women, Infants, and Children Program), health insurance, education programs.</a:t>
            </a:r>
          </a:p>
          <a:p>
            <a:pPr marL="576263">
              <a:lnSpc>
                <a:spcPct val="100000"/>
              </a:lnSpc>
            </a:pPr>
            <a:r>
              <a:rPr lang="en-US" sz="1800" dirty="0"/>
              <a:t>Remember: Neglect often discovered during investigations of other abuse.</a:t>
            </a:r>
          </a:p>
        </p:txBody>
      </p:sp>
    </p:spTree>
    <p:extLst>
      <p:ext uri="{BB962C8B-B14F-4D97-AF65-F5344CB8AC3E}">
        <p14:creationId xmlns:p14="http://schemas.microsoft.com/office/powerpoint/2010/main" val="3638857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211F4-4A1D-6C98-E87D-C2C26737802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54A7589-2FD0-975F-37DE-3FBE618128FE}"/>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5E1976BA-8E41-1AA4-5483-564CF2314187}"/>
              </a:ext>
            </a:extLst>
          </p:cNvPr>
          <p:cNvSpPr>
            <a:spLocks noGrp="1" noChangeArrowheads="1"/>
          </p:cNvSpPr>
          <p:nvPr>
            <p:ph idx="1"/>
          </p:nvPr>
        </p:nvSpPr>
        <p:spPr bwMode="auto">
          <a:xfrm>
            <a:off x="323631" y="1490072"/>
            <a:ext cx="11055123"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400" b="1" dirty="0">
                <a:solidFill>
                  <a:srgbClr val="7030A0"/>
                </a:solidFill>
              </a:rPr>
              <a:t>Major Types of Child Abuse         </a:t>
            </a:r>
            <a:r>
              <a:rPr lang="en-US" sz="2400" b="1" dirty="0">
                <a:solidFill>
                  <a:srgbClr val="0070C0"/>
                </a:solidFill>
              </a:rPr>
              <a:t>A- NEGLECT</a:t>
            </a:r>
          </a:p>
          <a:p>
            <a:pPr marL="0" indent="0">
              <a:lnSpc>
                <a:spcPct val="150000"/>
              </a:lnSpc>
              <a:buNone/>
            </a:pPr>
            <a:r>
              <a:rPr lang="en-US" sz="1800" b="1" dirty="0"/>
              <a:t>Signs and Symptoms:</a:t>
            </a:r>
          </a:p>
          <a:p>
            <a:pPr marL="463550">
              <a:lnSpc>
                <a:spcPct val="100000"/>
              </a:lnSpc>
            </a:pPr>
            <a:r>
              <a:rPr lang="en-US" sz="1800" dirty="0"/>
              <a:t>Poor hygiene, malnutrition, inappropriate clothing.</a:t>
            </a:r>
          </a:p>
          <a:p>
            <a:pPr marL="463550">
              <a:lnSpc>
                <a:spcPct val="100000"/>
              </a:lnSpc>
            </a:pPr>
            <a:r>
              <a:rPr lang="en-US" sz="1800" dirty="0"/>
              <a:t>Lack of medical/dental care or immunizations.</a:t>
            </a:r>
          </a:p>
          <a:p>
            <a:pPr marL="463550">
              <a:lnSpc>
                <a:spcPct val="100000"/>
              </a:lnSpc>
            </a:pPr>
            <a:r>
              <a:rPr lang="en-US" sz="1800" dirty="0"/>
              <a:t>Poor supervision, unsafe home environment.</a:t>
            </a:r>
          </a:p>
          <a:p>
            <a:pPr marL="463550">
              <a:lnSpc>
                <a:spcPct val="100000"/>
              </a:lnSpc>
            </a:pPr>
            <a:r>
              <a:rPr lang="en-US" sz="1800" dirty="0"/>
              <a:t>Sleepy, hungry, failure to thrive.</a:t>
            </a:r>
          </a:p>
          <a:p>
            <a:pPr marL="0" indent="0">
              <a:lnSpc>
                <a:spcPct val="150000"/>
              </a:lnSpc>
              <a:buNone/>
            </a:pPr>
            <a:r>
              <a:rPr lang="en-US" sz="1800" b="1" dirty="0"/>
              <a:t>Nursing Considerations (C/PHN Role):</a:t>
            </a:r>
          </a:p>
          <a:p>
            <a:pPr marL="576263">
              <a:lnSpc>
                <a:spcPct val="100000"/>
              </a:lnSpc>
            </a:pPr>
            <a:r>
              <a:rPr lang="en-US" sz="1800" dirty="0"/>
              <a:t>Assess causes (lack of knowledge, finances, or access).</a:t>
            </a:r>
          </a:p>
          <a:p>
            <a:pPr marL="576263">
              <a:lnSpc>
                <a:spcPct val="100000"/>
              </a:lnSpc>
            </a:pPr>
            <a:r>
              <a:rPr lang="en-US" sz="1800" dirty="0"/>
              <a:t>Link families to support: </a:t>
            </a:r>
            <a:r>
              <a:rPr lang="en-US" sz="1800" b="1" dirty="0"/>
              <a:t>WIC (</a:t>
            </a:r>
            <a:r>
              <a:rPr lang="en-US" sz="1800" dirty="0"/>
              <a:t>Women, Infants, and Children Program), health insurance, education programs.</a:t>
            </a:r>
          </a:p>
          <a:p>
            <a:pPr marL="576263">
              <a:lnSpc>
                <a:spcPct val="100000"/>
              </a:lnSpc>
            </a:pPr>
            <a:r>
              <a:rPr lang="en-US" sz="1800" dirty="0"/>
              <a:t>Remember: Neglect often discovered during investigations of other abuse.</a:t>
            </a:r>
          </a:p>
        </p:txBody>
      </p:sp>
    </p:spTree>
    <p:extLst>
      <p:ext uri="{BB962C8B-B14F-4D97-AF65-F5344CB8AC3E}">
        <p14:creationId xmlns:p14="http://schemas.microsoft.com/office/powerpoint/2010/main" val="4216369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D90CA-5F04-F536-0CC2-91C75A4445B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8C2E25-E687-33C7-DA53-191C6909DF36}"/>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56FCE4BD-27CD-1155-0CD2-B9CFC5F78AB3}"/>
              </a:ext>
            </a:extLst>
          </p:cNvPr>
          <p:cNvSpPr>
            <a:spLocks noGrp="1" noChangeArrowheads="1"/>
          </p:cNvSpPr>
          <p:nvPr>
            <p:ph idx="1"/>
          </p:nvPr>
        </p:nvSpPr>
        <p:spPr bwMode="auto">
          <a:xfrm>
            <a:off x="351766" y="1793183"/>
            <a:ext cx="11055123" cy="4057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400" b="1" dirty="0">
                <a:solidFill>
                  <a:srgbClr val="7030A0"/>
                </a:solidFill>
              </a:rPr>
              <a:t>Major Types of Child Abuse         </a:t>
            </a:r>
            <a:r>
              <a:rPr lang="en-US" sz="2400" b="1" dirty="0">
                <a:solidFill>
                  <a:srgbClr val="0070C0"/>
                </a:solidFill>
              </a:rPr>
              <a:t>B- Physical Abuse</a:t>
            </a:r>
          </a:p>
          <a:p>
            <a:pPr marL="0" indent="0">
              <a:lnSpc>
                <a:spcPct val="150000"/>
              </a:lnSpc>
              <a:buNone/>
            </a:pPr>
            <a:r>
              <a:rPr lang="en-US" sz="2400" dirty="0"/>
              <a:t>Intentional harm to a child by another person that results in pain, physical injury, or death.</a:t>
            </a:r>
          </a:p>
          <a:p>
            <a:pPr marL="0" indent="0">
              <a:lnSpc>
                <a:spcPct val="150000"/>
              </a:lnSpc>
              <a:buNone/>
            </a:pPr>
            <a:r>
              <a:rPr lang="en-US" sz="2400" b="1" dirty="0"/>
              <a:t>Common Injuries:</a:t>
            </a:r>
          </a:p>
          <a:p>
            <a:pPr marL="520700">
              <a:lnSpc>
                <a:spcPct val="100000"/>
              </a:lnSpc>
            </a:pPr>
            <a:r>
              <a:rPr lang="en-US" sz="2400" dirty="0"/>
              <a:t>Bruises, burns, fractures, bite marks, head trauma.</a:t>
            </a:r>
          </a:p>
          <a:p>
            <a:pPr marL="520700">
              <a:lnSpc>
                <a:spcPct val="100000"/>
              </a:lnSpc>
            </a:pPr>
            <a:r>
              <a:rPr lang="en-US" sz="2400" dirty="0"/>
              <a:t>Injuries inconsistent with child’s developmental stage.</a:t>
            </a:r>
          </a:p>
          <a:p>
            <a:pPr marL="520700">
              <a:lnSpc>
                <a:spcPct val="100000"/>
              </a:lnSpc>
            </a:pPr>
            <a:r>
              <a:rPr lang="en-US" sz="2400" dirty="0"/>
              <a:t>Delayed medical attention.</a:t>
            </a:r>
          </a:p>
        </p:txBody>
      </p:sp>
      <p:pic>
        <p:nvPicPr>
          <p:cNvPr id="2" name="Picture 2" descr="Child Abuse and Neglect">
            <a:extLst>
              <a:ext uri="{FF2B5EF4-FFF2-40B4-BE49-F238E27FC236}">
                <a16:creationId xmlns:a16="http://schemas.microsoft.com/office/drawing/2014/main" id="{A377D60D-9AD2-F701-8098-610C91E66E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603" b="24110"/>
          <a:stretch/>
        </p:blipFill>
        <p:spPr bwMode="auto">
          <a:xfrm>
            <a:off x="9144001" y="0"/>
            <a:ext cx="3047999" cy="1496096"/>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387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91998-6BCA-940E-0E89-4342C928161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C6501FB-5DFF-485B-8411-03A9D7DB0D36}"/>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23B24BEB-B462-A0EC-9086-743B4E698A49}"/>
              </a:ext>
            </a:extLst>
          </p:cNvPr>
          <p:cNvSpPr>
            <a:spLocks noGrp="1" noChangeArrowheads="1"/>
          </p:cNvSpPr>
          <p:nvPr>
            <p:ph idx="1"/>
          </p:nvPr>
        </p:nvSpPr>
        <p:spPr bwMode="auto">
          <a:xfrm>
            <a:off x="323631" y="1945034"/>
            <a:ext cx="11055123" cy="409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b="1" dirty="0">
                <a:solidFill>
                  <a:srgbClr val="0070C0"/>
                </a:solidFill>
              </a:rPr>
              <a:t>B- Physical Abuse</a:t>
            </a:r>
          </a:p>
          <a:p>
            <a:pPr marL="0" indent="0">
              <a:lnSpc>
                <a:spcPct val="150000"/>
              </a:lnSpc>
              <a:buNone/>
            </a:pPr>
            <a:r>
              <a:rPr lang="en-US" sz="2000" b="1" dirty="0"/>
              <a:t>Signs and Symptoms:</a:t>
            </a:r>
          </a:p>
          <a:p>
            <a:pPr marL="463550">
              <a:lnSpc>
                <a:spcPct val="150000"/>
              </a:lnSpc>
            </a:pPr>
            <a:r>
              <a:rPr lang="en-US" sz="2000" dirty="0"/>
              <a:t>Frequent emergency department visits</a:t>
            </a:r>
          </a:p>
          <a:p>
            <a:pPr marL="463550">
              <a:lnSpc>
                <a:spcPct val="150000"/>
              </a:lnSpc>
            </a:pPr>
            <a:r>
              <a:rPr lang="en-US" sz="2000" dirty="0"/>
              <a:t>Caregiver blames child for injuries</a:t>
            </a:r>
          </a:p>
          <a:p>
            <a:pPr marL="463550">
              <a:lnSpc>
                <a:spcPct val="150000"/>
              </a:lnSpc>
            </a:pPr>
            <a:r>
              <a:rPr lang="en-US" sz="2000" dirty="0"/>
              <a:t>Delay in seeking health/medical care or changes provider frequently</a:t>
            </a:r>
          </a:p>
          <a:p>
            <a:pPr marL="463550">
              <a:lnSpc>
                <a:spcPct val="150000"/>
              </a:lnSpc>
            </a:pPr>
            <a:r>
              <a:rPr lang="en-US" sz="2000" dirty="0"/>
              <a:t>Explanation changes, doesn't match the child's developmental ability, or contradicts injuries</a:t>
            </a:r>
          </a:p>
        </p:txBody>
      </p:sp>
    </p:spTree>
    <p:extLst>
      <p:ext uri="{BB962C8B-B14F-4D97-AF65-F5344CB8AC3E}">
        <p14:creationId xmlns:p14="http://schemas.microsoft.com/office/powerpoint/2010/main" val="2227885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71B5-FD58-0F67-1D69-B8BC2A458D4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7818417-AB46-C5EE-D25B-4A81BDF3EEF9}"/>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031F4679-F738-118E-1BFF-BFC6DE6DAC5D}"/>
              </a:ext>
            </a:extLst>
          </p:cNvPr>
          <p:cNvSpPr>
            <a:spLocks noGrp="1" noChangeArrowheads="1"/>
          </p:cNvSpPr>
          <p:nvPr>
            <p:ph idx="1"/>
          </p:nvPr>
        </p:nvSpPr>
        <p:spPr bwMode="auto">
          <a:xfrm>
            <a:off x="295495" y="1448254"/>
            <a:ext cx="11055123" cy="4719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b="1" dirty="0">
                <a:solidFill>
                  <a:srgbClr val="0070C0"/>
                </a:solidFill>
              </a:rPr>
              <a:t>B- Physical Abuse</a:t>
            </a:r>
          </a:p>
          <a:p>
            <a:pPr marL="0" indent="0">
              <a:lnSpc>
                <a:spcPct val="150000"/>
              </a:lnSpc>
              <a:buNone/>
            </a:pPr>
            <a:r>
              <a:rPr lang="en-US" sz="2000" b="1" dirty="0"/>
              <a:t>Signs and Symptoms:</a:t>
            </a:r>
          </a:p>
          <a:p>
            <a:pPr marL="576263"/>
            <a:r>
              <a:rPr lang="en-US" sz="2000" dirty="0"/>
              <a:t>Has unexplained injuries, explanation does not match the injury, or injuries are inconsistent with medical diagnosis. such as Injuries may include bruises, bite marks, abrasions, lacerations, head injuries, internal injuries, and fractures </a:t>
            </a:r>
          </a:p>
          <a:p>
            <a:pPr marL="576263"/>
            <a:r>
              <a:rPr lang="en-US" sz="2000" dirty="0"/>
              <a:t>Bruising from defensive injuries to forearms</a:t>
            </a:r>
          </a:p>
          <a:p>
            <a:pPr marL="576263"/>
            <a:r>
              <a:rPr lang="en-US" sz="2000" dirty="0"/>
              <a:t>Burns from cigarettes, ropes, or immersion into hot water or hot grid</a:t>
            </a:r>
          </a:p>
          <a:p>
            <a:pPr marL="576263"/>
            <a:r>
              <a:rPr lang="en-US" sz="2000" dirty="0"/>
              <a:t>Traumatic alopecia with possible hematoma area and is tender to touch</a:t>
            </a:r>
          </a:p>
          <a:p>
            <a:pPr marL="576263"/>
            <a:r>
              <a:rPr lang="en-US" sz="2000" dirty="0"/>
              <a:t>Trauma to ear</a:t>
            </a:r>
          </a:p>
          <a:p>
            <a:pPr marL="576263"/>
            <a:r>
              <a:rPr lang="en-US" sz="2000" dirty="0"/>
              <a:t>Appears depressed, withdrawn, anxious, or aggressive</a:t>
            </a:r>
          </a:p>
          <a:p>
            <a:pPr marL="576263"/>
            <a:r>
              <a:rPr lang="en-US" sz="2000" dirty="0"/>
              <a:t>Appears scared of parent and does not want to go home</a:t>
            </a:r>
          </a:p>
        </p:txBody>
      </p:sp>
    </p:spTree>
    <p:extLst>
      <p:ext uri="{BB962C8B-B14F-4D97-AF65-F5344CB8AC3E}">
        <p14:creationId xmlns:p14="http://schemas.microsoft.com/office/powerpoint/2010/main" val="4171259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6044-F5C8-3BBE-5E2B-29733DCB3D8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F535DAE-44DB-E79E-C35E-E4627BDA0B49}"/>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3682E152-64D9-70DA-9351-B346C7E1D30D}"/>
              </a:ext>
            </a:extLst>
          </p:cNvPr>
          <p:cNvSpPr>
            <a:spLocks noGrp="1" noChangeArrowheads="1"/>
          </p:cNvSpPr>
          <p:nvPr>
            <p:ph idx="1"/>
          </p:nvPr>
        </p:nvSpPr>
        <p:spPr bwMode="auto">
          <a:xfrm>
            <a:off x="323631" y="1502895"/>
            <a:ext cx="11055123" cy="4975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b="1" dirty="0">
                <a:solidFill>
                  <a:srgbClr val="0070C0"/>
                </a:solidFill>
              </a:rPr>
              <a:t>B- Physical Abuse</a:t>
            </a:r>
          </a:p>
          <a:p>
            <a:pPr marL="0" indent="0">
              <a:lnSpc>
                <a:spcPct val="150000"/>
              </a:lnSpc>
              <a:buNone/>
            </a:pPr>
            <a:r>
              <a:rPr lang="en-US" sz="2000" b="1" dirty="0"/>
              <a:t>Behavioral Indicators:</a:t>
            </a:r>
          </a:p>
          <a:p>
            <a:r>
              <a:rPr lang="en-US" sz="1800" dirty="0"/>
              <a:t>Attempts to hide injuries; child wears excessive layers of clothing, especially in hot weather.</a:t>
            </a:r>
          </a:p>
          <a:p>
            <a:r>
              <a:rPr lang="en-US" sz="1800" dirty="0"/>
              <a:t>Frequently absent from school or misses physical education classes.</a:t>
            </a:r>
          </a:p>
          <a:p>
            <a:r>
              <a:rPr lang="en-US" sz="1800" dirty="0"/>
              <a:t>Fearful, clingy, anxious, withdrawn, hypervigilant, or aggressive.</a:t>
            </a:r>
          </a:p>
          <a:p>
            <a:r>
              <a:rPr lang="en-US" sz="1800" dirty="0"/>
              <a:t>The child is apprehensive when other children cry.</a:t>
            </a:r>
          </a:p>
          <a:p>
            <a:r>
              <a:rPr lang="en-US" sz="1800" dirty="0"/>
              <a:t>Wary of physical contact with adults.</a:t>
            </a:r>
          </a:p>
          <a:p>
            <a:r>
              <a:rPr lang="en-US" sz="1800" dirty="0"/>
              <a:t>Exhibits drastic behavioral changes in and out of parental/caretaker presence.</a:t>
            </a:r>
          </a:p>
          <a:p>
            <a:r>
              <a:rPr lang="en-US" sz="1800" dirty="0"/>
              <a:t>The child suffers from seizures or vomiting.</a:t>
            </a:r>
          </a:p>
          <a:p>
            <a:r>
              <a:rPr lang="en-US" sz="1800" dirty="0"/>
              <a:t>Exhibits depression, self-mutilation, suicide attempts, substance abuse, or sleeping and eating disorders.</a:t>
            </a:r>
          </a:p>
          <a:p>
            <a:r>
              <a:rPr lang="en-US" sz="1800" dirty="0"/>
              <a:t>Fearful of going home.</a:t>
            </a:r>
          </a:p>
        </p:txBody>
      </p:sp>
    </p:spTree>
    <p:extLst>
      <p:ext uri="{BB962C8B-B14F-4D97-AF65-F5344CB8AC3E}">
        <p14:creationId xmlns:p14="http://schemas.microsoft.com/office/powerpoint/2010/main" val="1308573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A79DA-C3B2-38C0-45CF-08F05539562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35D7A87-0DF4-A3E0-847B-70CBCF271A73}"/>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0B83F369-8303-41CB-5A34-462F61F15696}"/>
              </a:ext>
            </a:extLst>
          </p:cNvPr>
          <p:cNvSpPr>
            <a:spLocks noGrp="1" noChangeArrowheads="1"/>
          </p:cNvSpPr>
          <p:nvPr>
            <p:ph idx="1"/>
          </p:nvPr>
        </p:nvSpPr>
        <p:spPr bwMode="auto">
          <a:xfrm>
            <a:off x="323631" y="1703942"/>
            <a:ext cx="11055123" cy="4573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000" b="1" dirty="0">
                <a:solidFill>
                  <a:srgbClr val="7030A0"/>
                </a:solidFill>
              </a:rPr>
              <a:t>Major Types of Child Abuse                 </a:t>
            </a:r>
            <a:r>
              <a:rPr lang="en-US" sz="2000" b="1" dirty="0">
                <a:solidFill>
                  <a:srgbClr val="0070C0"/>
                </a:solidFill>
              </a:rPr>
              <a:t>C- Sexual Abuse</a:t>
            </a:r>
          </a:p>
          <a:p>
            <a:pPr>
              <a:lnSpc>
                <a:spcPct val="150000"/>
              </a:lnSpc>
              <a:buFont typeface="Wingdings" panose="05000000000000000000" pitchFamily="2" charset="2"/>
              <a:buChar char="v"/>
            </a:pPr>
            <a:r>
              <a:rPr lang="en-US" sz="2000" b="1" dirty="0"/>
              <a:t>Sexual abuse </a:t>
            </a:r>
            <a:r>
              <a:rPr lang="en-US" sz="2000" dirty="0"/>
              <a:t>of children includes acts of sexual assault or sexual exploitation of a minor and may consist of a single incident or many acts over a long period.</a:t>
            </a:r>
          </a:p>
          <a:p>
            <a:pPr>
              <a:lnSpc>
                <a:spcPct val="150000"/>
              </a:lnSpc>
              <a:buFont typeface="Wingdings" panose="05000000000000000000" pitchFamily="2" charset="2"/>
              <a:buChar char="v"/>
            </a:pPr>
            <a:r>
              <a:rPr lang="en-US" sz="2000" dirty="0"/>
              <a:t>Rape, molestation, prostitution, and human trafficking of minors are included in the definition.</a:t>
            </a:r>
          </a:p>
          <a:p>
            <a:pPr>
              <a:lnSpc>
                <a:spcPct val="150000"/>
              </a:lnSpc>
              <a:buFont typeface="Wingdings" panose="05000000000000000000" pitchFamily="2" charset="2"/>
              <a:buChar char="v"/>
            </a:pPr>
            <a:r>
              <a:rPr lang="en-US" sz="2000" dirty="0">
                <a:solidFill>
                  <a:srgbClr val="006600"/>
                </a:solidFill>
              </a:rPr>
              <a:t>Care for children who have been sexually abused varies, as the duration of the molestation, the age, and symptoms of the child will influence their care measures. Parents may also need counseling and support following the investigation and proceedings involving their child's victimization</a:t>
            </a:r>
            <a:r>
              <a:rPr lang="en-US" sz="2000" dirty="0"/>
              <a:t>.</a:t>
            </a:r>
          </a:p>
        </p:txBody>
      </p:sp>
    </p:spTree>
    <p:extLst>
      <p:ext uri="{BB962C8B-B14F-4D97-AF65-F5344CB8AC3E}">
        <p14:creationId xmlns:p14="http://schemas.microsoft.com/office/powerpoint/2010/main" val="4257019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2951C-09C3-38BC-0853-01293426F2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08B3AD3-26C0-CBD1-1495-0A1506F7C1F9}"/>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9D3AA58F-47B3-EF0D-D4A1-7D1A3494B2B9}"/>
              </a:ext>
            </a:extLst>
          </p:cNvPr>
          <p:cNvSpPr>
            <a:spLocks noGrp="1" noChangeArrowheads="1"/>
          </p:cNvSpPr>
          <p:nvPr>
            <p:ph idx="1"/>
          </p:nvPr>
        </p:nvSpPr>
        <p:spPr bwMode="auto">
          <a:xfrm>
            <a:off x="422105" y="1639353"/>
            <a:ext cx="11055123" cy="411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000" b="1" dirty="0">
                <a:solidFill>
                  <a:srgbClr val="7030A0"/>
                </a:solidFill>
              </a:rPr>
              <a:t>Major Types of Child Abuse                 </a:t>
            </a:r>
            <a:r>
              <a:rPr lang="en-US" sz="2000" b="1" dirty="0">
                <a:solidFill>
                  <a:srgbClr val="0070C0"/>
                </a:solidFill>
              </a:rPr>
              <a:t>C- Sexual Abuse</a:t>
            </a:r>
          </a:p>
          <a:p>
            <a:pPr marL="520700">
              <a:lnSpc>
                <a:spcPct val="150000"/>
              </a:lnSpc>
            </a:pPr>
            <a:r>
              <a:rPr lang="en-US" sz="2000" b="1" dirty="0"/>
              <a:t>Incest</a:t>
            </a:r>
            <a:r>
              <a:rPr lang="en-US" sz="2000" dirty="0"/>
              <a:t> is sexual abuse among family members who are related by blood (e.g., parents, grandparents, older sibling). </a:t>
            </a:r>
          </a:p>
          <a:p>
            <a:pPr marL="520700">
              <a:lnSpc>
                <a:spcPct val="150000"/>
              </a:lnSpc>
            </a:pPr>
            <a:r>
              <a:rPr lang="en-US" sz="2000" b="1" dirty="0"/>
              <a:t>Intrafamilial</a:t>
            </a:r>
            <a:r>
              <a:rPr lang="en-US" sz="2000" dirty="0"/>
              <a:t> sexual abuse refers to sexual activity involving family members who are not related by blood (e.g., stepparents, partner of a parent).</a:t>
            </a:r>
          </a:p>
          <a:p>
            <a:pPr marL="520700">
              <a:lnSpc>
                <a:spcPct val="150000"/>
              </a:lnSpc>
            </a:pPr>
            <a:r>
              <a:rPr lang="en-US" sz="2000" b="1" dirty="0"/>
              <a:t>Commercial Sexual Exploitation (CSEC): </a:t>
            </a:r>
            <a:r>
              <a:rPr lang="en-US" sz="2000" dirty="0"/>
              <a:t>Use of a child for sexual purposes in exchange for money, food, shelter, or protection. Includes child trafficking, pornography, and early forced marriage.</a:t>
            </a:r>
          </a:p>
        </p:txBody>
      </p:sp>
    </p:spTree>
    <p:extLst>
      <p:ext uri="{BB962C8B-B14F-4D97-AF65-F5344CB8AC3E}">
        <p14:creationId xmlns:p14="http://schemas.microsoft.com/office/powerpoint/2010/main" val="3600874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58A26-7743-F76B-7F84-14A4FB31269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C072D09-4278-D40D-BDD1-BB64A6D27652}"/>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6AC04714-8961-B3F5-7F42-798584747D94}"/>
              </a:ext>
            </a:extLst>
          </p:cNvPr>
          <p:cNvSpPr>
            <a:spLocks noGrp="1" noChangeArrowheads="1"/>
          </p:cNvSpPr>
          <p:nvPr>
            <p:ph idx="1"/>
          </p:nvPr>
        </p:nvSpPr>
        <p:spPr bwMode="auto">
          <a:xfrm>
            <a:off x="323631" y="2203086"/>
            <a:ext cx="11055123" cy="357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b="1" dirty="0">
                <a:solidFill>
                  <a:srgbClr val="0070C0"/>
                </a:solidFill>
              </a:rPr>
              <a:t>C- Sexual Abuse</a:t>
            </a:r>
          </a:p>
          <a:p>
            <a:pPr marL="0" indent="0">
              <a:buNone/>
            </a:pPr>
            <a:r>
              <a:rPr lang="en-US" sz="2000" b="1" dirty="0"/>
              <a:t>Signs and Symptoms:</a:t>
            </a:r>
          </a:p>
          <a:p>
            <a:pPr marL="0" indent="0">
              <a:buNone/>
            </a:pPr>
            <a:r>
              <a:rPr lang="en-US" sz="2000" b="1" dirty="0"/>
              <a:t>    Physical Signs</a:t>
            </a:r>
          </a:p>
          <a:p>
            <a:pPr marL="1603375"/>
            <a:r>
              <a:rPr lang="en-US" sz="2000" dirty="0"/>
              <a:t>Sexually transmitted infections.</a:t>
            </a:r>
          </a:p>
          <a:p>
            <a:pPr marL="1603375"/>
            <a:r>
              <a:rPr lang="en-US" sz="2000" dirty="0"/>
              <a:t>Trauma to the perineal area including bleeding, bruising, or pain.</a:t>
            </a:r>
          </a:p>
          <a:p>
            <a:pPr marL="1603375"/>
            <a:r>
              <a:rPr lang="en-US" sz="2000" dirty="0"/>
              <a:t>Blood may be seen on sheets or undergarments.</a:t>
            </a:r>
          </a:p>
          <a:p>
            <a:pPr marL="1603375"/>
            <a:r>
              <a:rPr lang="en-US" sz="2000" dirty="0"/>
              <a:t>Discharge from genitals or anus.</a:t>
            </a:r>
          </a:p>
          <a:p>
            <a:pPr marL="1603375"/>
            <a:r>
              <a:rPr lang="en-US" sz="2000" dirty="0"/>
              <a:t>Pain during bowel movements or urination.</a:t>
            </a:r>
            <a:endParaRPr lang="en-US" sz="1800" dirty="0"/>
          </a:p>
        </p:txBody>
      </p:sp>
    </p:spTree>
    <p:extLst>
      <p:ext uri="{BB962C8B-B14F-4D97-AF65-F5344CB8AC3E}">
        <p14:creationId xmlns:p14="http://schemas.microsoft.com/office/powerpoint/2010/main" val="2717753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62B4-F4D0-975A-8C6E-11F8533969E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823E6A4-3638-45DF-8A9E-A0A8588A45CF}"/>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87D324CC-6213-863A-C51A-A30E03245F17}"/>
              </a:ext>
            </a:extLst>
          </p:cNvPr>
          <p:cNvSpPr>
            <a:spLocks noGrp="1" noChangeArrowheads="1"/>
          </p:cNvSpPr>
          <p:nvPr>
            <p:ph idx="1"/>
          </p:nvPr>
        </p:nvSpPr>
        <p:spPr bwMode="auto">
          <a:xfrm>
            <a:off x="323631" y="1456728"/>
            <a:ext cx="11055123" cy="5068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b="1" dirty="0">
                <a:solidFill>
                  <a:srgbClr val="0070C0"/>
                </a:solidFill>
              </a:rPr>
              <a:t>C- Sexual Abuse</a:t>
            </a:r>
          </a:p>
          <a:p>
            <a:pPr marL="0" indent="0">
              <a:buNone/>
            </a:pPr>
            <a:r>
              <a:rPr lang="en-US" sz="2000" b="1" dirty="0"/>
              <a:t>Signs and Symptoms:</a:t>
            </a:r>
          </a:p>
          <a:p>
            <a:pPr marL="0" indent="0">
              <a:buNone/>
            </a:pPr>
            <a:r>
              <a:rPr lang="en-US" sz="2000" b="1" dirty="0"/>
              <a:t>       Behavioral Signs</a:t>
            </a:r>
            <a:endParaRPr lang="en-US" sz="2000" dirty="0"/>
          </a:p>
          <a:p>
            <a:pPr marL="1027113"/>
            <a:r>
              <a:rPr lang="en-US" sz="2000" dirty="0"/>
              <a:t>Enuresis and/or fecal soiling in bed when behavior has been outgrown</a:t>
            </a:r>
          </a:p>
          <a:p>
            <a:pPr marL="1027113"/>
            <a:r>
              <a:rPr lang="en-US" sz="2000" dirty="0"/>
              <a:t>Inappropriate sexual behavior for age</a:t>
            </a:r>
          </a:p>
          <a:p>
            <a:pPr marL="1027113"/>
            <a:r>
              <a:rPr lang="en-US" sz="2000" dirty="0"/>
              <a:t>Not wanting to be left alone with certain people or fearful to leave parent or caregiver</a:t>
            </a:r>
          </a:p>
          <a:p>
            <a:pPr marL="1027113"/>
            <a:r>
              <a:rPr lang="en-US" sz="2000" dirty="0"/>
              <a:t>Refuses to remove clothing</a:t>
            </a:r>
          </a:p>
          <a:p>
            <a:pPr marL="1027113"/>
            <a:r>
              <a:rPr lang="en-US" sz="2000" dirty="0"/>
              <a:t>Has money, gifts, or toys unexpectedly</a:t>
            </a:r>
          </a:p>
          <a:p>
            <a:pPr marL="1027113"/>
            <a:r>
              <a:rPr lang="en-US" sz="2000" dirty="0"/>
              <a:t>Self-injury/suicide attempts</a:t>
            </a:r>
          </a:p>
          <a:p>
            <a:pPr marL="1027113"/>
            <a:r>
              <a:rPr lang="en-US" sz="2000" dirty="0"/>
              <a:t>Sexually promiscuity in teens</a:t>
            </a:r>
          </a:p>
          <a:p>
            <a:pPr marL="1027113"/>
            <a:r>
              <a:rPr lang="en-US" sz="2000" dirty="0"/>
              <a:t>Substance use</a:t>
            </a:r>
          </a:p>
        </p:txBody>
      </p:sp>
    </p:spTree>
    <p:extLst>
      <p:ext uri="{BB962C8B-B14F-4D97-AF65-F5344CB8AC3E}">
        <p14:creationId xmlns:p14="http://schemas.microsoft.com/office/powerpoint/2010/main" val="3529232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19BF7-A11F-6A09-E877-5DD0BF5765B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EDDD742-8D61-A0B0-AF56-C59D23F53FEE}"/>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97FCB4F3-26A7-5764-5751-4D682B2B55DF}"/>
              </a:ext>
            </a:extLst>
          </p:cNvPr>
          <p:cNvSpPr>
            <a:spLocks noGrp="1" noChangeArrowheads="1"/>
          </p:cNvSpPr>
          <p:nvPr>
            <p:ph idx="1"/>
          </p:nvPr>
        </p:nvSpPr>
        <p:spPr bwMode="auto">
          <a:xfrm>
            <a:off x="323631" y="2203086"/>
            <a:ext cx="11055123" cy="357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b="1" dirty="0">
                <a:solidFill>
                  <a:srgbClr val="0070C0"/>
                </a:solidFill>
              </a:rPr>
              <a:t>C- Sexual Abuse</a:t>
            </a:r>
          </a:p>
          <a:p>
            <a:pPr marL="0" indent="0">
              <a:buNone/>
            </a:pPr>
            <a:r>
              <a:rPr lang="en-US" sz="2000" b="1" dirty="0"/>
              <a:t>Signs and Symptoms:</a:t>
            </a:r>
          </a:p>
          <a:p>
            <a:pPr marL="0" indent="0">
              <a:buNone/>
            </a:pPr>
            <a:r>
              <a:rPr lang="en-US" sz="2000" b="1" dirty="0"/>
              <a:t>       Emotional Signs</a:t>
            </a:r>
          </a:p>
          <a:p>
            <a:pPr marL="1195388"/>
            <a:r>
              <a:rPr lang="en-US" sz="2000" dirty="0"/>
              <a:t>Nightmares or fear of being left alone at night</a:t>
            </a:r>
          </a:p>
          <a:p>
            <a:pPr marL="1195388"/>
            <a:r>
              <a:rPr lang="en-US" sz="2000" dirty="0"/>
              <a:t>Extreme worry or fear</a:t>
            </a:r>
          </a:p>
          <a:p>
            <a:pPr marL="1195388"/>
            <a:r>
              <a:rPr lang="en-US" sz="2000" dirty="0"/>
              <a:t>Sexually explicit language or explicit knowledge about sexual</a:t>
            </a:r>
          </a:p>
          <a:p>
            <a:pPr marL="1195388"/>
            <a:r>
              <a:rPr lang="en-US" sz="2000" dirty="0"/>
              <a:t>topics beyond age of child</a:t>
            </a:r>
          </a:p>
          <a:p>
            <a:pPr marL="1195388"/>
            <a:r>
              <a:rPr lang="en-US" sz="2000" dirty="0"/>
              <a:t>Mood changes</a:t>
            </a:r>
          </a:p>
        </p:txBody>
      </p:sp>
    </p:spTree>
    <p:extLst>
      <p:ext uri="{BB962C8B-B14F-4D97-AF65-F5344CB8AC3E}">
        <p14:creationId xmlns:p14="http://schemas.microsoft.com/office/powerpoint/2010/main" val="1692272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7C70-9E94-E140-EBD8-E848589774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A4693C-5B5A-E4B5-6515-E15D71981D50}"/>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3C1FE7ED-8F8D-A866-3A25-BB2501DBC95F}"/>
              </a:ext>
            </a:extLst>
          </p:cNvPr>
          <p:cNvSpPr>
            <a:spLocks noGrp="1" noChangeArrowheads="1"/>
          </p:cNvSpPr>
          <p:nvPr>
            <p:ph idx="1"/>
          </p:nvPr>
        </p:nvSpPr>
        <p:spPr bwMode="auto">
          <a:xfrm>
            <a:off x="323631" y="1233590"/>
            <a:ext cx="11055123" cy="5514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sz="2000" b="1" dirty="0">
                <a:solidFill>
                  <a:srgbClr val="0070C0"/>
                </a:solidFill>
              </a:rPr>
              <a:t>D- Emotional / Psychological Abuse</a:t>
            </a:r>
            <a:endParaRPr lang="en-US" b="1" dirty="0">
              <a:solidFill>
                <a:srgbClr val="0070C0"/>
              </a:solidFill>
            </a:endParaRPr>
          </a:p>
          <a:p>
            <a:pPr>
              <a:lnSpc>
                <a:spcPct val="150000"/>
              </a:lnSpc>
            </a:pPr>
            <a:r>
              <a:rPr lang="en-US" sz="2000" b="1" dirty="0"/>
              <a:t>Emotional abuse </a:t>
            </a:r>
            <a:r>
              <a:rPr lang="en-US" sz="2000" dirty="0"/>
              <a:t>of children involves psychological mistreatment or neglect, which impairs a child's self-worth and sense of security and being loved. </a:t>
            </a:r>
          </a:p>
          <a:p>
            <a:pPr>
              <a:lnSpc>
                <a:spcPct val="150000"/>
              </a:lnSpc>
            </a:pPr>
            <a:r>
              <a:rPr lang="en-US" sz="2000" dirty="0"/>
              <a:t>Types of psychological abuse includes rejection, scorn, terrorism, isolation, exploitation, lack of emotional response, exposure to domestic violence, and verbal threats or void of loving comments.</a:t>
            </a:r>
          </a:p>
          <a:p>
            <a:pPr>
              <a:lnSpc>
                <a:spcPct val="150000"/>
              </a:lnSpc>
            </a:pPr>
            <a:r>
              <a:rPr lang="en-US" sz="2000" dirty="0"/>
              <a:t>Emotional abuse alone is rarely reported because it is another hidden form of abuse.</a:t>
            </a:r>
          </a:p>
          <a:p>
            <a:r>
              <a:rPr lang="en-US" sz="2000" b="1" dirty="0"/>
              <a:t>Indicators:</a:t>
            </a:r>
          </a:p>
          <a:p>
            <a:pPr marL="1252538"/>
            <a:r>
              <a:rPr lang="en-US" sz="1600" dirty="0"/>
              <a:t>Extremes in behavior (passive, aggressive, overly compliant).</a:t>
            </a:r>
          </a:p>
          <a:p>
            <a:pPr marL="1252538"/>
            <a:r>
              <a:rPr lang="en-US" sz="1600" dirty="0"/>
              <a:t>Depression, low self-esteem, developmental delays.</a:t>
            </a:r>
          </a:p>
          <a:p>
            <a:pPr marL="1252538"/>
            <a:r>
              <a:rPr lang="en-US" sz="1600" dirty="0"/>
              <a:t>Inability to form emotional bonds.</a:t>
            </a:r>
          </a:p>
        </p:txBody>
      </p:sp>
    </p:spTree>
    <p:extLst>
      <p:ext uri="{BB962C8B-B14F-4D97-AF65-F5344CB8AC3E}">
        <p14:creationId xmlns:p14="http://schemas.microsoft.com/office/powerpoint/2010/main" val="281720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F4EE4-1F3E-BF0F-03D1-B3B3F8499F7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2376CEC-7D46-96DD-C926-6F27890F50B1}"/>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5A2C16C8-6BA4-1590-3A71-FF40084E0501}"/>
              </a:ext>
            </a:extLst>
          </p:cNvPr>
          <p:cNvSpPr>
            <a:spLocks noGrp="1" noChangeArrowheads="1"/>
          </p:cNvSpPr>
          <p:nvPr>
            <p:ph idx="1"/>
          </p:nvPr>
        </p:nvSpPr>
        <p:spPr bwMode="auto">
          <a:xfrm>
            <a:off x="323631" y="1193323"/>
            <a:ext cx="11055123" cy="5594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2400" b="1" dirty="0">
                <a:solidFill>
                  <a:srgbClr val="7030A0"/>
                </a:solidFill>
              </a:rPr>
              <a:t>Major Types of Child Abuse    </a:t>
            </a:r>
            <a:r>
              <a:rPr lang="en-US" sz="1800" b="1" dirty="0">
                <a:solidFill>
                  <a:srgbClr val="0070C0"/>
                </a:solidFill>
              </a:rPr>
              <a:t>E- Specific Abusive Situations</a:t>
            </a:r>
          </a:p>
          <a:p>
            <a:pPr marL="0" lvl="0" indent="0" algn="ctr" eaLnBrk="0" fontAlgn="base" hangingPunct="0">
              <a:lnSpc>
                <a:spcPct val="150000"/>
              </a:lnSpc>
              <a:spcBef>
                <a:spcPct val="0"/>
              </a:spcBef>
              <a:spcAft>
                <a:spcPct val="0"/>
              </a:spcAft>
              <a:buNone/>
            </a:pPr>
            <a:r>
              <a:rPr lang="en-US" sz="1800" b="1" dirty="0">
                <a:solidFill>
                  <a:srgbClr val="006600"/>
                </a:solidFill>
              </a:rPr>
              <a:t>E1: Abusive Head Trauma (Shaken Baby Syndrome)</a:t>
            </a:r>
          </a:p>
          <a:p>
            <a:pPr eaLnBrk="0" fontAlgn="base" hangingPunct="0">
              <a:lnSpc>
                <a:spcPct val="150000"/>
              </a:lnSpc>
              <a:spcBef>
                <a:spcPct val="0"/>
              </a:spcBef>
              <a:spcAft>
                <a:spcPct val="0"/>
              </a:spcAft>
            </a:pPr>
            <a:r>
              <a:rPr lang="en-US" sz="1800" dirty="0">
                <a:solidFill>
                  <a:schemeClr val="bg2">
                    <a:lumMod val="10000"/>
                  </a:schemeClr>
                </a:solidFill>
              </a:rPr>
              <a:t>Intentional abusive action of violently shaking an infant or toddler.</a:t>
            </a:r>
          </a:p>
          <a:p>
            <a:pPr eaLnBrk="0" fontAlgn="base" hangingPunct="0">
              <a:lnSpc>
                <a:spcPct val="150000"/>
              </a:lnSpc>
              <a:spcBef>
                <a:spcPct val="0"/>
              </a:spcBef>
              <a:spcAft>
                <a:spcPct val="0"/>
              </a:spcAft>
            </a:pPr>
            <a:r>
              <a:rPr lang="en-US" sz="1800" dirty="0">
                <a:solidFill>
                  <a:schemeClr val="tx1">
                    <a:lumMod val="95000"/>
                    <a:lumOff val="5000"/>
                  </a:schemeClr>
                </a:solidFill>
              </a:rPr>
              <a:t>Occurs in infants &lt;2 years; leading cause of death from physical abuse.</a:t>
            </a:r>
          </a:p>
          <a:p>
            <a:pPr eaLnBrk="0" fontAlgn="base" hangingPunct="0">
              <a:lnSpc>
                <a:spcPct val="150000"/>
              </a:lnSpc>
              <a:spcBef>
                <a:spcPct val="0"/>
              </a:spcBef>
              <a:spcAft>
                <a:spcPct val="0"/>
              </a:spcAft>
            </a:pPr>
            <a:r>
              <a:rPr lang="en-US" sz="1800" dirty="0">
                <a:solidFill>
                  <a:schemeClr val="tx1">
                    <a:lumMod val="95000"/>
                    <a:lumOff val="5000"/>
                  </a:schemeClr>
                </a:solidFill>
              </a:rPr>
              <a:t>Symptoms: seizures, respiratory distress, retinal hemorrhage, brain injury.</a:t>
            </a:r>
          </a:p>
          <a:p>
            <a:pPr eaLnBrk="0" fontAlgn="base" hangingPunct="0">
              <a:lnSpc>
                <a:spcPct val="150000"/>
              </a:lnSpc>
              <a:spcBef>
                <a:spcPct val="0"/>
              </a:spcBef>
              <a:spcAft>
                <a:spcPct val="0"/>
              </a:spcAft>
            </a:pPr>
            <a:r>
              <a:rPr lang="en-US" sz="1800" dirty="0">
                <a:solidFill>
                  <a:schemeClr val="tx1">
                    <a:lumMod val="95000"/>
                    <a:lumOff val="5000"/>
                  </a:schemeClr>
                </a:solidFill>
              </a:rPr>
              <a:t>Outcome: 80% of survivors suffer lifelong disabilities.</a:t>
            </a:r>
          </a:p>
          <a:p>
            <a:pPr marL="0" indent="0" algn="ctr" eaLnBrk="0" fontAlgn="base" hangingPunct="0">
              <a:lnSpc>
                <a:spcPct val="150000"/>
              </a:lnSpc>
              <a:spcBef>
                <a:spcPct val="0"/>
              </a:spcBef>
              <a:spcAft>
                <a:spcPct val="0"/>
              </a:spcAft>
              <a:buNone/>
            </a:pPr>
            <a:r>
              <a:rPr lang="en-US" sz="1800" b="1" dirty="0">
                <a:solidFill>
                  <a:srgbClr val="006600"/>
                </a:solidFill>
              </a:rPr>
              <a:t>E2: Munchausen Syndrome by Proxy</a:t>
            </a:r>
          </a:p>
          <a:p>
            <a:pPr eaLnBrk="0" fontAlgn="base" hangingPunct="0">
              <a:lnSpc>
                <a:spcPct val="150000"/>
              </a:lnSpc>
              <a:spcBef>
                <a:spcPct val="0"/>
              </a:spcBef>
              <a:spcAft>
                <a:spcPct val="0"/>
              </a:spcAft>
            </a:pPr>
            <a:r>
              <a:rPr lang="en-US" sz="1400" dirty="0">
                <a:solidFill>
                  <a:schemeClr val="tx1">
                    <a:lumMod val="95000"/>
                    <a:lumOff val="5000"/>
                  </a:schemeClr>
                </a:solidFill>
              </a:rPr>
              <a:t>A diagnosis applied to parents and other caregivers who intentionally feign, exaggerate, and/or induce illness or injury in a child to get attention from health professionals and others.</a:t>
            </a:r>
          </a:p>
          <a:p>
            <a:pPr eaLnBrk="0" fontAlgn="base" hangingPunct="0">
              <a:lnSpc>
                <a:spcPct val="150000"/>
              </a:lnSpc>
              <a:spcBef>
                <a:spcPct val="0"/>
              </a:spcBef>
              <a:spcAft>
                <a:spcPct val="0"/>
              </a:spcAft>
            </a:pPr>
            <a:r>
              <a:rPr lang="en-US" sz="1800" dirty="0">
                <a:solidFill>
                  <a:schemeClr val="tx1">
                    <a:lumMod val="95000"/>
                    <a:lumOff val="5000"/>
                  </a:schemeClr>
                </a:solidFill>
              </a:rPr>
              <a:t>Caregiver induces or fabricates illness in a child for attention.</a:t>
            </a:r>
          </a:p>
          <a:p>
            <a:pPr eaLnBrk="0" fontAlgn="base" hangingPunct="0">
              <a:lnSpc>
                <a:spcPct val="150000"/>
              </a:lnSpc>
              <a:spcBef>
                <a:spcPct val="0"/>
              </a:spcBef>
              <a:spcAft>
                <a:spcPct val="0"/>
              </a:spcAft>
            </a:pPr>
            <a:r>
              <a:rPr lang="en-US" sz="1800" dirty="0">
                <a:solidFill>
                  <a:schemeClr val="tx1">
                    <a:lumMod val="95000"/>
                    <a:lumOff val="5000"/>
                  </a:schemeClr>
                </a:solidFill>
              </a:rPr>
              <a:t>Often perpetrated by the biological mother.</a:t>
            </a:r>
          </a:p>
          <a:p>
            <a:pPr eaLnBrk="0" fontAlgn="base" hangingPunct="0">
              <a:lnSpc>
                <a:spcPct val="150000"/>
              </a:lnSpc>
              <a:spcBef>
                <a:spcPct val="0"/>
              </a:spcBef>
              <a:spcAft>
                <a:spcPct val="0"/>
              </a:spcAft>
            </a:pPr>
            <a:r>
              <a:rPr lang="en-US" sz="1800" dirty="0">
                <a:solidFill>
                  <a:schemeClr val="tx1">
                    <a:lumMod val="95000"/>
                    <a:lumOff val="5000"/>
                  </a:schemeClr>
                </a:solidFill>
              </a:rPr>
              <a:t>Clues: unexplained illnesses, symptoms only in caregiver’s presence.</a:t>
            </a:r>
          </a:p>
          <a:p>
            <a:pPr marL="0" lvl="0" indent="0" algn="ctr" eaLnBrk="0" fontAlgn="base" hangingPunct="0">
              <a:lnSpc>
                <a:spcPct val="150000"/>
              </a:lnSpc>
              <a:spcBef>
                <a:spcPct val="0"/>
              </a:spcBef>
              <a:spcAft>
                <a:spcPct val="0"/>
              </a:spcAft>
              <a:buNone/>
            </a:pPr>
            <a:endParaRPr lang="en-US" sz="2400" b="1" dirty="0">
              <a:solidFill>
                <a:srgbClr val="006600"/>
              </a:solidFill>
            </a:endParaRPr>
          </a:p>
        </p:txBody>
      </p:sp>
      <p:pic>
        <p:nvPicPr>
          <p:cNvPr id="5" name="Picture 2" descr="Father found not guilty of causing daughter's death through shaking | The  Asahi Shimbun: Breaking News, Japan News and Analysis">
            <a:extLst>
              <a:ext uri="{FF2B5EF4-FFF2-40B4-BE49-F238E27FC236}">
                <a16:creationId xmlns:a16="http://schemas.microsoft.com/office/drawing/2014/main" id="{28B0E775-82E5-444E-68A8-891F8176981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971312" y="1497203"/>
            <a:ext cx="2090059" cy="14369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unchausen Syndrome By Proxy: The Complete Guide | Sandstone Care">
            <a:extLst>
              <a:ext uri="{FF2B5EF4-FFF2-40B4-BE49-F238E27FC236}">
                <a16:creationId xmlns:a16="http://schemas.microsoft.com/office/drawing/2014/main" id="{D55F2953-9C9D-BD05-1712-D994A7B57EC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718501" y="4853354"/>
            <a:ext cx="1934238" cy="1836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820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16B4A-46A6-CDBE-5553-D461348994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1B499D-15AF-F001-EF4A-14C313D55127}"/>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2DE1537A-8851-2A1B-3C2C-464C42DBFE26}"/>
              </a:ext>
            </a:extLst>
          </p:cNvPr>
          <p:cNvSpPr>
            <a:spLocks noGrp="1" noChangeArrowheads="1"/>
          </p:cNvSpPr>
          <p:nvPr>
            <p:ph idx="1"/>
          </p:nvPr>
        </p:nvSpPr>
        <p:spPr bwMode="auto">
          <a:xfrm>
            <a:off x="323631" y="1493406"/>
            <a:ext cx="11055123" cy="4994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sz="2000" b="1" dirty="0">
                <a:solidFill>
                  <a:srgbClr val="0070C0"/>
                </a:solidFill>
              </a:rPr>
              <a:t>E- Specific Abusive Situations</a:t>
            </a:r>
          </a:p>
          <a:p>
            <a:pPr marL="0" lvl="0" indent="0" algn="ctr" eaLnBrk="0" fontAlgn="base" hangingPunct="0">
              <a:lnSpc>
                <a:spcPct val="150000"/>
              </a:lnSpc>
              <a:spcBef>
                <a:spcPct val="0"/>
              </a:spcBef>
              <a:spcAft>
                <a:spcPct val="0"/>
              </a:spcAft>
              <a:buNone/>
            </a:pPr>
            <a:r>
              <a:rPr lang="en-US" sz="2000" b="1" dirty="0">
                <a:solidFill>
                  <a:srgbClr val="006600"/>
                </a:solidFill>
              </a:rPr>
              <a:t>E3: Parental Filicide (Child Murder by Parent)</a:t>
            </a:r>
          </a:p>
          <a:p>
            <a:pPr eaLnBrk="0" fontAlgn="base" hangingPunct="0">
              <a:lnSpc>
                <a:spcPct val="150000"/>
              </a:lnSpc>
              <a:spcBef>
                <a:spcPct val="0"/>
              </a:spcBef>
              <a:spcAft>
                <a:spcPct val="0"/>
              </a:spcAft>
            </a:pPr>
            <a:r>
              <a:rPr lang="en-US" sz="2000" dirty="0">
                <a:solidFill>
                  <a:schemeClr val="tx1">
                    <a:lumMod val="95000"/>
                    <a:lumOff val="5000"/>
                  </a:schemeClr>
                </a:solidFill>
              </a:rPr>
              <a:t>Includes infanticide (under 1 year) and neonaticide (within 24 hours).</a:t>
            </a:r>
          </a:p>
          <a:p>
            <a:pPr eaLnBrk="0" fontAlgn="base" hangingPunct="0">
              <a:lnSpc>
                <a:spcPct val="150000"/>
              </a:lnSpc>
              <a:spcBef>
                <a:spcPct val="0"/>
              </a:spcBef>
              <a:spcAft>
                <a:spcPct val="0"/>
              </a:spcAft>
            </a:pPr>
            <a:r>
              <a:rPr lang="en-US" sz="2000" dirty="0">
                <a:solidFill>
                  <a:schemeClr val="tx1">
                    <a:lumMod val="95000"/>
                    <a:lumOff val="5000"/>
                  </a:schemeClr>
                </a:solidFill>
              </a:rPr>
              <a:t>Risk factors: teen mothers, depression, poverty, isolation, lack of support.</a:t>
            </a:r>
          </a:p>
          <a:p>
            <a:pPr marL="0" indent="0" algn="ctr" eaLnBrk="0" fontAlgn="base" hangingPunct="0">
              <a:lnSpc>
                <a:spcPct val="150000"/>
              </a:lnSpc>
              <a:spcBef>
                <a:spcPct val="0"/>
              </a:spcBef>
              <a:spcAft>
                <a:spcPct val="0"/>
              </a:spcAft>
              <a:buNone/>
            </a:pPr>
            <a:r>
              <a:rPr lang="en-US" sz="2000" b="1" dirty="0">
                <a:solidFill>
                  <a:srgbClr val="006600"/>
                </a:solidFill>
              </a:rPr>
              <a:t>E4: Internet and Technology-Facilitated Crimes</a:t>
            </a:r>
          </a:p>
          <a:p>
            <a:pPr eaLnBrk="0" fontAlgn="base" hangingPunct="0">
              <a:lnSpc>
                <a:spcPct val="150000"/>
              </a:lnSpc>
              <a:spcBef>
                <a:spcPct val="0"/>
              </a:spcBef>
              <a:spcAft>
                <a:spcPct val="0"/>
              </a:spcAft>
            </a:pPr>
            <a:r>
              <a:rPr lang="en-US" sz="2000" dirty="0"/>
              <a:t>Online grooming, sextortion, child pornography, cyberbullying.</a:t>
            </a:r>
            <a:endParaRPr lang="en-US" sz="2000" dirty="0">
              <a:solidFill>
                <a:schemeClr val="tx1">
                  <a:lumMod val="95000"/>
                  <a:lumOff val="5000"/>
                </a:schemeClr>
              </a:solidFill>
            </a:endParaRPr>
          </a:p>
          <a:p>
            <a:pPr marL="0" indent="0" algn="ctr" eaLnBrk="0" fontAlgn="base" hangingPunct="0">
              <a:lnSpc>
                <a:spcPct val="150000"/>
              </a:lnSpc>
              <a:spcBef>
                <a:spcPct val="0"/>
              </a:spcBef>
              <a:spcAft>
                <a:spcPct val="0"/>
              </a:spcAft>
              <a:buNone/>
            </a:pPr>
            <a:r>
              <a:rPr lang="en-US" sz="2000" b="1" dirty="0">
                <a:solidFill>
                  <a:srgbClr val="006600"/>
                </a:solidFill>
              </a:rPr>
              <a:t>E5: Child Abduction</a:t>
            </a:r>
          </a:p>
          <a:p>
            <a:pPr eaLnBrk="0" fontAlgn="base" hangingPunct="0">
              <a:lnSpc>
                <a:spcPct val="150000"/>
              </a:lnSpc>
              <a:spcBef>
                <a:spcPct val="0"/>
              </a:spcBef>
              <a:spcAft>
                <a:spcPct val="0"/>
              </a:spcAft>
            </a:pPr>
            <a:r>
              <a:rPr lang="en-US" sz="2000" dirty="0"/>
              <a:t>Child abduction by family members or intimate partners, such as a divorced mother, father, boyfriend, or grandparents, is more common.</a:t>
            </a:r>
            <a:endParaRPr lang="en-US" sz="2000" dirty="0">
              <a:solidFill>
                <a:schemeClr val="tx1">
                  <a:lumMod val="95000"/>
                  <a:lumOff val="5000"/>
                </a:schemeClr>
              </a:solidFill>
            </a:endParaRPr>
          </a:p>
          <a:p>
            <a:pPr marL="0" lvl="0" indent="0" algn="ctr" eaLnBrk="0" fontAlgn="base" hangingPunct="0">
              <a:lnSpc>
                <a:spcPct val="150000"/>
              </a:lnSpc>
              <a:spcBef>
                <a:spcPct val="0"/>
              </a:spcBef>
              <a:spcAft>
                <a:spcPct val="0"/>
              </a:spcAft>
              <a:buNone/>
            </a:pPr>
            <a:endParaRPr lang="en-US" b="1" dirty="0">
              <a:solidFill>
                <a:srgbClr val="006600"/>
              </a:solidFill>
            </a:endParaRPr>
          </a:p>
        </p:txBody>
      </p:sp>
      <p:pic>
        <p:nvPicPr>
          <p:cNvPr id="8" name="Picture 2" descr="Neighbors killed 8-year-old for Rs. 20 crores - Odisha Bhaskar English">
            <a:extLst>
              <a:ext uri="{FF2B5EF4-FFF2-40B4-BE49-F238E27FC236}">
                <a16:creationId xmlns:a16="http://schemas.microsoft.com/office/drawing/2014/main" id="{FE268EB3-B995-518B-3FB1-5C54BCE1F7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53" r="28046" b="151"/>
          <a:stretch/>
        </p:blipFill>
        <p:spPr bwMode="auto">
          <a:xfrm>
            <a:off x="9862884" y="1878343"/>
            <a:ext cx="1766548" cy="13974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nternet Crimes Against Children Training Program Assessment Grant">
            <a:extLst>
              <a:ext uri="{FF2B5EF4-FFF2-40B4-BE49-F238E27FC236}">
                <a16:creationId xmlns:a16="http://schemas.microsoft.com/office/drawing/2014/main" id="{9B62E874-9F4D-5766-FD7B-37FB0E26BEF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435" t="9091" r="22611" b="-1"/>
          <a:stretch/>
        </p:blipFill>
        <p:spPr bwMode="auto">
          <a:xfrm>
            <a:off x="10138726" y="3475194"/>
            <a:ext cx="1704094" cy="134801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Child abduction, conceptual image - Stock Image - C006/8438 - Science Photo  Library">
            <a:extLst>
              <a:ext uri="{FF2B5EF4-FFF2-40B4-BE49-F238E27FC236}">
                <a16:creationId xmlns:a16="http://schemas.microsoft.com/office/drawing/2014/main" id="{BFF3FE09-1BB2-95B0-7568-AE5677F0EBC5}"/>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0289513" y="5564477"/>
            <a:ext cx="1487155" cy="1223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186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D0AAB-CD9D-FAF1-9FF3-99065D5FE02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E93C9D-8A50-C89F-99F8-31E13EB5BC60}"/>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FAMILY VIOLENCE AGAINST CHILDREN</a:t>
            </a:r>
          </a:p>
        </p:txBody>
      </p:sp>
      <p:sp>
        <p:nvSpPr>
          <p:cNvPr id="7" name="Rectangle 4">
            <a:extLst>
              <a:ext uri="{FF2B5EF4-FFF2-40B4-BE49-F238E27FC236}">
                <a16:creationId xmlns:a16="http://schemas.microsoft.com/office/drawing/2014/main" id="{616FAC35-8ECE-23CE-4BCF-FE0728B79891}"/>
              </a:ext>
            </a:extLst>
          </p:cNvPr>
          <p:cNvSpPr>
            <a:spLocks noGrp="1" noChangeArrowheads="1"/>
          </p:cNvSpPr>
          <p:nvPr>
            <p:ph idx="1"/>
          </p:nvPr>
        </p:nvSpPr>
        <p:spPr bwMode="auto">
          <a:xfrm>
            <a:off x="323631" y="1629564"/>
            <a:ext cx="11055123" cy="4722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b="1" dirty="0">
                <a:solidFill>
                  <a:srgbClr val="7030A0"/>
                </a:solidFill>
              </a:rPr>
              <a:t>Major Types of Child Abuse    </a:t>
            </a:r>
            <a:r>
              <a:rPr lang="en-US" sz="2000" b="1" dirty="0">
                <a:solidFill>
                  <a:srgbClr val="0070C0"/>
                </a:solidFill>
              </a:rPr>
              <a:t>E- Specific Abusive Situations</a:t>
            </a:r>
          </a:p>
          <a:p>
            <a:pPr marL="0" lvl="0" indent="0" algn="ctr" eaLnBrk="0" fontAlgn="base" hangingPunct="0">
              <a:lnSpc>
                <a:spcPct val="150000"/>
              </a:lnSpc>
              <a:spcBef>
                <a:spcPct val="0"/>
              </a:spcBef>
              <a:spcAft>
                <a:spcPct val="0"/>
              </a:spcAft>
              <a:buNone/>
            </a:pPr>
            <a:r>
              <a:rPr lang="en-US" sz="2000" b="1" dirty="0">
                <a:solidFill>
                  <a:srgbClr val="006600"/>
                </a:solidFill>
              </a:rPr>
              <a:t>E6: Abuse by Babysitters or Caretakers</a:t>
            </a:r>
          </a:p>
          <a:p>
            <a:r>
              <a:rPr lang="en-US" sz="2000" dirty="0"/>
              <a:t>Parents should verify references, licenses, and monitor childcare environments.</a:t>
            </a:r>
          </a:p>
          <a:p>
            <a:r>
              <a:rPr lang="en-US" sz="2000" dirty="0"/>
              <a:t>Red flags: unexplained injuries, fear of caregiver, neglect signs.</a:t>
            </a:r>
            <a:endParaRPr lang="en-US" sz="2000" dirty="0">
              <a:solidFill>
                <a:schemeClr val="tx1">
                  <a:lumMod val="95000"/>
                  <a:lumOff val="5000"/>
                </a:schemeClr>
              </a:solidFill>
            </a:endParaRPr>
          </a:p>
          <a:p>
            <a:pPr marL="0" indent="0" algn="ctr" eaLnBrk="0" fontAlgn="base" hangingPunct="0">
              <a:lnSpc>
                <a:spcPct val="150000"/>
              </a:lnSpc>
              <a:spcBef>
                <a:spcPct val="0"/>
              </a:spcBef>
              <a:spcAft>
                <a:spcPct val="0"/>
              </a:spcAft>
              <a:buNone/>
            </a:pPr>
            <a:r>
              <a:rPr lang="en-US" sz="2000" b="1" dirty="0">
                <a:solidFill>
                  <a:srgbClr val="006600"/>
                </a:solidFill>
              </a:rPr>
              <a:t>E7: School Violence</a:t>
            </a:r>
          </a:p>
          <a:p>
            <a:pPr eaLnBrk="0" fontAlgn="base" hangingPunct="0">
              <a:lnSpc>
                <a:spcPct val="150000"/>
              </a:lnSpc>
              <a:spcBef>
                <a:spcPct val="0"/>
              </a:spcBef>
              <a:spcAft>
                <a:spcPct val="0"/>
              </a:spcAft>
            </a:pPr>
            <a:r>
              <a:rPr lang="en-US" sz="2000" dirty="0"/>
              <a:t>Includes bullying, physical assaults, and mass shootings.</a:t>
            </a:r>
          </a:p>
          <a:p>
            <a:pPr eaLnBrk="0" fontAlgn="base" hangingPunct="0">
              <a:lnSpc>
                <a:spcPct val="150000"/>
              </a:lnSpc>
              <a:spcBef>
                <a:spcPct val="0"/>
              </a:spcBef>
              <a:spcAft>
                <a:spcPct val="0"/>
              </a:spcAft>
            </a:pPr>
            <a:r>
              <a:rPr lang="en-US" sz="2000" dirty="0"/>
              <a:t>Risk factors: rejection, bullying, poor parental supervision, delinquency, poverty.</a:t>
            </a:r>
          </a:p>
          <a:p>
            <a:pPr eaLnBrk="0" fontAlgn="base" hangingPunct="0">
              <a:lnSpc>
                <a:spcPct val="150000"/>
              </a:lnSpc>
              <a:spcBef>
                <a:spcPct val="0"/>
              </a:spcBef>
              <a:spcAft>
                <a:spcPct val="0"/>
              </a:spcAft>
            </a:pPr>
            <a:r>
              <a:rPr lang="en-US" sz="2000" dirty="0"/>
              <a:t>Statistics:19% bullied at school; 15% bullied electronically.6.7% missed school due to feeling unsafe.3.8% carried weapons to school.</a:t>
            </a:r>
          </a:p>
          <a:p>
            <a:pPr marL="0" indent="0" eaLnBrk="0" fontAlgn="base" hangingPunct="0">
              <a:lnSpc>
                <a:spcPct val="150000"/>
              </a:lnSpc>
              <a:spcBef>
                <a:spcPct val="0"/>
              </a:spcBef>
              <a:spcAft>
                <a:spcPct val="0"/>
              </a:spcAft>
              <a:buNone/>
            </a:pPr>
            <a:endParaRPr lang="en-US" sz="2000" dirty="0">
              <a:solidFill>
                <a:schemeClr val="tx1">
                  <a:lumMod val="95000"/>
                  <a:lumOff val="5000"/>
                </a:schemeClr>
              </a:solidFill>
            </a:endParaRPr>
          </a:p>
        </p:txBody>
      </p:sp>
      <p:pic>
        <p:nvPicPr>
          <p:cNvPr id="2" name="Picture 2" descr="School Violence Increasing At Concerning Rate">
            <a:extLst>
              <a:ext uri="{FF2B5EF4-FFF2-40B4-BE49-F238E27FC236}">
                <a16:creationId xmlns:a16="http://schemas.microsoft.com/office/drawing/2014/main" id="{10F336D8-494F-A289-D3B2-87A8FFA257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296400" y="5491044"/>
            <a:ext cx="2192355" cy="123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018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5" name="Rectangle 1034">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7" name="Rectangle 10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9" name="Rectangle 10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C950A5E-3C4E-7425-5765-DE946CBE60C9}"/>
              </a:ext>
            </a:extLst>
          </p:cNvPr>
          <p:cNvSpPr txBox="1"/>
          <p:nvPr/>
        </p:nvSpPr>
        <p:spPr>
          <a:xfrm>
            <a:off x="420069" y="2606582"/>
            <a:ext cx="4456731" cy="13234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781F1"/>
                </a:solidFill>
                <a:effectLst/>
                <a:uLnTx/>
                <a:uFillTx/>
                <a:latin typeface="Calibri" panose="020F0502020204030204"/>
                <a:ea typeface="+mn-ea"/>
                <a:cs typeface="+mn-cs"/>
              </a:rPr>
              <a:t>INTIMATE PARTNER VIOLENCE</a:t>
            </a:r>
          </a:p>
        </p:txBody>
      </p:sp>
      <p:pic>
        <p:nvPicPr>
          <p:cNvPr id="1026" name="Picture 2" descr="Opinion | Stop Treating Domestic Violence Differently From Other Crimes -  The New York Times">
            <a:extLst>
              <a:ext uri="{FF2B5EF4-FFF2-40B4-BE49-F238E27FC236}">
                <a16:creationId xmlns:a16="http://schemas.microsoft.com/office/drawing/2014/main" id="{030BFC6F-D5FC-9B35-BB58-484E60EFB2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8670" y="0"/>
            <a:ext cx="7733328"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585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2B4C-9A27-D4DA-FA77-31A0174C6C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826BC9-7D71-F7E5-9A79-0BAC83F6FDCC}"/>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sp>
        <p:nvSpPr>
          <p:cNvPr id="7" name="Rectangle 4">
            <a:extLst>
              <a:ext uri="{FF2B5EF4-FFF2-40B4-BE49-F238E27FC236}">
                <a16:creationId xmlns:a16="http://schemas.microsoft.com/office/drawing/2014/main" id="{B7D78E56-FD74-0468-5016-5A51795851B5}"/>
              </a:ext>
            </a:extLst>
          </p:cNvPr>
          <p:cNvSpPr>
            <a:spLocks noGrp="1" noChangeArrowheads="1"/>
          </p:cNvSpPr>
          <p:nvPr>
            <p:ph idx="1"/>
          </p:nvPr>
        </p:nvSpPr>
        <p:spPr bwMode="auto">
          <a:xfrm>
            <a:off x="323631" y="1615746"/>
            <a:ext cx="11055123" cy="475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 typeface="Wingdings" panose="05000000000000000000" pitchFamily="2" charset="2"/>
              <a:buChar char="v"/>
            </a:pPr>
            <a:r>
              <a:rPr lang="en-US" sz="1800" dirty="0"/>
              <a:t>Abuse or aggression that occurs within a close relationship — either current or former partners </a:t>
            </a:r>
            <a:r>
              <a:rPr lang="en-US" sz="1800" i="1" dirty="0"/>
              <a:t>(CDC, 2019).</a:t>
            </a:r>
          </a:p>
          <a:p>
            <a:pPr eaLnBrk="0" fontAlgn="base" hangingPunct="0">
              <a:lnSpc>
                <a:spcPct val="150000"/>
              </a:lnSpc>
              <a:spcBef>
                <a:spcPct val="0"/>
              </a:spcBef>
              <a:spcAft>
                <a:spcPct val="0"/>
              </a:spcAft>
              <a:buFont typeface="Wingdings" panose="05000000000000000000" pitchFamily="2" charset="2"/>
              <a:buChar char="v"/>
            </a:pPr>
            <a:r>
              <a:rPr lang="en-US" sz="1800" dirty="0"/>
              <a:t>Domestic violence is “a pattern of abusive behavior in any relationship that is used by one partner </a:t>
            </a:r>
            <a:r>
              <a:rPr lang="en-US" sz="1800" b="1" dirty="0"/>
              <a:t>to gain or maintain power </a:t>
            </a:r>
            <a:r>
              <a:rPr lang="en-US" sz="1800" dirty="0"/>
              <a:t>and </a:t>
            </a:r>
            <a:r>
              <a:rPr lang="en-US" sz="1800" b="1" dirty="0"/>
              <a:t>control over another </a:t>
            </a:r>
            <a:r>
              <a:rPr lang="en-US" sz="1800" dirty="0"/>
              <a:t>intimate partner”; it may be </a:t>
            </a:r>
            <a:r>
              <a:rPr lang="en-US" sz="1800" b="1" dirty="0"/>
              <a:t>emotional, economic, physical, psychological, or sexual in nature</a:t>
            </a:r>
            <a:r>
              <a:rPr lang="en-US" sz="1800" dirty="0"/>
              <a:t>.</a:t>
            </a:r>
          </a:p>
          <a:p>
            <a:pPr eaLnBrk="0" fontAlgn="base" hangingPunct="0">
              <a:lnSpc>
                <a:spcPct val="150000"/>
              </a:lnSpc>
              <a:spcBef>
                <a:spcPct val="0"/>
              </a:spcBef>
              <a:spcAft>
                <a:spcPct val="0"/>
              </a:spcAft>
              <a:buFont typeface="Wingdings" panose="05000000000000000000" pitchFamily="2" charset="2"/>
              <a:buChar char="v"/>
            </a:pPr>
            <a:r>
              <a:rPr lang="en-US" sz="1800" dirty="0"/>
              <a:t>IPV is a </a:t>
            </a:r>
            <a:r>
              <a:rPr lang="en-US" sz="1800" b="1" dirty="0"/>
              <a:t>major cause of morbidity, mortality, and human rights violations</a:t>
            </a:r>
            <a:r>
              <a:rPr lang="en-US" sz="1800" dirty="0"/>
              <a:t> globally.</a:t>
            </a:r>
          </a:p>
          <a:p>
            <a:pPr marL="0" indent="0">
              <a:lnSpc>
                <a:spcPct val="150000"/>
              </a:lnSpc>
              <a:buNone/>
            </a:pPr>
            <a:r>
              <a:rPr lang="en-US" sz="1800" b="1" dirty="0"/>
              <a:t>Main Types of IPV:</a:t>
            </a:r>
            <a:endParaRPr lang="en-US" sz="1800" dirty="0"/>
          </a:p>
          <a:p>
            <a:pPr>
              <a:lnSpc>
                <a:spcPct val="100000"/>
              </a:lnSpc>
            </a:pPr>
            <a:r>
              <a:rPr lang="en-US" sz="1800" b="1" dirty="0"/>
              <a:t>Physical violence</a:t>
            </a:r>
            <a:r>
              <a:rPr lang="en-US" sz="1800" dirty="0"/>
              <a:t> – hitting, slapping, choking, beating, etc.</a:t>
            </a:r>
          </a:p>
          <a:p>
            <a:pPr>
              <a:lnSpc>
                <a:spcPct val="100000"/>
              </a:lnSpc>
            </a:pPr>
            <a:r>
              <a:rPr lang="en-US" sz="1800" b="1" dirty="0"/>
              <a:t>Sexual violence</a:t>
            </a:r>
            <a:r>
              <a:rPr lang="en-US" sz="1800" dirty="0"/>
              <a:t> – forced or coerced sexual acts.</a:t>
            </a:r>
          </a:p>
          <a:p>
            <a:pPr>
              <a:lnSpc>
                <a:spcPct val="100000"/>
              </a:lnSpc>
            </a:pPr>
            <a:r>
              <a:rPr lang="en-US" sz="1800" b="1" dirty="0"/>
              <a:t>Stalking</a:t>
            </a:r>
            <a:r>
              <a:rPr lang="en-US" sz="1800" dirty="0"/>
              <a:t> – repeated unwanted attention or harassment causing fear.</a:t>
            </a:r>
          </a:p>
          <a:p>
            <a:pPr>
              <a:lnSpc>
                <a:spcPct val="100000"/>
              </a:lnSpc>
            </a:pPr>
            <a:r>
              <a:rPr lang="en-US" sz="1800" b="1" dirty="0"/>
              <a:t>Psychological aggression</a:t>
            </a:r>
            <a:r>
              <a:rPr lang="en-US" sz="1800" dirty="0"/>
              <a:t> – verbal or emotional abuse, humiliation, control, or threats.</a:t>
            </a:r>
          </a:p>
        </p:txBody>
      </p:sp>
    </p:spTree>
    <p:extLst>
      <p:ext uri="{BB962C8B-B14F-4D97-AF65-F5344CB8AC3E}">
        <p14:creationId xmlns:p14="http://schemas.microsoft.com/office/powerpoint/2010/main" val="2922866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2B4C-9A27-D4DA-FA77-31A0174C6C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826BC9-7D71-F7E5-9A79-0BAC83F6FDCC}"/>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sp>
        <p:nvSpPr>
          <p:cNvPr id="7" name="Rectangle 4">
            <a:extLst>
              <a:ext uri="{FF2B5EF4-FFF2-40B4-BE49-F238E27FC236}">
                <a16:creationId xmlns:a16="http://schemas.microsoft.com/office/drawing/2014/main" id="{B7D78E56-FD74-0468-5016-5A51795851B5}"/>
              </a:ext>
            </a:extLst>
          </p:cNvPr>
          <p:cNvSpPr>
            <a:spLocks noGrp="1" noChangeArrowheads="1"/>
          </p:cNvSpPr>
          <p:nvPr>
            <p:ph idx="1"/>
          </p:nvPr>
        </p:nvSpPr>
        <p:spPr bwMode="auto">
          <a:xfrm>
            <a:off x="323631" y="1954813"/>
            <a:ext cx="11055123" cy="407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b="1" dirty="0">
                <a:solidFill>
                  <a:srgbClr val="7030A0"/>
                </a:solidFill>
              </a:rPr>
              <a:t>Prevalence and Statistics (CDC, 2019; WHO, 2017)</a:t>
            </a:r>
          </a:p>
          <a:p>
            <a:r>
              <a:rPr lang="en-US" sz="2000" b="1" dirty="0"/>
              <a:t>1 in 4 women</a:t>
            </a:r>
            <a:r>
              <a:rPr lang="en-US" sz="2000" dirty="0"/>
              <a:t> and </a:t>
            </a:r>
            <a:r>
              <a:rPr lang="en-US" sz="2000" b="1" dirty="0"/>
              <a:t>1 in 10 men</a:t>
            </a:r>
            <a:r>
              <a:rPr lang="en-US" sz="2000" dirty="0"/>
              <a:t> experience physical/sexual violence or stalking.</a:t>
            </a:r>
          </a:p>
          <a:p>
            <a:r>
              <a:rPr lang="en-US" sz="2000" b="1" dirty="0"/>
              <a:t>1 in 5 women</a:t>
            </a:r>
            <a:r>
              <a:rPr lang="en-US" sz="2000" dirty="0"/>
              <a:t> and </a:t>
            </a:r>
            <a:r>
              <a:rPr lang="en-US" sz="2000" b="1" dirty="0"/>
              <a:t>1 in 7 men</a:t>
            </a:r>
            <a:r>
              <a:rPr lang="en-US" sz="2000" dirty="0"/>
              <a:t> experience </a:t>
            </a:r>
            <a:r>
              <a:rPr lang="en-US" sz="2000" b="1" dirty="0"/>
              <a:t>severe physical violence.</a:t>
            </a:r>
            <a:endParaRPr lang="en-US" sz="2000" dirty="0"/>
          </a:p>
          <a:p>
            <a:r>
              <a:rPr lang="en-US" sz="2000" b="1" dirty="0"/>
              <a:t>1 in 5 women</a:t>
            </a:r>
            <a:r>
              <a:rPr lang="en-US" sz="2000" dirty="0"/>
              <a:t> and </a:t>
            </a:r>
            <a:r>
              <a:rPr lang="en-US" sz="2000" b="1" dirty="0"/>
              <a:t>1 in 12 men</a:t>
            </a:r>
            <a:r>
              <a:rPr lang="en-US" sz="2000" dirty="0"/>
              <a:t> experience </a:t>
            </a:r>
            <a:r>
              <a:rPr lang="en-US" sz="2000" b="1" dirty="0"/>
              <a:t>sexual violence.</a:t>
            </a:r>
            <a:endParaRPr lang="en-US" sz="2000" dirty="0"/>
          </a:p>
          <a:p>
            <a:r>
              <a:rPr lang="en-US" sz="2000" b="1" dirty="0"/>
              <a:t>16% of all homicides</a:t>
            </a:r>
            <a:r>
              <a:rPr lang="en-US" sz="2000" dirty="0"/>
              <a:t> are committed by an intimate partner.</a:t>
            </a:r>
          </a:p>
          <a:p>
            <a:r>
              <a:rPr lang="en-US" sz="2000" dirty="0"/>
              <a:t>43 million women and 38 million men have experienced psychological aggression</a:t>
            </a:r>
          </a:p>
          <a:p>
            <a:r>
              <a:rPr lang="en-US" sz="2000" b="1" dirty="0"/>
              <a:t>35%</a:t>
            </a:r>
            <a:r>
              <a:rPr lang="en-US" sz="2000" dirty="0"/>
              <a:t> of women worldwide have experienced IPV or non-partner sexual violence.</a:t>
            </a:r>
          </a:p>
          <a:p>
            <a:r>
              <a:rPr lang="en-US" sz="2000" b="1" dirty="0"/>
              <a:t>30%</a:t>
            </a:r>
            <a:r>
              <a:rPr lang="en-US" sz="2000" dirty="0"/>
              <a:t> of women have been physically abused by a partner.</a:t>
            </a:r>
          </a:p>
          <a:p>
            <a:r>
              <a:rPr lang="en-US" sz="2000" b="1" dirty="0"/>
              <a:t>38%</a:t>
            </a:r>
            <a:r>
              <a:rPr lang="en-US" sz="2000" dirty="0"/>
              <a:t> of murdered women were killed by an intimate partner.</a:t>
            </a:r>
          </a:p>
          <a:p>
            <a:r>
              <a:rPr lang="en-US" sz="2000" dirty="0"/>
              <a:t>IPV is a </a:t>
            </a:r>
            <a:r>
              <a:rPr lang="en-US" sz="2000" b="1" dirty="0"/>
              <a:t>major cause of morbidity, mortality, and human rights violations</a:t>
            </a:r>
            <a:r>
              <a:rPr lang="en-US" sz="2000" dirty="0"/>
              <a:t> globally.</a:t>
            </a:r>
          </a:p>
        </p:txBody>
      </p:sp>
    </p:spTree>
    <p:extLst>
      <p:ext uri="{BB962C8B-B14F-4D97-AF65-F5344CB8AC3E}">
        <p14:creationId xmlns:p14="http://schemas.microsoft.com/office/powerpoint/2010/main" val="407605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7D30F-DB6A-D221-A3AF-B82587CC19D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DA247D-FAE7-9736-B02A-5EA91DC39D82}"/>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pic>
        <p:nvPicPr>
          <p:cNvPr id="5" name="Picture 4">
            <a:extLst>
              <a:ext uri="{FF2B5EF4-FFF2-40B4-BE49-F238E27FC236}">
                <a16:creationId xmlns:a16="http://schemas.microsoft.com/office/drawing/2014/main" id="{D96656E7-F6E3-6717-C016-6F54A570EBE8}"/>
              </a:ext>
            </a:extLst>
          </p:cNvPr>
          <p:cNvPicPr>
            <a:picLocks noChangeAspect="1"/>
          </p:cNvPicPr>
          <p:nvPr/>
        </p:nvPicPr>
        <p:blipFill>
          <a:blip r:embed="rId3"/>
          <a:stretch>
            <a:fillRect/>
          </a:stretch>
        </p:blipFill>
        <p:spPr>
          <a:xfrm>
            <a:off x="2371512" y="2388014"/>
            <a:ext cx="7475868" cy="4206605"/>
          </a:xfrm>
          <a:prstGeom prst="rect">
            <a:avLst/>
          </a:prstGeom>
        </p:spPr>
      </p:pic>
      <p:sp>
        <p:nvSpPr>
          <p:cNvPr id="8" name="TextBox 7">
            <a:extLst>
              <a:ext uri="{FF2B5EF4-FFF2-40B4-BE49-F238E27FC236}">
                <a16:creationId xmlns:a16="http://schemas.microsoft.com/office/drawing/2014/main" id="{C0C60568-B1A9-990F-1AD1-B686619015A6}"/>
              </a:ext>
            </a:extLst>
          </p:cNvPr>
          <p:cNvSpPr txBox="1"/>
          <p:nvPr/>
        </p:nvSpPr>
        <p:spPr>
          <a:xfrm>
            <a:off x="3849221" y="1361746"/>
            <a:ext cx="6111688" cy="584775"/>
          </a:xfrm>
          <a:prstGeom prst="rect">
            <a:avLst/>
          </a:prstGeom>
          <a:noFill/>
        </p:spPr>
        <p:txBody>
          <a:bodyPr wrap="square">
            <a:spAutoFit/>
          </a:bodyPr>
          <a:lstStyle/>
          <a:p>
            <a:r>
              <a:rPr lang="en-US" sz="3200" b="1" dirty="0">
                <a:solidFill>
                  <a:srgbClr val="7030A0"/>
                </a:solidFill>
              </a:rPr>
              <a:t>The Cycle of Violence</a:t>
            </a:r>
            <a:endParaRPr lang="en-US" sz="3200" dirty="0"/>
          </a:p>
        </p:txBody>
      </p:sp>
    </p:spTree>
    <p:extLst>
      <p:ext uri="{BB962C8B-B14F-4D97-AF65-F5344CB8AC3E}">
        <p14:creationId xmlns:p14="http://schemas.microsoft.com/office/powerpoint/2010/main" val="3205797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FFDDF-7128-7D1F-50D0-F3BD6540544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6336D57-E25D-0E71-864F-3495E6C4B35F}"/>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sp>
        <p:nvSpPr>
          <p:cNvPr id="8" name="TextBox 7">
            <a:extLst>
              <a:ext uri="{FF2B5EF4-FFF2-40B4-BE49-F238E27FC236}">
                <a16:creationId xmlns:a16="http://schemas.microsoft.com/office/drawing/2014/main" id="{9C337F02-7E6F-9DCB-F6E1-1C471AE7CBC9}"/>
              </a:ext>
            </a:extLst>
          </p:cNvPr>
          <p:cNvSpPr txBox="1"/>
          <p:nvPr/>
        </p:nvSpPr>
        <p:spPr>
          <a:xfrm>
            <a:off x="3849221" y="1361746"/>
            <a:ext cx="6111688" cy="584775"/>
          </a:xfrm>
          <a:prstGeom prst="rect">
            <a:avLst/>
          </a:prstGeom>
          <a:noFill/>
        </p:spPr>
        <p:txBody>
          <a:bodyPr wrap="square">
            <a:spAutoFit/>
          </a:bodyPr>
          <a:lstStyle/>
          <a:p>
            <a:r>
              <a:rPr lang="en-US" sz="3200" b="1" dirty="0">
                <a:solidFill>
                  <a:srgbClr val="7030A0"/>
                </a:solidFill>
              </a:rPr>
              <a:t>The Cycle of Violence</a:t>
            </a:r>
            <a:endParaRPr lang="en-US" sz="3200" dirty="0"/>
          </a:p>
        </p:txBody>
      </p:sp>
      <p:sp>
        <p:nvSpPr>
          <p:cNvPr id="2" name="Rectangle 4">
            <a:extLst>
              <a:ext uri="{FF2B5EF4-FFF2-40B4-BE49-F238E27FC236}">
                <a16:creationId xmlns:a16="http://schemas.microsoft.com/office/drawing/2014/main" id="{79BE5BC9-F96D-597C-ACE0-16D0F06A1E45}"/>
              </a:ext>
            </a:extLst>
          </p:cNvPr>
          <p:cNvSpPr>
            <a:spLocks noGrp="1" noChangeArrowheads="1"/>
          </p:cNvSpPr>
          <p:nvPr>
            <p:ph idx="1"/>
          </p:nvPr>
        </p:nvSpPr>
        <p:spPr bwMode="auto">
          <a:xfrm>
            <a:off x="242948" y="1962084"/>
            <a:ext cx="11055123" cy="4541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400" b="1" dirty="0">
                <a:solidFill>
                  <a:srgbClr val="002060"/>
                </a:solidFill>
              </a:rPr>
              <a:t>A. Tension-Building Phase</a:t>
            </a:r>
          </a:p>
          <a:p>
            <a:pPr>
              <a:lnSpc>
                <a:spcPct val="150000"/>
              </a:lnSpc>
            </a:pPr>
            <a:r>
              <a:rPr lang="en-US" sz="2400" b="1" dirty="0"/>
              <a:t>Longest phase</a:t>
            </a:r>
            <a:r>
              <a:rPr lang="en-US" sz="2400" dirty="0"/>
              <a:t> — may last for </a:t>
            </a:r>
            <a:r>
              <a:rPr lang="en-US" sz="2400" b="1" dirty="0"/>
              <a:t>weeks.</a:t>
            </a:r>
            <a:endParaRPr lang="en-US" sz="2400" dirty="0"/>
          </a:p>
          <a:p>
            <a:pPr>
              <a:lnSpc>
                <a:spcPct val="150000"/>
              </a:lnSpc>
            </a:pPr>
            <a:r>
              <a:rPr lang="en-US" sz="2400" dirty="0"/>
              <a:t>The abuser becomes </a:t>
            </a:r>
            <a:r>
              <a:rPr lang="en-US" sz="2400" b="1" dirty="0"/>
              <a:t>irritable, controlling, and verbally abusive.</a:t>
            </a:r>
            <a:endParaRPr lang="en-US" sz="2400" dirty="0"/>
          </a:p>
          <a:p>
            <a:pPr>
              <a:lnSpc>
                <a:spcPct val="150000"/>
              </a:lnSpc>
            </a:pPr>
            <a:r>
              <a:rPr lang="en-US" sz="2400" dirty="0"/>
              <a:t>The victim feels anxious, cautious (“</a:t>
            </a:r>
            <a:r>
              <a:rPr lang="en-US" sz="2400" b="1" dirty="0"/>
              <a:t>walking on eggshells</a:t>
            </a:r>
            <a:r>
              <a:rPr lang="en-US" sz="2400" dirty="0"/>
              <a:t>”), and tries to </a:t>
            </a:r>
            <a:r>
              <a:rPr lang="en-US" sz="2400" b="1" dirty="0"/>
              <a:t>appease</a:t>
            </a:r>
            <a:r>
              <a:rPr lang="en-US" sz="2400" dirty="0"/>
              <a:t> the abuser to prevent escalation.</a:t>
            </a:r>
          </a:p>
          <a:p>
            <a:pPr>
              <a:lnSpc>
                <a:spcPct val="150000"/>
              </a:lnSpc>
            </a:pPr>
            <a:r>
              <a:rPr lang="en-US" sz="2400" b="1" dirty="0"/>
              <a:t>Minor incidents</a:t>
            </a:r>
            <a:r>
              <a:rPr lang="en-US" sz="2400" dirty="0"/>
              <a:t> of abuse may occur.</a:t>
            </a:r>
          </a:p>
          <a:p>
            <a:pPr>
              <a:lnSpc>
                <a:spcPct val="150000"/>
              </a:lnSpc>
            </a:pPr>
            <a:r>
              <a:rPr lang="en-US" sz="2400" dirty="0"/>
              <a:t>Emotional stress increases as tension grows.</a:t>
            </a:r>
          </a:p>
        </p:txBody>
      </p:sp>
    </p:spTree>
    <p:extLst>
      <p:ext uri="{BB962C8B-B14F-4D97-AF65-F5344CB8AC3E}">
        <p14:creationId xmlns:p14="http://schemas.microsoft.com/office/powerpoint/2010/main" val="2729866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C340A-20F8-33E2-0053-AB3D657FA51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D1FAB1D-ED36-A718-3C78-5104576C54BD}"/>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sp>
        <p:nvSpPr>
          <p:cNvPr id="8" name="TextBox 7">
            <a:extLst>
              <a:ext uri="{FF2B5EF4-FFF2-40B4-BE49-F238E27FC236}">
                <a16:creationId xmlns:a16="http://schemas.microsoft.com/office/drawing/2014/main" id="{BE0E53B2-B765-6C86-8E6D-F10899E0533A}"/>
              </a:ext>
            </a:extLst>
          </p:cNvPr>
          <p:cNvSpPr txBox="1"/>
          <p:nvPr/>
        </p:nvSpPr>
        <p:spPr>
          <a:xfrm>
            <a:off x="3849221" y="1361746"/>
            <a:ext cx="6111688" cy="584775"/>
          </a:xfrm>
          <a:prstGeom prst="rect">
            <a:avLst/>
          </a:prstGeom>
          <a:noFill/>
        </p:spPr>
        <p:txBody>
          <a:bodyPr wrap="square">
            <a:spAutoFit/>
          </a:bodyPr>
          <a:lstStyle/>
          <a:p>
            <a:r>
              <a:rPr lang="en-US" sz="3200" b="1" dirty="0">
                <a:solidFill>
                  <a:srgbClr val="7030A0"/>
                </a:solidFill>
              </a:rPr>
              <a:t>The Cycle of Violence</a:t>
            </a:r>
            <a:endParaRPr lang="en-US" sz="3200" dirty="0"/>
          </a:p>
        </p:txBody>
      </p:sp>
      <p:sp>
        <p:nvSpPr>
          <p:cNvPr id="2" name="Rectangle 4">
            <a:extLst>
              <a:ext uri="{FF2B5EF4-FFF2-40B4-BE49-F238E27FC236}">
                <a16:creationId xmlns:a16="http://schemas.microsoft.com/office/drawing/2014/main" id="{D5564356-F973-2E8F-2641-262795FEE23B}"/>
              </a:ext>
            </a:extLst>
          </p:cNvPr>
          <p:cNvSpPr>
            <a:spLocks noGrp="1" noChangeArrowheads="1"/>
          </p:cNvSpPr>
          <p:nvPr>
            <p:ph idx="1"/>
          </p:nvPr>
        </p:nvSpPr>
        <p:spPr bwMode="auto">
          <a:xfrm>
            <a:off x="242948" y="2056757"/>
            <a:ext cx="11055123" cy="4352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200" b="1" dirty="0">
                <a:solidFill>
                  <a:srgbClr val="002060"/>
                </a:solidFill>
              </a:rPr>
              <a:t>B. Acute Explosion Phase (Crisis Phase)</a:t>
            </a:r>
          </a:p>
          <a:p>
            <a:pPr>
              <a:lnSpc>
                <a:spcPct val="150000"/>
              </a:lnSpc>
            </a:pPr>
            <a:r>
              <a:rPr lang="en-US" sz="2200" b="1" dirty="0"/>
              <a:t>Shortest phase</a:t>
            </a:r>
            <a:r>
              <a:rPr lang="en-US" sz="2200" dirty="0"/>
              <a:t> — usually </a:t>
            </a:r>
            <a:r>
              <a:rPr lang="en-US" sz="2200" b="1" dirty="0"/>
              <a:t>1–2 days.</a:t>
            </a:r>
            <a:endParaRPr lang="en-US" sz="2200" dirty="0"/>
          </a:p>
          <a:p>
            <a:pPr>
              <a:lnSpc>
                <a:spcPct val="150000"/>
              </a:lnSpc>
            </a:pPr>
            <a:r>
              <a:rPr lang="en-US" sz="2200" b="1" dirty="0"/>
              <a:t>Most violent</a:t>
            </a:r>
            <a:r>
              <a:rPr lang="en-US" sz="2200" dirty="0"/>
              <a:t> period as tension is released.</a:t>
            </a:r>
          </a:p>
          <a:p>
            <a:pPr>
              <a:lnSpc>
                <a:spcPct val="150000"/>
              </a:lnSpc>
            </a:pPr>
            <a:r>
              <a:rPr lang="en-US" sz="2200" dirty="0"/>
              <a:t>Abuse may be </a:t>
            </a:r>
            <a:r>
              <a:rPr lang="en-US" sz="2200" b="1" dirty="0"/>
              <a:t>physical, sexual, emotional, or verbal.</a:t>
            </a:r>
            <a:endParaRPr lang="en-US" sz="2200" dirty="0"/>
          </a:p>
          <a:p>
            <a:pPr>
              <a:lnSpc>
                <a:spcPct val="150000"/>
              </a:lnSpc>
            </a:pPr>
            <a:r>
              <a:rPr lang="en-US" sz="2200" dirty="0"/>
              <a:t>Often triggered by an </a:t>
            </a:r>
            <a:r>
              <a:rPr lang="en-US" sz="2200" b="1" dirty="0"/>
              <a:t>external event</a:t>
            </a:r>
            <a:r>
              <a:rPr lang="en-US" sz="2200" dirty="0"/>
              <a:t> or the </a:t>
            </a:r>
            <a:r>
              <a:rPr lang="en-US" sz="2200" b="1" dirty="0"/>
              <a:t>abuser’s emotional state.</a:t>
            </a:r>
            <a:endParaRPr lang="en-US" sz="2200" dirty="0"/>
          </a:p>
          <a:p>
            <a:pPr>
              <a:lnSpc>
                <a:spcPct val="150000"/>
              </a:lnSpc>
            </a:pPr>
            <a:r>
              <a:rPr lang="en-US" sz="2200" dirty="0"/>
              <a:t>The abuser </a:t>
            </a:r>
            <a:r>
              <a:rPr lang="en-US" sz="2200" b="1" dirty="0"/>
              <a:t>blames the victim</a:t>
            </a:r>
            <a:r>
              <a:rPr lang="en-US" sz="2200" dirty="0"/>
              <a:t> for the violence.</a:t>
            </a:r>
          </a:p>
          <a:p>
            <a:pPr>
              <a:lnSpc>
                <a:spcPct val="150000"/>
              </a:lnSpc>
            </a:pPr>
            <a:r>
              <a:rPr lang="en-US" sz="2200" dirty="0"/>
              <a:t>The victim may </a:t>
            </a:r>
            <a:r>
              <a:rPr lang="en-US" sz="2200" b="1" dirty="0"/>
              <a:t>fight back, flee, or submit</a:t>
            </a:r>
            <a:r>
              <a:rPr lang="en-US" sz="2200" dirty="0"/>
              <a:t> to calm the situation.</a:t>
            </a:r>
          </a:p>
        </p:txBody>
      </p:sp>
    </p:spTree>
    <p:extLst>
      <p:ext uri="{BB962C8B-B14F-4D97-AF65-F5344CB8AC3E}">
        <p14:creationId xmlns:p14="http://schemas.microsoft.com/office/powerpoint/2010/main" val="4069232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0049A-2796-008C-93CB-D62723196BE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77E735D-856C-F357-950B-DF6A22196039}"/>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sp>
        <p:nvSpPr>
          <p:cNvPr id="8" name="TextBox 7">
            <a:extLst>
              <a:ext uri="{FF2B5EF4-FFF2-40B4-BE49-F238E27FC236}">
                <a16:creationId xmlns:a16="http://schemas.microsoft.com/office/drawing/2014/main" id="{21EDF4A7-48E9-2E16-2553-428232FA4C30}"/>
              </a:ext>
            </a:extLst>
          </p:cNvPr>
          <p:cNvSpPr txBox="1"/>
          <p:nvPr/>
        </p:nvSpPr>
        <p:spPr>
          <a:xfrm>
            <a:off x="3849221" y="1361746"/>
            <a:ext cx="6111688" cy="584775"/>
          </a:xfrm>
          <a:prstGeom prst="rect">
            <a:avLst/>
          </a:prstGeom>
          <a:noFill/>
        </p:spPr>
        <p:txBody>
          <a:bodyPr wrap="square">
            <a:spAutoFit/>
          </a:bodyPr>
          <a:lstStyle/>
          <a:p>
            <a:r>
              <a:rPr lang="en-US" sz="3200" b="1" dirty="0">
                <a:solidFill>
                  <a:srgbClr val="7030A0"/>
                </a:solidFill>
              </a:rPr>
              <a:t>The Cycle of Violence</a:t>
            </a:r>
            <a:endParaRPr lang="en-US" sz="3200" dirty="0"/>
          </a:p>
        </p:txBody>
      </p:sp>
      <p:sp>
        <p:nvSpPr>
          <p:cNvPr id="2" name="Rectangle 4">
            <a:extLst>
              <a:ext uri="{FF2B5EF4-FFF2-40B4-BE49-F238E27FC236}">
                <a16:creationId xmlns:a16="http://schemas.microsoft.com/office/drawing/2014/main" id="{975D1784-DE3E-D23B-8E82-16C875452A1E}"/>
              </a:ext>
            </a:extLst>
          </p:cNvPr>
          <p:cNvSpPr>
            <a:spLocks noGrp="1" noChangeArrowheads="1"/>
          </p:cNvSpPr>
          <p:nvPr>
            <p:ph idx="1"/>
          </p:nvPr>
        </p:nvSpPr>
        <p:spPr bwMode="auto">
          <a:xfrm>
            <a:off x="337078" y="2510374"/>
            <a:ext cx="11055123" cy="3444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000" b="1" dirty="0">
                <a:solidFill>
                  <a:srgbClr val="002060"/>
                </a:solidFill>
              </a:rPr>
              <a:t>C. Honeymoon Phase</a:t>
            </a:r>
          </a:p>
          <a:p>
            <a:pPr>
              <a:lnSpc>
                <a:spcPct val="150000"/>
              </a:lnSpc>
            </a:pPr>
            <a:r>
              <a:rPr lang="en-US" sz="2000" dirty="0"/>
              <a:t>The abuser feels </a:t>
            </a:r>
            <a:r>
              <a:rPr lang="en-US" sz="2000" b="1" dirty="0"/>
              <a:t>remorse or shame</a:t>
            </a:r>
            <a:r>
              <a:rPr lang="en-US" sz="2000" dirty="0"/>
              <a:t> and may apologize or justify their behavior.</a:t>
            </a:r>
          </a:p>
          <a:p>
            <a:pPr>
              <a:lnSpc>
                <a:spcPct val="150000"/>
              </a:lnSpc>
            </a:pPr>
            <a:r>
              <a:rPr lang="en-US" sz="2000" dirty="0"/>
              <a:t>Promises to </a:t>
            </a:r>
            <a:r>
              <a:rPr lang="en-US" sz="2000" b="1" dirty="0"/>
              <a:t>change</a:t>
            </a:r>
            <a:r>
              <a:rPr lang="en-US" sz="2000" dirty="0"/>
              <a:t> (e.g., quit drinking, be more attentive).</a:t>
            </a:r>
          </a:p>
          <a:p>
            <a:pPr>
              <a:lnSpc>
                <a:spcPct val="150000"/>
              </a:lnSpc>
            </a:pPr>
            <a:r>
              <a:rPr lang="en-US" sz="2000" dirty="0"/>
              <a:t>May display </a:t>
            </a:r>
            <a:r>
              <a:rPr lang="en-US" sz="2000" b="1" dirty="0"/>
              <a:t>affection and generosity</a:t>
            </a:r>
            <a:r>
              <a:rPr lang="en-US" sz="2000" dirty="0"/>
              <a:t> (gifts, flowers, romantic gestures).</a:t>
            </a:r>
          </a:p>
          <a:p>
            <a:pPr>
              <a:lnSpc>
                <a:spcPct val="150000"/>
              </a:lnSpc>
            </a:pPr>
            <a:r>
              <a:rPr lang="en-US" sz="2000" dirty="0"/>
              <a:t>The victim </a:t>
            </a:r>
            <a:r>
              <a:rPr lang="en-US" sz="2000" b="1" dirty="0"/>
              <a:t>forgives</a:t>
            </a:r>
            <a:r>
              <a:rPr lang="en-US" sz="2000" dirty="0"/>
              <a:t> and hopes the abuse will stop.</a:t>
            </a:r>
          </a:p>
          <a:p>
            <a:pPr>
              <a:lnSpc>
                <a:spcPct val="150000"/>
              </a:lnSpc>
            </a:pPr>
            <a:r>
              <a:rPr lang="en-US" sz="2000" b="1" dirty="0"/>
              <a:t>Temporary calm</a:t>
            </a:r>
            <a:r>
              <a:rPr lang="en-US" sz="2000" dirty="0"/>
              <a:t> and emotional closeness return—then tension starts again.</a:t>
            </a:r>
          </a:p>
        </p:txBody>
      </p:sp>
    </p:spTree>
    <p:extLst>
      <p:ext uri="{BB962C8B-B14F-4D97-AF65-F5344CB8AC3E}">
        <p14:creationId xmlns:p14="http://schemas.microsoft.com/office/powerpoint/2010/main" val="2602116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7C88-E6B1-7909-1F97-ECEC6C650CE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21830C8-8F77-A29D-4E5B-B12AC8E642FF}"/>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800" b="1" dirty="0">
                <a:solidFill>
                  <a:srgbClr val="C00000"/>
                </a:solidFill>
                <a:latin typeface="Agency FB" panose="020B0503020202020204" pitchFamily="34" charset="0"/>
              </a:rPr>
              <a:t>INTIMATE PARTNER VIOLENCE</a:t>
            </a:r>
          </a:p>
        </p:txBody>
      </p:sp>
      <p:sp>
        <p:nvSpPr>
          <p:cNvPr id="8" name="TextBox 7">
            <a:extLst>
              <a:ext uri="{FF2B5EF4-FFF2-40B4-BE49-F238E27FC236}">
                <a16:creationId xmlns:a16="http://schemas.microsoft.com/office/drawing/2014/main" id="{F8932345-0D73-6743-7690-E6B2513DB65D}"/>
              </a:ext>
            </a:extLst>
          </p:cNvPr>
          <p:cNvSpPr txBox="1"/>
          <p:nvPr/>
        </p:nvSpPr>
        <p:spPr>
          <a:xfrm>
            <a:off x="3849221" y="1361746"/>
            <a:ext cx="6111688" cy="584775"/>
          </a:xfrm>
          <a:prstGeom prst="rect">
            <a:avLst/>
          </a:prstGeom>
          <a:noFill/>
        </p:spPr>
        <p:txBody>
          <a:bodyPr wrap="square">
            <a:spAutoFit/>
          </a:bodyPr>
          <a:lstStyle/>
          <a:p>
            <a:r>
              <a:rPr lang="en-US" sz="3200" b="1" dirty="0">
                <a:solidFill>
                  <a:srgbClr val="7030A0"/>
                </a:solidFill>
              </a:rPr>
              <a:t>The Wheel of Violence</a:t>
            </a:r>
            <a:endParaRPr lang="en-US" sz="3200" dirty="0"/>
          </a:p>
        </p:txBody>
      </p:sp>
      <p:pic>
        <p:nvPicPr>
          <p:cNvPr id="5" name="Picture 4">
            <a:extLst>
              <a:ext uri="{FF2B5EF4-FFF2-40B4-BE49-F238E27FC236}">
                <a16:creationId xmlns:a16="http://schemas.microsoft.com/office/drawing/2014/main" id="{2C33C49A-7485-B435-787C-A6ADC6C865E7}"/>
              </a:ext>
            </a:extLst>
          </p:cNvPr>
          <p:cNvPicPr>
            <a:picLocks noChangeAspect="1"/>
          </p:cNvPicPr>
          <p:nvPr/>
        </p:nvPicPr>
        <p:blipFill>
          <a:blip r:embed="rId3"/>
          <a:stretch>
            <a:fillRect/>
          </a:stretch>
        </p:blipFill>
        <p:spPr>
          <a:xfrm>
            <a:off x="3106271" y="2138082"/>
            <a:ext cx="5661658" cy="4498471"/>
          </a:xfrm>
          <a:prstGeom prst="rect">
            <a:avLst/>
          </a:prstGeom>
        </p:spPr>
      </p:pic>
      <p:sp>
        <p:nvSpPr>
          <p:cNvPr id="7" name="TextBox 6">
            <a:extLst>
              <a:ext uri="{FF2B5EF4-FFF2-40B4-BE49-F238E27FC236}">
                <a16:creationId xmlns:a16="http://schemas.microsoft.com/office/drawing/2014/main" id="{72EB1B64-BD5A-AC7E-1733-33DB248AC1EB}"/>
              </a:ext>
            </a:extLst>
          </p:cNvPr>
          <p:cNvSpPr txBox="1"/>
          <p:nvPr/>
        </p:nvSpPr>
        <p:spPr>
          <a:xfrm>
            <a:off x="215152" y="2769816"/>
            <a:ext cx="4477870" cy="2117054"/>
          </a:xfrm>
          <a:prstGeom prst="rect">
            <a:avLst/>
          </a:prstGeom>
          <a:noFill/>
        </p:spPr>
        <p:txBody>
          <a:bodyPr wrap="square">
            <a:spAutoFit/>
          </a:bodyPr>
          <a:lstStyle/>
          <a:p>
            <a:pPr>
              <a:lnSpc>
                <a:spcPct val="150000"/>
              </a:lnSpc>
            </a:pPr>
            <a:r>
              <a:rPr lang="en-US" b="1" dirty="0">
                <a:solidFill>
                  <a:srgbClr val="FF0000"/>
                </a:solidFill>
              </a:rPr>
              <a:t>Eight Components of the Wheel</a:t>
            </a:r>
          </a:p>
          <a:p>
            <a:pPr>
              <a:lnSpc>
                <a:spcPct val="150000"/>
              </a:lnSpc>
            </a:pPr>
            <a:r>
              <a:rPr lang="en-US" b="1" dirty="0"/>
              <a:t>1- Using Coercion and Threats</a:t>
            </a:r>
            <a:endParaRPr lang="en-US" dirty="0"/>
          </a:p>
          <a:p>
            <a:pPr>
              <a:lnSpc>
                <a:spcPct val="150000"/>
              </a:lnSpc>
            </a:pPr>
            <a:r>
              <a:rPr lang="en-US" b="1" dirty="0"/>
              <a:t>2- Using Intimidation</a:t>
            </a:r>
            <a:endParaRPr lang="en-US" dirty="0"/>
          </a:p>
          <a:p>
            <a:pPr>
              <a:lnSpc>
                <a:spcPct val="150000"/>
              </a:lnSpc>
            </a:pPr>
            <a:r>
              <a:rPr lang="en-US" b="1" dirty="0"/>
              <a:t>3- Using Emotional Abuse</a:t>
            </a:r>
            <a:endParaRPr lang="en-US" dirty="0"/>
          </a:p>
          <a:p>
            <a:pPr>
              <a:lnSpc>
                <a:spcPct val="150000"/>
              </a:lnSpc>
            </a:pPr>
            <a:r>
              <a:rPr lang="en-US" b="1" dirty="0"/>
              <a:t>4- Using Isolation</a:t>
            </a:r>
            <a:endParaRPr lang="en-US" dirty="0"/>
          </a:p>
        </p:txBody>
      </p:sp>
      <p:sp>
        <p:nvSpPr>
          <p:cNvPr id="10" name="TextBox 9">
            <a:extLst>
              <a:ext uri="{FF2B5EF4-FFF2-40B4-BE49-F238E27FC236}">
                <a16:creationId xmlns:a16="http://schemas.microsoft.com/office/drawing/2014/main" id="{D91E2781-BAE1-F7CC-2880-5261135E1E91}"/>
              </a:ext>
            </a:extLst>
          </p:cNvPr>
          <p:cNvSpPr txBox="1"/>
          <p:nvPr/>
        </p:nvSpPr>
        <p:spPr>
          <a:xfrm>
            <a:off x="8915399" y="2918988"/>
            <a:ext cx="2998695" cy="2532553"/>
          </a:xfrm>
          <a:prstGeom prst="rect">
            <a:avLst/>
          </a:prstGeom>
          <a:noFill/>
        </p:spPr>
        <p:txBody>
          <a:bodyPr wrap="square">
            <a:spAutoFit/>
          </a:bodyPr>
          <a:lstStyle/>
          <a:p>
            <a:pPr>
              <a:lnSpc>
                <a:spcPct val="150000"/>
              </a:lnSpc>
            </a:pPr>
            <a:r>
              <a:rPr lang="en-US" b="1" dirty="0"/>
              <a:t>5- Minimizing, Denying, and Blaming</a:t>
            </a:r>
            <a:endParaRPr lang="en-US" dirty="0"/>
          </a:p>
          <a:p>
            <a:pPr>
              <a:lnSpc>
                <a:spcPct val="150000"/>
              </a:lnSpc>
            </a:pPr>
            <a:r>
              <a:rPr lang="en-US" b="1" dirty="0"/>
              <a:t>6- Using Children</a:t>
            </a:r>
            <a:endParaRPr lang="en-US" dirty="0"/>
          </a:p>
          <a:p>
            <a:pPr>
              <a:lnSpc>
                <a:spcPct val="150000"/>
              </a:lnSpc>
            </a:pPr>
            <a:r>
              <a:rPr lang="en-US" b="1" dirty="0"/>
              <a:t>7- Using Male Privilege</a:t>
            </a:r>
            <a:endParaRPr lang="en-US" dirty="0"/>
          </a:p>
          <a:p>
            <a:pPr>
              <a:lnSpc>
                <a:spcPct val="150000"/>
              </a:lnSpc>
            </a:pPr>
            <a:r>
              <a:rPr lang="en-US" b="1" dirty="0"/>
              <a:t>8- Using Economic Abuse</a:t>
            </a:r>
            <a:endParaRPr lang="en-US" dirty="0"/>
          </a:p>
        </p:txBody>
      </p:sp>
    </p:spTree>
    <p:extLst>
      <p:ext uri="{BB962C8B-B14F-4D97-AF65-F5344CB8AC3E}">
        <p14:creationId xmlns:p14="http://schemas.microsoft.com/office/powerpoint/2010/main" val="34505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15971-8062-46E4-A3F5-749338F43FE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2CAE5FE-DD6A-8730-2249-E3FF433395C3}"/>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INTIMATE PARTNER VIOLENCE</a:t>
            </a:r>
          </a:p>
        </p:txBody>
      </p:sp>
      <p:sp>
        <p:nvSpPr>
          <p:cNvPr id="8" name="TextBox 7">
            <a:extLst>
              <a:ext uri="{FF2B5EF4-FFF2-40B4-BE49-F238E27FC236}">
                <a16:creationId xmlns:a16="http://schemas.microsoft.com/office/drawing/2014/main" id="{82719E3B-D3D4-9FF6-34B1-98603F27DCB2}"/>
              </a:ext>
            </a:extLst>
          </p:cNvPr>
          <p:cNvSpPr txBox="1"/>
          <p:nvPr/>
        </p:nvSpPr>
        <p:spPr>
          <a:xfrm>
            <a:off x="954742" y="1388640"/>
            <a:ext cx="1003150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Lucida Sans"/>
                <a:ea typeface="+mn-ea"/>
                <a:cs typeface="Sakkal Majalla"/>
              </a:rPr>
              <a:t>Violence in Special Populations – </a:t>
            </a:r>
            <a:r>
              <a:rPr kumimoji="0" lang="en-US" sz="2000" b="1" i="0" u="none" strike="noStrike" kern="1200" cap="none" spc="0" normalizeH="0" baseline="0" noProof="0" dirty="0">
                <a:ln>
                  <a:noFill/>
                </a:ln>
                <a:solidFill>
                  <a:srgbClr val="FF0000"/>
                </a:solidFill>
                <a:effectLst/>
                <a:uLnTx/>
                <a:uFillTx/>
                <a:latin typeface="Lucida Sans"/>
                <a:ea typeface="+mn-ea"/>
                <a:cs typeface="Sakkal Majalla"/>
              </a:rPr>
              <a:t>Teens and Pregnant Women</a:t>
            </a:r>
            <a:endParaRPr kumimoji="0" lang="en-US" sz="2800" b="0" i="0" u="none" strike="noStrike" kern="1200" cap="none" spc="0" normalizeH="0" baseline="0" noProof="0" dirty="0">
              <a:ln>
                <a:noFill/>
              </a:ln>
              <a:solidFill>
                <a:srgbClr val="FF0000"/>
              </a:solidFill>
              <a:effectLst/>
              <a:uLnTx/>
              <a:uFillTx/>
              <a:latin typeface="Lucida Sans"/>
              <a:ea typeface="+mn-ea"/>
              <a:cs typeface="Sakkal Majalla"/>
            </a:endParaRPr>
          </a:p>
        </p:txBody>
      </p:sp>
      <p:sp>
        <p:nvSpPr>
          <p:cNvPr id="2" name="Rectangle 4">
            <a:extLst>
              <a:ext uri="{FF2B5EF4-FFF2-40B4-BE49-F238E27FC236}">
                <a16:creationId xmlns:a16="http://schemas.microsoft.com/office/drawing/2014/main" id="{3888ECB0-79FB-D403-F0B9-33CB4F6F2441}"/>
              </a:ext>
            </a:extLst>
          </p:cNvPr>
          <p:cNvSpPr>
            <a:spLocks noGrp="1" noChangeArrowheads="1"/>
          </p:cNvSpPr>
          <p:nvPr>
            <p:ph idx="1"/>
          </p:nvPr>
        </p:nvSpPr>
        <p:spPr bwMode="auto">
          <a:xfrm>
            <a:off x="390866" y="2083177"/>
            <a:ext cx="11361863" cy="4379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1600" b="1" dirty="0">
                <a:solidFill>
                  <a:srgbClr val="0070C0"/>
                </a:solidFill>
              </a:rPr>
              <a:t>1. Teen Dating Violence: </a:t>
            </a:r>
            <a:r>
              <a:rPr lang="en-US" sz="1600" dirty="0"/>
              <a:t>A pattern of </a:t>
            </a:r>
            <a:r>
              <a:rPr lang="en-US" sz="1600" b="1" dirty="0"/>
              <a:t>physical, sexual, psychological</a:t>
            </a:r>
            <a:r>
              <a:rPr lang="en-US" sz="1600" dirty="0"/>
              <a:t>, or </a:t>
            </a:r>
            <a:r>
              <a:rPr lang="en-US" sz="1600" b="1" dirty="0"/>
              <a:t>stalking</a:t>
            </a:r>
            <a:r>
              <a:rPr lang="en-US" sz="1600" dirty="0"/>
              <a:t> behaviors between teens in a </a:t>
            </a:r>
            <a:r>
              <a:rPr lang="en-US" sz="1600" b="1" dirty="0"/>
              <a:t>current or former</a:t>
            </a:r>
            <a:r>
              <a:rPr lang="en-US" sz="1600" dirty="0"/>
              <a:t> dating relationship.</a:t>
            </a:r>
          </a:p>
          <a:p>
            <a:pPr marL="631825">
              <a:lnSpc>
                <a:spcPct val="150000"/>
              </a:lnSpc>
            </a:pPr>
            <a:r>
              <a:rPr lang="en-US" sz="1600" dirty="0"/>
              <a:t>Can occur </a:t>
            </a:r>
            <a:r>
              <a:rPr lang="en-US" sz="1600" b="1" dirty="0"/>
              <a:t>in person or electronically</a:t>
            </a:r>
            <a:r>
              <a:rPr lang="en-US" sz="1600" dirty="0"/>
              <a:t> (e.g., social media, texting; </a:t>
            </a:r>
            <a:r>
              <a:rPr lang="en-US" sz="1600" i="1" dirty="0"/>
              <a:t>CDC, 2019)</a:t>
            </a:r>
          </a:p>
          <a:p>
            <a:pPr marL="0" indent="0">
              <a:lnSpc>
                <a:spcPct val="150000"/>
              </a:lnSpc>
              <a:buNone/>
            </a:pPr>
            <a:r>
              <a:rPr lang="en-US" sz="1600" b="1" dirty="0">
                <a:solidFill>
                  <a:srgbClr val="0070C0"/>
                </a:solidFill>
              </a:rPr>
              <a:t>2. Stalking: </a:t>
            </a:r>
            <a:r>
              <a:rPr lang="en-US" sz="1600" dirty="0"/>
              <a:t>A </a:t>
            </a:r>
            <a:r>
              <a:rPr lang="en-US" sz="1600" b="1" dirty="0"/>
              <a:t>pattern of repeated, unwanted attention, harassment, or contact</a:t>
            </a:r>
            <a:r>
              <a:rPr lang="en-US" sz="1600" dirty="0"/>
              <a:t> that causes fear in the victim.</a:t>
            </a:r>
          </a:p>
          <a:p>
            <a:pPr marL="685800">
              <a:lnSpc>
                <a:spcPct val="150000"/>
              </a:lnSpc>
            </a:pPr>
            <a:r>
              <a:rPr lang="en-US" sz="1600" b="1" dirty="0"/>
              <a:t>Forms of Cyberstalking include </a:t>
            </a:r>
            <a:r>
              <a:rPr lang="en-US" sz="1600" dirty="0"/>
              <a:t>Online harassment or threats, Unauthorized sharing of private photos or messages, Impersonation or social media abuse.</a:t>
            </a:r>
          </a:p>
          <a:p>
            <a:pPr marL="0" indent="0">
              <a:lnSpc>
                <a:spcPct val="150000"/>
              </a:lnSpc>
              <a:buNone/>
            </a:pPr>
            <a:r>
              <a:rPr lang="en-US" sz="1600" b="1" dirty="0">
                <a:solidFill>
                  <a:srgbClr val="0070C0"/>
                </a:solidFill>
              </a:rPr>
              <a:t>3. Violence During Pregnancy: </a:t>
            </a:r>
            <a:r>
              <a:rPr lang="en-US" sz="1600" dirty="0"/>
              <a:t>Intimate partner violence (IPV) during pregnancy includes </a:t>
            </a:r>
            <a:r>
              <a:rPr lang="en-US" sz="1600" b="1" dirty="0"/>
              <a:t>physical, sexual, or emotional abuse</a:t>
            </a:r>
            <a:r>
              <a:rPr lang="en-US" sz="1600" dirty="0"/>
              <a:t> directed toward a pregnant woman.</a:t>
            </a:r>
          </a:p>
          <a:p>
            <a:pPr marL="685800">
              <a:lnSpc>
                <a:spcPct val="150000"/>
              </a:lnSpc>
            </a:pPr>
            <a:r>
              <a:rPr lang="en-US" sz="1600" b="1" dirty="0"/>
              <a:t>Severe outcomes</a:t>
            </a:r>
            <a:r>
              <a:rPr lang="en-US" sz="1600" dirty="0"/>
              <a:t> include Depression, anxiety, and low self-esteem, </a:t>
            </a:r>
            <a:r>
              <a:rPr lang="en-US" sz="1600" b="1" dirty="0"/>
              <a:t>Preterm labor</a:t>
            </a:r>
            <a:r>
              <a:rPr lang="en-US" sz="1600" dirty="0"/>
              <a:t> and </a:t>
            </a:r>
            <a:r>
              <a:rPr lang="en-US" sz="1600" b="1" dirty="0"/>
              <a:t>low birth weight, Intrauterine growth retardation</a:t>
            </a:r>
            <a:r>
              <a:rPr lang="en-US" sz="1600" dirty="0"/>
              <a:t> and </a:t>
            </a:r>
            <a:r>
              <a:rPr lang="en-US" sz="1600" b="1" dirty="0"/>
              <a:t>neonatal complications.</a:t>
            </a:r>
            <a:endParaRPr lang="en-US" sz="1600" dirty="0"/>
          </a:p>
        </p:txBody>
      </p:sp>
    </p:spTree>
    <p:extLst>
      <p:ext uri="{BB962C8B-B14F-4D97-AF65-F5344CB8AC3E}">
        <p14:creationId xmlns:p14="http://schemas.microsoft.com/office/powerpoint/2010/main" val="33249824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04A3-8985-BEB4-124D-B20585033A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7B02D16-A9EF-F793-61B4-2B5FCE815C59}"/>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INTIMATE PARTNER VIOLENCE</a:t>
            </a:r>
          </a:p>
        </p:txBody>
      </p:sp>
      <p:sp>
        <p:nvSpPr>
          <p:cNvPr id="8" name="TextBox 7">
            <a:extLst>
              <a:ext uri="{FF2B5EF4-FFF2-40B4-BE49-F238E27FC236}">
                <a16:creationId xmlns:a16="http://schemas.microsoft.com/office/drawing/2014/main" id="{24A37A4B-F105-BCF6-82D5-09DB030E3C5F}"/>
              </a:ext>
            </a:extLst>
          </p:cNvPr>
          <p:cNvSpPr txBox="1"/>
          <p:nvPr/>
        </p:nvSpPr>
        <p:spPr>
          <a:xfrm>
            <a:off x="954742" y="1388640"/>
            <a:ext cx="1003150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Lucida Sans"/>
                <a:ea typeface="+mn-ea"/>
                <a:cs typeface="Sakkal Majalla"/>
              </a:rPr>
              <a:t>Batterer and Victim Characteristics</a:t>
            </a:r>
            <a:endParaRPr kumimoji="0" lang="en-US" sz="2800" b="0" i="0" u="none" strike="noStrike" kern="1200" cap="none" spc="0" normalizeH="0" baseline="0" noProof="0" dirty="0">
              <a:ln>
                <a:noFill/>
              </a:ln>
              <a:solidFill>
                <a:srgbClr val="FF0000"/>
              </a:solidFill>
              <a:effectLst/>
              <a:uLnTx/>
              <a:uFillTx/>
              <a:latin typeface="Lucida Sans"/>
              <a:ea typeface="+mn-ea"/>
              <a:cs typeface="Sakkal Majalla"/>
            </a:endParaRPr>
          </a:p>
        </p:txBody>
      </p:sp>
      <p:sp>
        <p:nvSpPr>
          <p:cNvPr id="5" name="Title 1">
            <a:extLst>
              <a:ext uri="{FF2B5EF4-FFF2-40B4-BE49-F238E27FC236}">
                <a16:creationId xmlns:a16="http://schemas.microsoft.com/office/drawing/2014/main" id="{86C466FA-3710-A312-F3C9-C2FB06B6DF34}"/>
              </a:ext>
            </a:extLst>
          </p:cNvPr>
          <p:cNvSpPr>
            <a:spLocks noGrp="1"/>
          </p:cNvSpPr>
          <p:nvPr>
            <p:ph type="title"/>
          </p:nvPr>
        </p:nvSpPr>
        <p:spPr>
          <a:xfrm>
            <a:off x="690283" y="2057400"/>
            <a:ext cx="10515600" cy="561136"/>
          </a:xfrm>
        </p:spPr>
        <p:txBody>
          <a:bodyPr>
            <a:normAutofit/>
          </a:bodyPr>
          <a:lstStyle/>
          <a:p>
            <a:r>
              <a:rPr lang="en-US" sz="3200" b="1" dirty="0">
                <a:solidFill>
                  <a:srgbClr val="C00000"/>
                </a:solidFill>
              </a:rPr>
              <a:t>Batterer Characteristics</a:t>
            </a:r>
          </a:p>
        </p:txBody>
      </p:sp>
      <p:sp>
        <p:nvSpPr>
          <p:cNvPr id="6" name="Content Placeholder 2">
            <a:extLst>
              <a:ext uri="{FF2B5EF4-FFF2-40B4-BE49-F238E27FC236}">
                <a16:creationId xmlns:a16="http://schemas.microsoft.com/office/drawing/2014/main" id="{CE3A18D7-F88C-9D1B-9261-89C27A5D419E}"/>
              </a:ext>
            </a:extLst>
          </p:cNvPr>
          <p:cNvSpPr>
            <a:spLocks noGrp="1"/>
          </p:cNvSpPr>
          <p:nvPr>
            <p:ph idx="1"/>
          </p:nvPr>
        </p:nvSpPr>
        <p:spPr>
          <a:xfrm>
            <a:off x="838200" y="2877670"/>
            <a:ext cx="3935506" cy="3265747"/>
          </a:xfrm>
        </p:spPr>
        <p:txBody>
          <a:bodyPr>
            <a:normAutofit fontScale="70000" lnSpcReduction="20000"/>
          </a:bodyPr>
          <a:lstStyle/>
          <a:p>
            <a:pPr>
              <a:lnSpc>
                <a:spcPct val="160000"/>
              </a:lnSpc>
            </a:pPr>
            <a:r>
              <a:rPr lang="en-US" sz="1800" dirty="0"/>
              <a:t>Low income</a:t>
            </a:r>
          </a:p>
          <a:p>
            <a:pPr>
              <a:lnSpc>
                <a:spcPct val="160000"/>
              </a:lnSpc>
            </a:pPr>
            <a:r>
              <a:rPr lang="en-US" sz="1800" dirty="0"/>
              <a:t>Low self-esteem</a:t>
            </a:r>
          </a:p>
          <a:p>
            <a:pPr>
              <a:lnSpc>
                <a:spcPct val="160000"/>
              </a:lnSpc>
            </a:pPr>
            <a:r>
              <a:rPr lang="en-US" sz="1800" dirty="0"/>
              <a:t>Low academic achievement</a:t>
            </a:r>
          </a:p>
          <a:p>
            <a:pPr>
              <a:lnSpc>
                <a:spcPct val="160000"/>
              </a:lnSpc>
            </a:pPr>
            <a:r>
              <a:rPr lang="en-US" sz="1800" dirty="0"/>
              <a:t>Heavy alcohol and drug use</a:t>
            </a:r>
          </a:p>
          <a:p>
            <a:pPr>
              <a:lnSpc>
                <a:spcPct val="160000"/>
              </a:lnSpc>
            </a:pPr>
            <a:r>
              <a:rPr lang="en-US" sz="1800" dirty="0"/>
              <a:t>Depression</a:t>
            </a:r>
          </a:p>
          <a:p>
            <a:pPr>
              <a:lnSpc>
                <a:spcPct val="160000"/>
              </a:lnSpc>
            </a:pPr>
            <a:r>
              <a:rPr lang="en-US" sz="1800" dirty="0"/>
              <a:t>Anger and hostility</a:t>
            </a:r>
          </a:p>
          <a:p>
            <a:pPr>
              <a:lnSpc>
                <a:spcPct val="160000"/>
              </a:lnSpc>
            </a:pPr>
            <a:r>
              <a:rPr lang="en-US" sz="1800" dirty="0"/>
              <a:t>Personality disorders</a:t>
            </a:r>
            <a:endParaRPr lang="ar-BH" sz="1800" dirty="0"/>
          </a:p>
          <a:p>
            <a:pPr>
              <a:lnSpc>
                <a:spcPct val="160000"/>
              </a:lnSpc>
            </a:pPr>
            <a:r>
              <a:rPr lang="en-US" sz="1800" dirty="0"/>
              <a:t>Prior history of being physically abusive</a:t>
            </a:r>
          </a:p>
          <a:p>
            <a:pPr>
              <a:lnSpc>
                <a:spcPct val="160000"/>
              </a:lnSpc>
            </a:pPr>
            <a:endParaRPr lang="en-US" sz="1800" dirty="0"/>
          </a:p>
        </p:txBody>
      </p:sp>
      <p:sp>
        <p:nvSpPr>
          <p:cNvPr id="7" name="TextBox 6">
            <a:extLst>
              <a:ext uri="{FF2B5EF4-FFF2-40B4-BE49-F238E27FC236}">
                <a16:creationId xmlns:a16="http://schemas.microsoft.com/office/drawing/2014/main" id="{8302440D-A5A2-61A0-A6DE-C49B3B931855}"/>
              </a:ext>
            </a:extLst>
          </p:cNvPr>
          <p:cNvSpPr txBox="1"/>
          <p:nvPr/>
        </p:nvSpPr>
        <p:spPr>
          <a:xfrm>
            <a:off x="5136777" y="2850776"/>
            <a:ext cx="6641094" cy="33637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Having few friends and being isolated from other people</a:t>
            </a:r>
          </a:p>
          <a:p>
            <a:pPr marL="285750" indent="-285750">
              <a:lnSpc>
                <a:spcPct val="150000"/>
              </a:lnSpc>
              <a:buFont typeface="Arial" panose="020B0604020202020204" pitchFamily="34" charset="0"/>
              <a:buChar char="•"/>
            </a:pPr>
            <a:r>
              <a:rPr lang="en-US" dirty="0"/>
              <a:t>Unemployment</a:t>
            </a:r>
          </a:p>
          <a:p>
            <a:pPr marL="285750" indent="-285750">
              <a:lnSpc>
                <a:spcPct val="150000"/>
              </a:lnSpc>
              <a:buFont typeface="Arial" panose="020B0604020202020204" pitchFamily="34" charset="0"/>
              <a:buChar char="•"/>
            </a:pPr>
            <a:r>
              <a:rPr lang="en-US" dirty="0"/>
              <a:t>Emotional dependence and insecurity</a:t>
            </a:r>
          </a:p>
          <a:p>
            <a:pPr marL="285750" indent="-285750">
              <a:lnSpc>
                <a:spcPct val="150000"/>
              </a:lnSpc>
              <a:buFont typeface="Arial" panose="020B0604020202020204" pitchFamily="34" charset="0"/>
              <a:buChar char="•"/>
            </a:pPr>
            <a:r>
              <a:rPr lang="en-US" dirty="0"/>
              <a:t>Belief in strict gender roles (e.g., male dominance and aggression in relationships)</a:t>
            </a:r>
          </a:p>
          <a:p>
            <a:pPr marL="285750" indent="-285750">
              <a:lnSpc>
                <a:spcPct val="150000"/>
              </a:lnSpc>
              <a:buFont typeface="Arial" panose="020B0604020202020204" pitchFamily="34" charset="0"/>
              <a:buChar char="•"/>
            </a:pPr>
            <a:r>
              <a:rPr lang="en-US" dirty="0"/>
              <a:t>Desire for power and control in relationships</a:t>
            </a:r>
          </a:p>
          <a:p>
            <a:pPr marL="285750" indent="-285750">
              <a:lnSpc>
                <a:spcPct val="150000"/>
              </a:lnSpc>
              <a:buFont typeface="Arial" panose="020B0604020202020204" pitchFamily="34" charset="0"/>
              <a:buChar char="•"/>
            </a:pPr>
            <a:r>
              <a:rPr lang="en-US" dirty="0"/>
              <a:t>Being a victim of physical or psychological abuse</a:t>
            </a:r>
          </a:p>
        </p:txBody>
      </p:sp>
    </p:spTree>
    <p:extLst>
      <p:ext uri="{BB962C8B-B14F-4D97-AF65-F5344CB8AC3E}">
        <p14:creationId xmlns:p14="http://schemas.microsoft.com/office/powerpoint/2010/main" val="18983670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31C1-F0D5-411B-E2AD-C3F2F8D71FA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A5EF246-CBE3-731D-872C-FCCBB6F3D9F5}"/>
              </a:ext>
            </a:extLst>
          </p:cNvPr>
          <p:cNvSpPr txBox="1">
            <a:spLocks/>
          </p:cNvSpPr>
          <p:nvPr/>
        </p:nvSpPr>
        <p:spPr>
          <a:xfrm>
            <a:off x="1154705" y="80010"/>
            <a:ext cx="9144000" cy="12290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INTIMATE PARTNER VIOLENCE</a:t>
            </a:r>
          </a:p>
        </p:txBody>
      </p:sp>
      <p:sp>
        <p:nvSpPr>
          <p:cNvPr id="8" name="TextBox 7">
            <a:extLst>
              <a:ext uri="{FF2B5EF4-FFF2-40B4-BE49-F238E27FC236}">
                <a16:creationId xmlns:a16="http://schemas.microsoft.com/office/drawing/2014/main" id="{63ED855B-B37B-424F-A4CB-7CB7BD4D2456}"/>
              </a:ext>
            </a:extLst>
          </p:cNvPr>
          <p:cNvSpPr txBox="1"/>
          <p:nvPr/>
        </p:nvSpPr>
        <p:spPr>
          <a:xfrm>
            <a:off x="954742" y="1388640"/>
            <a:ext cx="10031506"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Lucida Sans"/>
                <a:ea typeface="+mn-ea"/>
                <a:cs typeface="Sakkal Majalla"/>
              </a:rPr>
              <a:t>Batterer and Victim Characteristics</a:t>
            </a:r>
            <a:endParaRPr kumimoji="0" lang="en-US" sz="2800" b="0" i="0" u="none" strike="noStrike" kern="1200" cap="none" spc="0" normalizeH="0" baseline="0" noProof="0" dirty="0">
              <a:ln>
                <a:noFill/>
              </a:ln>
              <a:solidFill>
                <a:srgbClr val="FF0000"/>
              </a:solidFill>
              <a:effectLst/>
              <a:uLnTx/>
              <a:uFillTx/>
              <a:latin typeface="Lucida Sans"/>
              <a:ea typeface="+mn-ea"/>
              <a:cs typeface="Sakkal Majalla"/>
            </a:endParaRPr>
          </a:p>
        </p:txBody>
      </p:sp>
      <p:sp>
        <p:nvSpPr>
          <p:cNvPr id="5" name="Title 1">
            <a:extLst>
              <a:ext uri="{FF2B5EF4-FFF2-40B4-BE49-F238E27FC236}">
                <a16:creationId xmlns:a16="http://schemas.microsoft.com/office/drawing/2014/main" id="{47D86087-8606-F06E-4854-5D0ADF31C044}"/>
              </a:ext>
            </a:extLst>
          </p:cNvPr>
          <p:cNvSpPr>
            <a:spLocks noGrp="1"/>
          </p:cNvSpPr>
          <p:nvPr>
            <p:ph type="title"/>
          </p:nvPr>
        </p:nvSpPr>
        <p:spPr>
          <a:xfrm>
            <a:off x="690283" y="2057400"/>
            <a:ext cx="10515600" cy="561136"/>
          </a:xfrm>
        </p:spPr>
        <p:txBody>
          <a:bodyPr>
            <a:normAutofit/>
          </a:bodyPr>
          <a:lstStyle/>
          <a:p>
            <a:r>
              <a:rPr lang="en-US" sz="3200" b="1" dirty="0">
                <a:solidFill>
                  <a:srgbClr val="C00000"/>
                </a:solidFill>
              </a:rPr>
              <a:t>Victim Characteristics</a:t>
            </a:r>
          </a:p>
        </p:txBody>
      </p:sp>
      <p:sp>
        <p:nvSpPr>
          <p:cNvPr id="9" name="Content Placeholder 2">
            <a:extLst>
              <a:ext uri="{FF2B5EF4-FFF2-40B4-BE49-F238E27FC236}">
                <a16:creationId xmlns:a16="http://schemas.microsoft.com/office/drawing/2014/main" id="{866B79BA-4D55-6758-57F7-5752C70EA64C}"/>
              </a:ext>
            </a:extLst>
          </p:cNvPr>
          <p:cNvSpPr txBox="1">
            <a:spLocks/>
          </p:cNvSpPr>
          <p:nvPr/>
        </p:nvSpPr>
        <p:spPr>
          <a:xfrm>
            <a:off x="497542" y="2904565"/>
            <a:ext cx="4034117" cy="327239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t>A prior history of IPV</a:t>
            </a:r>
          </a:p>
          <a:p>
            <a:pPr>
              <a:lnSpc>
                <a:spcPct val="150000"/>
              </a:lnSpc>
            </a:pPr>
            <a:r>
              <a:rPr lang="en-US"/>
              <a:t>Being female</a:t>
            </a:r>
          </a:p>
          <a:p>
            <a:pPr>
              <a:lnSpc>
                <a:spcPct val="150000"/>
              </a:lnSpc>
            </a:pPr>
            <a:r>
              <a:rPr lang="en-US"/>
              <a:t>Young age, especially if pregnant</a:t>
            </a:r>
          </a:p>
          <a:p>
            <a:pPr>
              <a:lnSpc>
                <a:spcPct val="150000"/>
              </a:lnSpc>
            </a:pPr>
            <a:r>
              <a:rPr lang="en-US"/>
              <a:t>From low-income household</a:t>
            </a:r>
          </a:p>
          <a:p>
            <a:pPr>
              <a:lnSpc>
                <a:spcPct val="150000"/>
              </a:lnSpc>
            </a:pPr>
            <a:r>
              <a:rPr lang="en-US"/>
              <a:t>Witnessing or experiencing violence as a child</a:t>
            </a:r>
          </a:p>
          <a:p>
            <a:pPr>
              <a:lnSpc>
                <a:spcPct val="150000"/>
              </a:lnSpc>
            </a:pPr>
            <a:r>
              <a:rPr lang="en-US"/>
              <a:t>Lower education level</a:t>
            </a:r>
          </a:p>
          <a:p>
            <a:pPr>
              <a:lnSpc>
                <a:spcPct val="150000"/>
              </a:lnSpc>
            </a:pPr>
            <a:r>
              <a:rPr lang="en-US"/>
              <a:t>Unemployment</a:t>
            </a:r>
            <a:endParaRPr lang="en-US" dirty="0"/>
          </a:p>
        </p:txBody>
      </p:sp>
      <p:sp>
        <p:nvSpPr>
          <p:cNvPr id="10" name="TextBox 9">
            <a:extLst>
              <a:ext uri="{FF2B5EF4-FFF2-40B4-BE49-F238E27FC236}">
                <a16:creationId xmlns:a16="http://schemas.microsoft.com/office/drawing/2014/main" id="{6D44B31B-55A4-50FB-11A6-8D4319FFC3DD}"/>
              </a:ext>
            </a:extLst>
          </p:cNvPr>
          <p:cNvSpPr txBox="1"/>
          <p:nvPr/>
        </p:nvSpPr>
        <p:spPr>
          <a:xfrm>
            <a:off x="5325038" y="3250659"/>
            <a:ext cx="6498438" cy="25327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Single parent with children or separated/divorced/previously widowed</a:t>
            </a:r>
          </a:p>
          <a:p>
            <a:pPr marL="285750" indent="-285750">
              <a:lnSpc>
                <a:spcPct val="150000"/>
              </a:lnSpc>
              <a:buFont typeface="Arial" panose="020B0604020202020204" pitchFamily="34" charset="0"/>
              <a:buChar char="•"/>
            </a:pPr>
            <a:r>
              <a:rPr lang="en-US" dirty="0"/>
              <a:t>Having a greater education level than their partner</a:t>
            </a:r>
          </a:p>
          <a:p>
            <a:pPr marL="285750" indent="-285750">
              <a:lnSpc>
                <a:spcPct val="150000"/>
              </a:lnSpc>
              <a:buFont typeface="Arial" panose="020B0604020202020204" pitchFamily="34" charset="0"/>
              <a:buChar char="•"/>
            </a:pPr>
            <a:r>
              <a:rPr lang="en-US" dirty="0"/>
              <a:t>For women, being disabled</a:t>
            </a:r>
          </a:p>
          <a:p>
            <a:pPr marL="285750" indent="-285750">
              <a:lnSpc>
                <a:spcPct val="150000"/>
              </a:lnSpc>
              <a:buFont typeface="Arial" panose="020B0604020202020204" pitchFamily="34" charset="0"/>
              <a:buChar char="•"/>
            </a:pPr>
            <a:r>
              <a:rPr lang="en-US" dirty="0"/>
              <a:t>For women, having a verbally abusive, jealous, or possessive partner</a:t>
            </a:r>
          </a:p>
        </p:txBody>
      </p:sp>
    </p:spTree>
    <p:extLst>
      <p:ext uri="{BB962C8B-B14F-4D97-AF65-F5344CB8AC3E}">
        <p14:creationId xmlns:p14="http://schemas.microsoft.com/office/powerpoint/2010/main" val="3288937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3DAD86CA-8235-409B-982B-5E7A033E2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9F234FBA-3501-47B4-AE0C-AA4AFBC8F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Rectangle 1036">
            <a:extLst>
              <a:ext uri="{FF2B5EF4-FFF2-40B4-BE49-F238E27FC236}">
                <a16:creationId xmlns:a16="http://schemas.microsoft.com/office/drawing/2014/main" id="{B5EF893B-0491-416E-9D33-BADE96007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Elder Abuse: Mistreatment of older adults is steadily on the rise |  Milwaukee Independent">
            <a:extLst>
              <a:ext uri="{FF2B5EF4-FFF2-40B4-BE49-F238E27FC236}">
                <a16:creationId xmlns:a16="http://schemas.microsoft.com/office/drawing/2014/main" id="{8E5307D1-A811-ADA1-D954-59E81B765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164" b="18666"/>
          <a:stretch>
            <a:fillRect/>
          </a:stretch>
        </p:blipFill>
        <p:spPr bwMode="auto">
          <a:xfrm>
            <a:off x="838200" y="754148"/>
            <a:ext cx="10515600" cy="4079109"/>
          </a:xfrm>
          <a:prstGeom prst="rect">
            <a:avLst/>
          </a:prstGeom>
          <a:noFill/>
          <a:extLst>
            <a:ext uri="{909E8E84-426E-40DD-AFC4-6F175D3DCCD1}">
              <a14:hiddenFill xmlns:a14="http://schemas.microsoft.com/office/drawing/2010/main">
                <a:solidFill>
                  <a:srgbClr val="FFFFFF"/>
                </a:solidFill>
              </a14:hiddenFill>
            </a:ext>
          </a:extLst>
        </p:spPr>
      </p:pic>
      <p:cxnSp>
        <p:nvCxnSpPr>
          <p:cNvPr id="1039" name="Straight Connector 1038">
            <a:extLst>
              <a:ext uri="{FF2B5EF4-FFF2-40B4-BE49-F238E27FC236}">
                <a16:creationId xmlns:a16="http://schemas.microsoft.com/office/drawing/2014/main" id="{469F4FF8-F8B0-4630-BA1B-0D8B324CD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30F98D9-807A-48BF-C4DD-53A9EC687D02}"/>
              </a:ext>
            </a:extLst>
          </p:cNvPr>
          <p:cNvSpPr txBox="1"/>
          <p:nvPr/>
        </p:nvSpPr>
        <p:spPr>
          <a:xfrm>
            <a:off x="833718" y="5100028"/>
            <a:ext cx="10502153" cy="646331"/>
          </a:xfrm>
          <a:prstGeom prst="rect">
            <a:avLst/>
          </a:prstGeom>
          <a:noFill/>
        </p:spPr>
        <p:txBody>
          <a:bodyPr wrap="square">
            <a:spAutoFit/>
          </a:bodyPr>
          <a:lstStyle/>
          <a:p>
            <a:pPr algn="ctr"/>
            <a:r>
              <a:rPr lang="en-US" sz="3600" b="1" dirty="0">
                <a:solidFill>
                  <a:srgbClr val="C00000"/>
                </a:solidFill>
                <a:latin typeface="Agency FB" panose="020B0503020202020204" pitchFamily="34" charset="0"/>
              </a:rPr>
              <a:t>Elder Abuse and Maltreatment of Older Adults</a:t>
            </a:r>
          </a:p>
        </p:txBody>
      </p:sp>
    </p:spTree>
    <p:extLst>
      <p:ext uri="{BB962C8B-B14F-4D97-AF65-F5344CB8AC3E}">
        <p14:creationId xmlns:p14="http://schemas.microsoft.com/office/powerpoint/2010/main" val="9474169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2F7CF-09B2-3EB2-E8C4-A36050C5301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00BE439-5B1C-4FE8-93AF-1407424AB03F}"/>
              </a:ext>
            </a:extLst>
          </p:cNvPr>
          <p:cNvSpPr txBox="1">
            <a:spLocks/>
          </p:cNvSpPr>
          <p:nvPr/>
        </p:nvSpPr>
        <p:spPr>
          <a:xfrm>
            <a:off x="1154705" y="80010"/>
            <a:ext cx="9144000" cy="122900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Elder Abuse and Maltreatment of Older Adults</a:t>
            </a:r>
          </a:p>
        </p:txBody>
      </p:sp>
      <p:sp>
        <p:nvSpPr>
          <p:cNvPr id="2" name="Rectangle 4">
            <a:extLst>
              <a:ext uri="{FF2B5EF4-FFF2-40B4-BE49-F238E27FC236}">
                <a16:creationId xmlns:a16="http://schemas.microsoft.com/office/drawing/2014/main" id="{CF142A45-7DA9-FD8D-CC56-F8671642C955}"/>
              </a:ext>
            </a:extLst>
          </p:cNvPr>
          <p:cNvSpPr>
            <a:spLocks noGrp="1" noChangeArrowheads="1"/>
          </p:cNvSpPr>
          <p:nvPr>
            <p:ph idx="1"/>
          </p:nvPr>
        </p:nvSpPr>
        <p:spPr bwMode="auto">
          <a:xfrm>
            <a:off x="363972" y="1719298"/>
            <a:ext cx="11361863" cy="381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200000"/>
              </a:lnSpc>
              <a:buNone/>
            </a:pPr>
            <a:r>
              <a:rPr lang="en-US" sz="2000" dirty="0"/>
              <a:t>“An intentional act or failure to act by a caregiver or another person in a relationship involving an expectation of trust that causes or creates a risk of harm to an older adult.” </a:t>
            </a:r>
            <a:r>
              <a:rPr lang="en-US" sz="2000" i="1" dirty="0"/>
              <a:t>(CDC, 2019)</a:t>
            </a:r>
          </a:p>
          <a:p>
            <a:pPr>
              <a:lnSpc>
                <a:spcPct val="200000"/>
              </a:lnSpc>
            </a:pPr>
            <a:r>
              <a:rPr lang="en-US" sz="2000" dirty="0"/>
              <a:t>Types of Elder Abuse include </a:t>
            </a:r>
            <a:r>
              <a:rPr lang="en-US" sz="2000" b="1" dirty="0"/>
              <a:t>Physical Abuse, Sexual Abuse, Emotional/Psychological Abuse, Neglect, Passive Neglect</a:t>
            </a:r>
            <a:r>
              <a:rPr lang="en-US" sz="2000" dirty="0"/>
              <a:t>, </a:t>
            </a:r>
            <a:r>
              <a:rPr lang="en-US" sz="2000" b="1" dirty="0"/>
              <a:t>Financial/Material Exploitation, and Confinement or Willful Deprivation</a:t>
            </a:r>
            <a:endParaRPr lang="en-US" sz="2000" i="1" dirty="0"/>
          </a:p>
        </p:txBody>
      </p:sp>
    </p:spTree>
    <p:extLst>
      <p:ext uri="{BB962C8B-B14F-4D97-AF65-F5344CB8AC3E}">
        <p14:creationId xmlns:p14="http://schemas.microsoft.com/office/powerpoint/2010/main" val="3598792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0A265-3A44-165B-6AFF-B10ED8036D2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59256F4-04CF-6E16-ED85-02C3DE51CBE5}"/>
              </a:ext>
            </a:extLst>
          </p:cNvPr>
          <p:cNvSpPr txBox="1">
            <a:spLocks/>
          </p:cNvSpPr>
          <p:nvPr/>
        </p:nvSpPr>
        <p:spPr>
          <a:xfrm>
            <a:off x="1154705" y="80010"/>
            <a:ext cx="9144000" cy="122900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Elder Abuse and Maltreatment of Older Adults</a:t>
            </a:r>
          </a:p>
        </p:txBody>
      </p:sp>
      <p:sp>
        <p:nvSpPr>
          <p:cNvPr id="2" name="Rectangle 4">
            <a:extLst>
              <a:ext uri="{FF2B5EF4-FFF2-40B4-BE49-F238E27FC236}">
                <a16:creationId xmlns:a16="http://schemas.microsoft.com/office/drawing/2014/main" id="{873B78BC-5615-42A1-3F8E-5E50A35AA0B2}"/>
              </a:ext>
            </a:extLst>
          </p:cNvPr>
          <p:cNvSpPr>
            <a:spLocks noGrp="1" noChangeArrowheads="1"/>
          </p:cNvSpPr>
          <p:nvPr>
            <p:ph idx="1"/>
          </p:nvPr>
        </p:nvSpPr>
        <p:spPr bwMode="auto">
          <a:xfrm>
            <a:off x="565678" y="1562374"/>
            <a:ext cx="11361863" cy="4829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000" b="1" dirty="0">
                <a:solidFill>
                  <a:srgbClr val="7030A0"/>
                </a:solidFill>
              </a:rPr>
              <a:t>Prevalence:</a:t>
            </a:r>
          </a:p>
          <a:p>
            <a:pPr>
              <a:lnSpc>
                <a:spcPct val="150000"/>
              </a:lnSpc>
            </a:pPr>
            <a:r>
              <a:rPr lang="en-US" sz="2000" b="1" dirty="0"/>
              <a:t>1 in 10</a:t>
            </a:r>
            <a:r>
              <a:rPr lang="en-US" sz="2000" dirty="0"/>
              <a:t> adults over age 65 experience some form of abuse.</a:t>
            </a:r>
            <a:br>
              <a:rPr lang="en-US" sz="2000" dirty="0"/>
            </a:br>
            <a:r>
              <a:rPr lang="en-US" sz="2000" i="1" dirty="0"/>
              <a:t>(USDOJ, 2018a)</a:t>
            </a:r>
            <a:endParaRPr lang="en-US" sz="2000" dirty="0"/>
          </a:p>
          <a:p>
            <a:pPr>
              <a:lnSpc>
                <a:spcPct val="150000"/>
              </a:lnSpc>
            </a:pPr>
            <a:r>
              <a:rPr lang="en-US" sz="2000" b="1" dirty="0"/>
              <a:t>1 in 6</a:t>
            </a:r>
            <a:r>
              <a:rPr lang="en-US" sz="2000" dirty="0"/>
              <a:t> adults over age 60 globally experience abuse.</a:t>
            </a:r>
            <a:br>
              <a:rPr lang="en-US" sz="2000" dirty="0"/>
            </a:br>
            <a:r>
              <a:rPr lang="en-US" sz="2000" i="1" dirty="0"/>
              <a:t>(WHO, 2020b)</a:t>
            </a:r>
            <a:endParaRPr lang="en-US" sz="2000" dirty="0"/>
          </a:p>
          <a:p>
            <a:pPr>
              <a:lnSpc>
                <a:spcPct val="150000"/>
              </a:lnSpc>
            </a:pPr>
            <a:r>
              <a:rPr lang="en-US" sz="2000" dirty="0"/>
              <a:t>About </a:t>
            </a:r>
            <a:r>
              <a:rPr lang="en-US" sz="2000" b="1" dirty="0"/>
              <a:t>two-thirds</a:t>
            </a:r>
            <a:r>
              <a:rPr lang="en-US" sz="2000" dirty="0"/>
              <a:t> of victims are </a:t>
            </a:r>
            <a:r>
              <a:rPr lang="en-US" sz="2000" b="1" dirty="0"/>
              <a:t>women</a:t>
            </a:r>
            <a:r>
              <a:rPr lang="en-US" sz="2000" dirty="0"/>
              <a:t>.</a:t>
            </a:r>
          </a:p>
          <a:p>
            <a:pPr>
              <a:lnSpc>
                <a:spcPct val="150000"/>
              </a:lnSpc>
            </a:pPr>
            <a:r>
              <a:rPr lang="en-US" sz="2000" dirty="0"/>
              <a:t>Nearly </a:t>
            </a:r>
            <a:r>
              <a:rPr lang="en-US" sz="2000" b="1" dirty="0"/>
              <a:t>half</a:t>
            </a:r>
            <a:r>
              <a:rPr lang="en-US" sz="2000" dirty="0"/>
              <a:t> of victims have </a:t>
            </a:r>
            <a:r>
              <a:rPr lang="en-US" sz="2000" b="1" dirty="0"/>
              <a:t>dementia</a:t>
            </a:r>
            <a:r>
              <a:rPr lang="en-US" sz="2000" dirty="0"/>
              <a:t>.</a:t>
            </a:r>
          </a:p>
          <a:p>
            <a:pPr>
              <a:lnSpc>
                <a:spcPct val="150000"/>
              </a:lnSpc>
            </a:pPr>
            <a:r>
              <a:rPr lang="en-US" sz="2000" b="1" dirty="0"/>
              <a:t>Neglect</a:t>
            </a:r>
            <a:r>
              <a:rPr lang="en-US" sz="2000" dirty="0"/>
              <a:t> is the most commonly reported form, followed by </a:t>
            </a:r>
            <a:r>
              <a:rPr lang="en-US" sz="2000" b="1" dirty="0"/>
              <a:t>financial exploitation</a:t>
            </a:r>
            <a:r>
              <a:rPr lang="en-US" sz="2000" dirty="0"/>
              <a:t> and </a:t>
            </a:r>
            <a:r>
              <a:rPr lang="en-US" sz="2000" b="1" dirty="0"/>
              <a:t>emotional abuse</a:t>
            </a:r>
            <a:r>
              <a:rPr lang="en-US" sz="2000" dirty="0"/>
              <a:t>.</a:t>
            </a:r>
          </a:p>
        </p:txBody>
      </p:sp>
    </p:spTree>
    <p:extLst>
      <p:ext uri="{BB962C8B-B14F-4D97-AF65-F5344CB8AC3E}">
        <p14:creationId xmlns:p14="http://schemas.microsoft.com/office/powerpoint/2010/main" val="6573138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Violence Prevention Program">
            <a:extLst>
              <a:ext uri="{FF2B5EF4-FFF2-40B4-BE49-F238E27FC236}">
                <a16:creationId xmlns:a16="http://schemas.microsoft.com/office/drawing/2014/main" id="{2EE51BF0-034D-CCBF-CA9E-5E78808F9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8328" y="1404257"/>
            <a:ext cx="4020114" cy="462983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E864E3F0-386B-3882-9363-DF1542F1ED99}"/>
              </a:ext>
            </a:extLst>
          </p:cNvPr>
          <p:cNvSpPr txBox="1">
            <a:spLocks/>
          </p:cNvSpPr>
          <p:nvPr/>
        </p:nvSpPr>
        <p:spPr>
          <a:xfrm>
            <a:off x="845422" y="2177752"/>
            <a:ext cx="5125072" cy="3456566"/>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LEVELS OF PREVENTION: </a:t>
            </a:r>
          </a:p>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006600"/>
                </a:solidFill>
                <a:effectLst/>
                <a:uLnTx/>
                <a:uFillTx/>
                <a:latin typeface="Agency FB" panose="020B0503020202020204" pitchFamily="34" charset="0"/>
                <a:ea typeface="+mj-ea"/>
                <a:cs typeface="Sakkal Majalla"/>
              </a:rPr>
              <a:t>CRISIS INTERVENTION AND FAMILY AND INTIMATE PARTNER (IP)</a:t>
            </a:r>
          </a:p>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006600"/>
                </a:solidFill>
                <a:effectLst/>
                <a:uLnTx/>
                <a:uFillTx/>
                <a:latin typeface="Agency FB" panose="020B0503020202020204" pitchFamily="34" charset="0"/>
                <a:ea typeface="+mj-ea"/>
                <a:cs typeface="Sakkal Majalla"/>
              </a:rPr>
              <a:t>VIOLENCE</a:t>
            </a:r>
          </a:p>
        </p:txBody>
      </p:sp>
    </p:spTree>
    <p:extLst>
      <p:ext uri="{BB962C8B-B14F-4D97-AF65-F5344CB8AC3E}">
        <p14:creationId xmlns:p14="http://schemas.microsoft.com/office/powerpoint/2010/main" val="19397049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48519-1F19-A9DA-A30F-532AC3CE83E9}"/>
            </a:ext>
          </a:extLst>
        </p:cNvPr>
        <p:cNvGrpSpPr/>
        <p:nvPr/>
      </p:nvGrpSpPr>
      <p:grpSpPr>
        <a:xfrm>
          <a:off x="0" y="0"/>
          <a:ext cx="0" cy="0"/>
          <a:chOff x="0" y="0"/>
          <a:chExt cx="0" cy="0"/>
        </a:xfrm>
      </p:grpSpPr>
      <p:pic>
        <p:nvPicPr>
          <p:cNvPr id="3074" name="Picture 2" descr="Violence Prevention Program">
            <a:extLst>
              <a:ext uri="{FF2B5EF4-FFF2-40B4-BE49-F238E27FC236}">
                <a16:creationId xmlns:a16="http://schemas.microsoft.com/office/drawing/2014/main" id="{5DB99E47-7E78-AE0B-BEFE-65F3FA7CE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8453" y="2447364"/>
            <a:ext cx="2968429" cy="325418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4F77EB3F-CEF5-2D3C-20BA-F6E1D81FA903}"/>
              </a:ext>
            </a:extLst>
          </p:cNvPr>
          <p:cNvSpPr txBox="1">
            <a:spLocks/>
          </p:cNvSpPr>
          <p:nvPr/>
        </p:nvSpPr>
        <p:spPr>
          <a:xfrm>
            <a:off x="1006787" y="188259"/>
            <a:ext cx="6093260" cy="86061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LEVELS OF PREVENTION</a:t>
            </a:r>
          </a:p>
        </p:txBody>
      </p:sp>
      <p:pic>
        <p:nvPicPr>
          <p:cNvPr id="3" name="Picture 2">
            <a:extLst>
              <a:ext uri="{FF2B5EF4-FFF2-40B4-BE49-F238E27FC236}">
                <a16:creationId xmlns:a16="http://schemas.microsoft.com/office/drawing/2014/main" id="{26E79E75-8B44-8163-836D-221354985958}"/>
              </a:ext>
            </a:extLst>
          </p:cNvPr>
          <p:cNvPicPr>
            <a:picLocks noChangeAspect="1"/>
          </p:cNvPicPr>
          <p:nvPr/>
        </p:nvPicPr>
        <p:blipFill>
          <a:blip r:embed="rId3"/>
          <a:stretch>
            <a:fillRect/>
          </a:stretch>
        </p:blipFill>
        <p:spPr>
          <a:xfrm>
            <a:off x="500858" y="1307755"/>
            <a:ext cx="7379118" cy="5379850"/>
          </a:xfrm>
          <a:prstGeom prst="rect">
            <a:avLst/>
          </a:prstGeom>
        </p:spPr>
      </p:pic>
    </p:spTree>
    <p:extLst>
      <p:ext uri="{BB962C8B-B14F-4D97-AF65-F5344CB8AC3E}">
        <p14:creationId xmlns:p14="http://schemas.microsoft.com/office/powerpoint/2010/main" val="856401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DD48-F2FC-FC30-F26F-81BA8C483FE9}"/>
            </a:ext>
          </a:extLst>
        </p:cNvPr>
        <p:cNvGrpSpPr/>
        <p:nvPr/>
      </p:nvGrpSpPr>
      <p:grpSpPr>
        <a:xfrm>
          <a:off x="0" y="0"/>
          <a:ext cx="0" cy="0"/>
          <a:chOff x="0" y="0"/>
          <a:chExt cx="0" cy="0"/>
        </a:xfrm>
      </p:grpSpPr>
      <p:pic>
        <p:nvPicPr>
          <p:cNvPr id="3074" name="Picture 2" descr="Violence Prevention Program">
            <a:extLst>
              <a:ext uri="{FF2B5EF4-FFF2-40B4-BE49-F238E27FC236}">
                <a16:creationId xmlns:a16="http://schemas.microsoft.com/office/drawing/2014/main" id="{D2891BA6-F56E-FDD9-1895-F55A6A35F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3824" y="0"/>
            <a:ext cx="1098176" cy="120389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E7574BFB-AD6E-EC5C-E436-7DA9448CDECF}"/>
              </a:ext>
            </a:extLst>
          </p:cNvPr>
          <p:cNvSpPr txBox="1">
            <a:spLocks/>
          </p:cNvSpPr>
          <p:nvPr/>
        </p:nvSpPr>
        <p:spPr>
          <a:xfrm>
            <a:off x="1006787" y="188259"/>
            <a:ext cx="6093260" cy="86061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LEVELS OF PREVENTION</a:t>
            </a:r>
          </a:p>
        </p:txBody>
      </p:sp>
      <p:sp>
        <p:nvSpPr>
          <p:cNvPr id="2" name="Rectangle 4">
            <a:extLst>
              <a:ext uri="{FF2B5EF4-FFF2-40B4-BE49-F238E27FC236}">
                <a16:creationId xmlns:a16="http://schemas.microsoft.com/office/drawing/2014/main" id="{29D68615-18DD-03EE-FE3F-31F66FD85F92}"/>
              </a:ext>
            </a:extLst>
          </p:cNvPr>
          <p:cNvSpPr>
            <a:spLocks noGrp="1" noChangeArrowheads="1"/>
          </p:cNvSpPr>
          <p:nvPr>
            <p:ph idx="1"/>
          </p:nvPr>
        </p:nvSpPr>
        <p:spPr bwMode="auto">
          <a:xfrm>
            <a:off x="565678" y="1434134"/>
            <a:ext cx="11388757" cy="5086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000" b="1" dirty="0">
                <a:solidFill>
                  <a:srgbClr val="006600"/>
                </a:solidFill>
              </a:rPr>
              <a:t>A) Primary Prevention </a:t>
            </a:r>
            <a:r>
              <a:rPr lang="en-US" sz="2000" b="1" dirty="0"/>
              <a:t>– Stop Violence Before It Starts</a:t>
            </a:r>
          </a:p>
          <a:p>
            <a:pPr>
              <a:lnSpc>
                <a:spcPct val="150000"/>
              </a:lnSpc>
            </a:pPr>
            <a:r>
              <a:rPr lang="en-US" sz="2000" b="1" dirty="0"/>
              <a:t>Goal:</a:t>
            </a:r>
            <a:r>
              <a:rPr lang="en-US" sz="2000" dirty="0"/>
              <a:t> Prevent violence from occurring.</a:t>
            </a:r>
          </a:p>
          <a:p>
            <a:pPr>
              <a:lnSpc>
                <a:spcPct val="150000"/>
              </a:lnSpc>
            </a:pPr>
            <a:r>
              <a:rPr lang="en-US" sz="2000" b="1" dirty="0"/>
              <a:t>Focus:</a:t>
            </a:r>
            <a:r>
              <a:rPr lang="en-US" sz="2000" dirty="0"/>
              <a:t> Promote health, prevent crises, and strengthen individuals/families.</a:t>
            </a:r>
          </a:p>
          <a:p>
            <a:pPr marL="0" indent="0">
              <a:lnSpc>
                <a:spcPct val="150000"/>
              </a:lnSpc>
              <a:buNone/>
            </a:pPr>
            <a:r>
              <a:rPr lang="en-US" sz="2000" b="1" dirty="0">
                <a:solidFill>
                  <a:srgbClr val="FF0000"/>
                </a:solidFill>
              </a:rPr>
              <a:t>Nursing Role:</a:t>
            </a:r>
            <a:endParaRPr lang="en-US" sz="2000" dirty="0">
              <a:solidFill>
                <a:srgbClr val="FF0000"/>
              </a:solidFill>
            </a:endParaRPr>
          </a:p>
          <a:p>
            <a:pPr>
              <a:lnSpc>
                <a:spcPct val="150000"/>
              </a:lnSpc>
            </a:pPr>
            <a:r>
              <a:rPr lang="en-US" sz="2000" dirty="0"/>
              <a:t>Promote </a:t>
            </a:r>
            <a:r>
              <a:rPr lang="en-US" sz="2000" b="1" dirty="0"/>
              <a:t>positive relationships</a:t>
            </a:r>
            <a:r>
              <a:rPr lang="en-US" sz="2000" dirty="0"/>
              <a:t>, </a:t>
            </a:r>
            <a:r>
              <a:rPr lang="en-US" sz="2000" b="1" dirty="0"/>
              <a:t>parenting</a:t>
            </a:r>
            <a:r>
              <a:rPr lang="en-US" sz="2000" dirty="0"/>
              <a:t>, and </a:t>
            </a:r>
            <a:r>
              <a:rPr lang="en-US" sz="2000" b="1" dirty="0"/>
              <a:t>communication skills</a:t>
            </a:r>
            <a:r>
              <a:rPr lang="en-US" sz="2000" dirty="0"/>
              <a:t>.</a:t>
            </a:r>
          </a:p>
          <a:p>
            <a:pPr>
              <a:lnSpc>
                <a:spcPct val="150000"/>
              </a:lnSpc>
            </a:pPr>
            <a:r>
              <a:rPr lang="en-US" sz="2000" dirty="0"/>
              <a:t>Build </a:t>
            </a:r>
            <a:r>
              <a:rPr lang="en-US" sz="2000" b="1" dirty="0"/>
              <a:t>self-esteem</a:t>
            </a:r>
            <a:r>
              <a:rPr lang="en-US" sz="2000" dirty="0"/>
              <a:t> and </a:t>
            </a:r>
            <a:r>
              <a:rPr lang="en-US" sz="2000" b="1" dirty="0"/>
              <a:t>empower families</a:t>
            </a:r>
            <a:r>
              <a:rPr lang="en-US" sz="2000" dirty="0"/>
              <a:t> to reduce stressors (e.g., poverty).</a:t>
            </a:r>
          </a:p>
          <a:p>
            <a:pPr>
              <a:lnSpc>
                <a:spcPct val="150000"/>
              </a:lnSpc>
            </a:pPr>
            <a:r>
              <a:rPr lang="en-US" sz="2000" dirty="0"/>
              <a:t>Conduct </a:t>
            </a:r>
            <a:r>
              <a:rPr lang="en-US" sz="2000" b="1" dirty="0"/>
              <a:t>home visiting programs</a:t>
            </a:r>
            <a:r>
              <a:rPr lang="en-US" sz="2000" dirty="0"/>
              <a:t> (e.g., </a:t>
            </a:r>
            <a:r>
              <a:rPr lang="en-US" sz="2000" i="1" dirty="0"/>
              <a:t>Nurse Family Partnership</a:t>
            </a:r>
            <a:r>
              <a:rPr lang="en-US" sz="2000" dirty="0"/>
              <a:t>) to support at-risk mothers and prevent child abuse.</a:t>
            </a:r>
          </a:p>
          <a:p>
            <a:pPr>
              <a:lnSpc>
                <a:spcPct val="150000"/>
              </a:lnSpc>
            </a:pPr>
            <a:r>
              <a:rPr lang="en-US" sz="2000" dirty="0"/>
              <a:t>Foster </a:t>
            </a:r>
            <a:r>
              <a:rPr lang="en-US" sz="2000" b="1" dirty="0"/>
              <a:t>healthy neighborhoods and community empowerment</a:t>
            </a:r>
            <a:r>
              <a:rPr lang="en-US" sz="2000" dirty="0"/>
              <a:t> for safety.</a:t>
            </a:r>
          </a:p>
        </p:txBody>
      </p:sp>
    </p:spTree>
    <p:extLst>
      <p:ext uri="{BB962C8B-B14F-4D97-AF65-F5344CB8AC3E}">
        <p14:creationId xmlns:p14="http://schemas.microsoft.com/office/powerpoint/2010/main" val="13665883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16D66-22EB-3B3F-E894-BB1C92EE027F}"/>
            </a:ext>
          </a:extLst>
        </p:cNvPr>
        <p:cNvGrpSpPr/>
        <p:nvPr/>
      </p:nvGrpSpPr>
      <p:grpSpPr>
        <a:xfrm>
          <a:off x="0" y="0"/>
          <a:ext cx="0" cy="0"/>
          <a:chOff x="0" y="0"/>
          <a:chExt cx="0" cy="0"/>
        </a:xfrm>
      </p:grpSpPr>
      <p:pic>
        <p:nvPicPr>
          <p:cNvPr id="3074" name="Picture 2" descr="Violence Prevention Program">
            <a:extLst>
              <a:ext uri="{FF2B5EF4-FFF2-40B4-BE49-F238E27FC236}">
                <a16:creationId xmlns:a16="http://schemas.microsoft.com/office/drawing/2014/main" id="{BADF4218-6FD7-C758-6FC9-6C129F98F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3824" y="0"/>
            <a:ext cx="1098176" cy="120389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6B1992E0-379B-3300-4B74-A604389E77B5}"/>
              </a:ext>
            </a:extLst>
          </p:cNvPr>
          <p:cNvSpPr txBox="1">
            <a:spLocks/>
          </p:cNvSpPr>
          <p:nvPr/>
        </p:nvSpPr>
        <p:spPr>
          <a:xfrm>
            <a:off x="1006787" y="188259"/>
            <a:ext cx="6093260" cy="86061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LEVELS OF PREVENTION</a:t>
            </a:r>
          </a:p>
        </p:txBody>
      </p:sp>
      <p:sp>
        <p:nvSpPr>
          <p:cNvPr id="2" name="Rectangle 4">
            <a:extLst>
              <a:ext uri="{FF2B5EF4-FFF2-40B4-BE49-F238E27FC236}">
                <a16:creationId xmlns:a16="http://schemas.microsoft.com/office/drawing/2014/main" id="{2798FCC7-E444-5545-47DA-4F27DA048277}"/>
              </a:ext>
            </a:extLst>
          </p:cNvPr>
          <p:cNvSpPr>
            <a:spLocks noGrp="1" noChangeArrowheads="1"/>
          </p:cNvSpPr>
          <p:nvPr>
            <p:ph idx="1"/>
          </p:nvPr>
        </p:nvSpPr>
        <p:spPr bwMode="auto">
          <a:xfrm>
            <a:off x="565678" y="1439421"/>
            <a:ext cx="11388757" cy="5075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000" b="1" dirty="0">
                <a:solidFill>
                  <a:srgbClr val="006600"/>
                </a:solidFill>
              </a:rPr>
              <a:t>B) Secondary Prevention </a:t>
            </a:r>
            <a:r>
              <a:rPr lang="en-US" sz="2000" b="1" dirty="0"/>
              <a:t>– Early Detection &amp; Rapid Response</a:t>
            </a:r>
          </a:p>
          <a:p>
            <a:pPr>
              <a:lnSpc>
                <a:spcPct val="150000"/>
              </a:lnSpc>
            </a:pPr>
            <a:r>
              <a:rPr lang="en-US" sz="2000" b="1" dirty="0"/>
              <a:t>Goal:</a:t>
            </a:r>
            <a:r>
              <a:rPr lang="en-US" sz="2000" dirty="0"/>
              <a:t> Minimize harm and prevent further violence.</a:t>
            </a:r>
          </a:p>
          <a:p>
            <a:pPr>
              <a:lnSpc>
                <a:spcPct val="150000"/>
              </a:lnSpc>
            </a:pPr>
            <a:r>
              <a:rPr lang="en-US" sz="2000" b="1" dirty="0"/>
              <a:t>Focus:</a:t>
            </a:r>
            <a:r>
              <a:rPr lang="en-US" sz="2000" dirty="0"/>
              <a:t> Early diagnosis, prompt intervention, and crisis resolution.</a:t>
            </a:r>
          </a:p>
          <a:p>
            <a:pPr marL="0" indent="0">
              <a:lnSpc>
                <a:spcPct val="150000"/>
              </a:lnSpc>
              <a:buNone/>
            </a:pPr>
            <a:r>
              <a:rPr lang="en-US" sz="1800" b="1" dirty="0">
                <a:solidFill>
                  <a:srgbClr val="FF0000"/>
                </a:solidFill>
              </a:rPr>
              <a:t>Nursing Role:</a:t>
            </a:r>
          </a:p>
          <a:p>
            <a:pPr>
              <a:lnSpc>
                <a:spcPct val="100000"/>
              </a:lnSpc>
            </a:pPr>
            <a:r>
              <a:rPr lang="en-US" sz="2000" dirty="0"/>
              <a:t>Build rapport and </a:t>
            </a:r>
            <a:r>
              <a:rPr lang="en-US" sz="2000" b="1" dirty="0"/>
              <a:t>assess for lethality</a:t>
            </a:r>
            <a:r>
              <a:rPr lang="en-US" sz="2000" dirty="0"/>
              <a:t>.</a:t>
            </a:r>
          </a:p>
          <a:p>
            <a:pPr>
              <a:lnSpc>
                <a:spcPct val="100000"/>
              </a:lnSpc>
            </a:pPr>
            <a:r>
              <a:rPr lang="en-US" sz="2000" dirty="0"/>
              <a:t>Apply </a:t>
            </a:r>
            <a:r>
              <a:rPr lang="en-US" sz="2000" b="1" dirty="0"/>
              <a:t>crisis intervention process</a:t>
            </a:r>
            <a:r>
              <a:rPr lang="en-US" sz="2000" dirty="0"/>
              <a:t> (James &amp; Gilliland, 2017):</a:t>
            </a:r>
          </a:p>
          <a:p>
            <a:pPr marL="457200" lvl="1">
              <a:lnSpc>
                <a:spcPct val="100000"/>
              </a:lnSpc>
            </a:pPr>
            <a:r>
              <a:rPr lang="en-US" sz="1800" dirty="0"/>
              <a:t>Establish rapport, Assess problem and lethality, Identify major problems, Deal with feelings, Explore coping strategies, Develop action plan, Follow up and plan for future crises</a:t>
            </a:r>
          </a:p>
          <a:p>
            <a:pPr>
              <a:lnSpc>
                <a:spcPct val="100000"/>
              </a:lnSpc>
            </a:pPr>
            <a:r>
              <a:rPr lang="en-US" sz="2000" b="1" dirty="0"/>
              <a:t>Report suspected abuse</a:t>
            </a:r>
            <a:r>
              <a:rPr lang="en-US" sz="2000" dirty="0"/>
              <a:t> (child, elder, or vulnerable adult) — mandated by law.</a:t>
            </a:r>
          </a:p>
          <a:p>
            <a:pPr>
              <a:lnSpc>
                <a:spcPct val="100000"/>
              </a:lnSpc>
            </a:pPr>
            <a:r>
              <a:rPr lang="en-US" sz="2000" dirty="0"/>
              <a:t>Maintain </a:t>
            </a:r>
            <a:r>
              <a:rPr lang="en-US" sz="2000" b="1" dirty="0"/>
              <a:t>confidentiality</a:t>
            </a:r>
            <a:r>
              <a:rPr lang="en-US" sz="2000" dirty="0"/>
              <a:t>, </a:t>
            </a:r>
            <a:r>
              <a:rPr lang="en-US" sz="2000" b="1" dirty="0"/>
              <a:t>validate experiences</a:t>
            </a:r>
            <a:r>
              <a:rPr lang="en-US" sz="2000" dirty="0"/>
              <a:t>, and </a:t>
            </a:r>
            <a:r>
              <a:rPr lang="en-US" sz="2000" b="1" dirty="0"/>
              <a:t>refer</a:t>
            </a:r>
            <a:r>
              <a:rPr lang="en-US" sz="2000" dirty="0"/>
              <a:t> to community services.</a:t>
            </a:r>
          </a:p>
          <a:p>
            <a:pPr>
              <a:lnSpc>
                <a:spcPct val="100000"/>
              </a:lnSpc>
            </a:pPr>
            <a:r>
              <a:rPr lang="en-US" sz="2000" dirty="0"/>
              <a:t>Promote a </a:t>
            </a:r>
            <a:r>
              <a:rPr lang="en-US" sz="2000" b="1" dirty="0"/>
              <a:t>culture of safety</a:t>
            </a:r>
            <a:r>
              <a:rPr lang="en-US" sz="2000" dirty="0"/>
              <a:t> (QSEN standards).</a:t>
            </a:r>
          </a:p>
        </p:txBody>
      </p:sp>
    </p:spTree>
    <p:extLst>
      <p:ext uri="{BB962C8B-B14F-4D97-AF65-F5344CB8AC3E}">
        <p14:creationId xmlns:p14="http://schemas.microsoft.com/office/powerpoint/2010/main" val="13327825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E2DE-129F-4FD0-D442-5892D54CCD49}"/>
            </a:ext>
          </a:extLst>
        </p:cNvPr>
        <p:cNvGrpSpPr/>
        <p:nvPr/>
      </p:nvGrpSpPr>
      <p:grpSpPr>
        <a:xfrm>
          <a:off x="0" y="0"/>
          <a:ext cx="0" cy="0"/>
          <a:chOff x="0" y="0"/>
          <a:chExt cx="0" cy="0"/>
        </a:xfrm>
      </p:grpSpPr>
      <p:pic>
        <p:nvPicPr>
          <p:cNvPr id="3074" name="Picture 2" descr="Violence Prevention Program">
            <a:extLst>
              <a:ext uri="{FF2B5EF4-FFF2-40B4-BE49-F238E27FC236}">
                <a16:creationId xmlns:a16="http://schemas.microsoft.com/office/drawing/2014/main" id="{85BA3628-1D77-76C5-BD84-F55589E99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3824" y="0"/>
            <a:ext cx="1098176" cy="120389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42E8A3A2-E2DD-6569-0DC8-FBF4F7F276A9}"/>
              </a:ext>
            </a:extLst>
          </p:cNvPr>
          <p:cNvSpPr txBox="1">
            <a:spLocks/>
          </p:cNvSpPr>
          <p:nvPr/>
        </p:nvSpPr>
        <p:spPr>
          <a:xfrm>
            <a:off x="1006787" y="188259"/>
            <a:ext cx="6093260" cy="860612"/>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C00000"/>
                </a:solidFill>
                <a:effectLst/>
                <a:uLnTx/>
                <a:uFillTx/>
                <a:latin typeface="Agency FB" panose="020B0503020202020204" pitchFamily="34" charset="0"/>
                <a:ea typeface="+mj-ea"/>
                <a:cs typeface="Sakkal Majalla"/>
              </a:rPr>
              <a:t>LEVELS OF PREVENTION</a:t>
            </a:r>
          </a:p>
        </p:txBody>
      </p:sp>
      <p:sp>
        <p:nvSpPr>
          <p:cNvPr id="2" name="Rectangle 4">
            <a:extLst>
              <a:ext uri="{FF2B5EF4-FFF2-40B4-BE49-F238E27FC236}">
                <a16:creationId xmlns:a16="http://schemas.microsoft.com/office/drawing/2014/main" id="{D4B9DE3C-B941-16B4-33D6-8738CBCF68FC}"/>
              </a:ext>
            </a:extLst>
          </p:cNvPr>
          <p:cNvSpPr>
            <a:spLocks noGrp="1" noChangeArrowheads="1"/>
          </p:cNvSpPr>
          <p:nvPr>
            <p:ph idx="1"/>
          </p:nvPr>
        </p:nvSpPr>
        <p:spPr bwMode="auto">
          <a:xfrm>
            <a:off x="565678" y="1507389"/>
            <a:ext cx="11388757"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000" b="1" dirty="0">
                <a:solidFill>
                  <a:srgbClr val="006600"/>
                </a:solidFill>
              </a:rPr>
              <a:t>C) Tertiary Prevention </a:t>
            </a:r>
            <a:r>
              <a:rPr lang="en-US" sz="2000" b="1" dirty="0"/>
              <a:t>– Healing and Rehabilitation</a:t>
            </a:r>
          </a:p>
          <a:p>
            <a:pPr>
              <a:lnSpc>
                <a:spcPct val="150000"/>
              </a:lnSpc>
            </a:pPr>
            <a:r>
              <a:rPr lang="en-US" sz="2000" b="1" dirty="0"/>
              <a:t>Goal:</a:t>
            </a:r>
            <a:r>
              <a:rPr lang="en-US" sz="2000" dirty="0"/>
              <a:t> Restore health, prevent recurrence, and promote recovery.</a:t>
            </a:r>
          </a:p>
          <a:p>
            <a:pPr>
              <a:lnSpc>
                <a:spcPct val="150000"/>
              </a:lnSpc>
            </a:pPr>
            <a:r>
              <a:rPr lang="en-US" sz="2000" b="1" dirty="0"/>
              <a:t>Focus:</a:t>
            </a:r>
            <a:r>
              <a:rPr lang="en-US" sz="2000" dirty="0"/>
              <a:t> Long-term rehabilitation and family growth after violence.</a:t>
            </a:r>
          </a:p>
          <a:p>
            <a:pPr marL="0" indent="0">
              <a:lnSpc>
                <a:spcPct val="150000"/>
              </a:lnSpc>
              <a:buNone/>
            </a:pPr>
            <a:r>
              <a:rPr lang="en-US" sz="2000" b="1" dirty="0">
                <a:solidFill>
                  <a:srgbClr val="FF0000"/>
                </a:solidFill>
              </a:rPr>
              <a:t>Nursing Role:</a:t>
            </a:r>
            <a:endParaRPr lang="en-US" sz="2000" dirty="0">
              <a:solidFill>
                <a:srgbClr val="FF0000"/>
              </a:solidFill>
            </a:endParaRPr>
          </a:p>
          <a:p>
            <a:pPr>
              <a:lnSpc>
                <a:spcPct val="100000"/>
              </a:lnSpc>
            </a:pPr>
            <a:r>
              <a:rPr lang="en-US" sz="2000" dirty="0"/>
              <a:t>Support </a:t>
            </a:r>
            <a:r>
              <a:rPr lang="en-US" sz="2000" b="1" dirty="0"/>
              <a:t>victims</a:t>
            </a:r>
            <a:r>
              <a:rPr lang="en-US" sz="2000" dirty="0"/>
              <a:t>, </a:t>
            </a:r>
            <a:r>
              <a:rPr lang="en-US" sz="2000" b="1" dirty="0"/>
              <a:t>families</a:t>
            </a:r>
            <a:r>
              <a:rPr lang="en-US" sz="2000" dirty="0"/>
              <a:t>, and even </a:t>
            </a:r>
            <a:r>
              <a:rPr lang="en-US" sz="2000" b="1" dirty="0"/>
              <a:t>offenders</a:t>
            </a:r>
            <a:r>
              <a:rPr lang="en-US" sz="2000" dirty="0"/>
              <a:t> as appropriate.</a:t>
            </a:r>
          </a:p>
          <a:p>
            <a:pPr>
              <a:lnSpc>
                <a:spcPct val="100000"/>
              </a:lnSpc>
            </a:pPr>
            <a:r>
              <a:rPr lang="en-US" sz="2000" dirty="0"/>
              <a:t>Provide </a:t>
            </a:r>
            <a:r>
              <a:rPr lang="en-US" sz="2000" b="1" dirty="0"/>
              <a:t>counseling</a:t>
            </a:r>
            <a:r>
              <a:rPr lang="en-US" sz="2000" dirty="0"/>
              <a:t>, </a:t>
            </a:r>
            <a:r>
              <a:rPr lang="en-US" sz="2000" b="1" dirty="0"/>
              <a:t>rehabilitation</a:t>
            </a:r>
            <a:r>
              <a:rPr lang="en-US" sz="2000" dirty="0"/>
              <a:t>, and </a:t>
            </a:r>
            <a:r>
              <a:rPr lang="en-US" sz="2000" b="1" dirty="0"/>
              <a:t>social reintegration</a:t>
            </a:r>
            <a:r>
              <a:rPr lang="en-US" sz="2000" dirty="0"/>
              <a:t> services.</a:t>
            </a:r>
          </a:p>
          <a:p>
            <a:pPr>
              <a:lnSpc>
                <a:spcPct val="100000"/>
              </a:lnSpc>
            </a:pPr>
            <a:r>
              <a:rPr lang="en-US" sz="2000" dirty="0"/>
              <a:t>Continue </a:t>
            </a:r>
            <a:r>
              <a:rPr lang="en-US" sz="2000" b="1" dirty="0"/>
              <a:t>referrals</a:t>
            </a:r>
            <a:r>
              <a:rPr lang="en-US" sz="2000" dirty="0"/>
              <a:t> started during secondary prevention.</a:t>
            </a:r>
          </a:p>
          <a:p>
            <a:pPr>
              <a:lnSpc>
                <a:spcPct val="100000"/>
              </a:lnSpc>
            </a:pPr>
            <a:r>
              <a:rPr lang="en-US" sz="2000" dirty="0"/>
              <a:t>Address </a:t>
            </a:r>
            <a:r>
              <a:rPr lang="en-US" sz="2000" b="1" dirty="0"/>
              <a:t>family stress</a:t>
            </a:r>
            <a:r>
              <a:rPr lang="en-US" sz="2000" dirty="0"/>
              <a:t> due to incarceration or separation.</a:t>
            </a:r>
          </a:p>
          <a:p>
            <a:pPr>
              <a:lnSpc>
                <a:spcPct val="100000"/>
              </a:lnSpc>
            </a:pPr>
            <a:r>
              <a:rPr lang="en-US" sz="2000" dirty="0"/>
              <a:t>Support </a:t>
            </a:r>
            <a:r>
              <a:rPr lang="en-US" sz="2000" b="1" dirty="0"/>
              <a:t>children and caregivers</a:t>
            </a:r>
            <a:r>
              <a:rPr lang="en-US" sz="2000" dirty="0"/>
              <a:t> in managing ongoing emotional or legal challenges.</a:t>
            </a:r>
          </a:p>
          <a:p>
            <a:pPr>
              <a:lnSpc>
                <a:spcPct val="100000"/>
              </a:lnSpc>
            </a:pPr>
            <a:r>
              <a:rPr lang="en-US" sz="2000" dirty="0"/>
              <a:t>Understand the </a:t>
            </a:r>
            <a:r>
              <a:rPr lang="en-US" sz="2000" b="1" dirty="0"/>
              <a:t>complex dynamics</a:t>
            </a:r>
            <a:r>
              <a:rPr lang="en-US" sz="2000" dirty="0"/>
              <a:t> of victim–perpetrator relationships.</a:t>
            </a:r>
          </a:p>
        </p:txBody>
      </p:sp>
    </p:spTree>
    <p:extLst>
      <p:ext uri="{BB962C8B-B14F-4D97-AF65-F5344CB8AC3E}">
        <p14:creationId xmlns:p14="http://schemas.microsoft.com/office/powerpoint/2010/main" val="2446738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2276-D55D-E625-6B0F-6277EA00F01C}"/>
              </a:ext>
            </a:extLst>
          </p:cNvPr>
          <p:cNvSpPr>
            <a:spLocks noGrp="1"/>
          </p:cNvSpPr>
          <p:nvPr>
            <p:ph type="title"/>
          </p:nvPr>
        </p:nvSpPr>
        <p:spPr>
          <a:xfrm>
            <a:off x="1481667" y="342548"/>
            <a:ext cx="10515600" cy="706438"/>
          </a:xfrm>
        </p:spPr>
        <p:txBody>
          <a:bodyPr/>
          <a:lstStyle/>
          <a:p>
            <a:r>
              <a:rPr lang="en-US" b="1" dirty="0"/>
              <a:t>References</a:t>
            </a:r>
          </a:p>
        </p:txBody>
      </p:sp>
      <p:sp>
        <p:nvSpPr>
          <p:cNvPr id="3" name="Content Placeholder 2">
            <a:extLst>
              <a:ext uri="{FF2B5EF4-FFF2-40B4-BE49-F238E27FC236}">
                <a16:creationId xmlns:a16="http://schemas.microsoft.com/office/drawing/2014/main" id="{226B850C-46DF-3AEA-7642-70B8E5CB4290}"/>
              </a:ext>
            </a:extLst>
          </p:cNvPr>
          <p:cNvSpPr>
            <a:spLocks noGrp="1"/>
          </p:cNvSpPr>
          <p:nvPr>
            <p:ph idx="1"/>
          </p:nvPr>
        </p:nvSpPr>
        <p:spPr>
          <a:xfrm>
            <a:off x="1201649" y="2277533"/>
            <a:ext cx="9675813" cy="2311400"/>
          </a:xfrm>
        </p:spPr>
        <p:txBody>
          <a:bodyPr>
            <a:normAutofit fontScale="92500"/>
          </a:bodyPr>
          <a:lstStyle/>
          <a:p>
            <a:pPr marL="854075" indent="-685800">
              <a:lnSpc>
                <a:spcPct val="115000"/>
              </a:lnSpc>
              <a:spcBef>
                <a:spcPts val="0"/>
              </a:spcBef>
              <a:spcAft>
                <a:spcPts val="1000"/>
              </a:spcAft>
              <a:buNone/>
            </a:pPr>
            <a:r>
              <a:rPr lang="en-US" sz="2400" dirty="0">
                <a:latin typeface="Times New Roman" panose="02020603050405020304" pitchFamily="18" charset="0"/>
                <a:ea typeface="Calibri" panose="020F0502020204030204" pitchFamily="34" charset="0"/>
              </a:rPr>
              <a:t>Rector, C. L. (2018)</a:t>
            </a:r>
            <a:r>
              <a:rPr lang="en-US" sz="2400" i="1" dirty="0">
                <a:latin typeface="Times New Roman" panose="02020603050405020304" pitchFamily="18" charset="0"/>
                <a:ea typeface="Calibri" panose="020F0502020204030204" pitchFamily="34" charset="0"/>
              </a:rPr>
              <a:t>. Community Health Nursing:  Promotion &amp; Protecting the Public’s Health. </a:t>
            </a:r>
            <a:r>
              <a:rPr lang="en-US" sz="2400" dirty="0">
                <a:latin typeface="Times New Roman" panose="02020603050405020304" pitchFamily="18" charset="0"/>
                <a:ea typeface="Calibri" panose="020F0502020204030204" pitchFamily="34" charset="0"/>
              </a:rPr>
              <a:t>9</a:t>
            </a:r>
            <a:r>
              <a:rPr lang="en-US" sz="2400" baseline="30000" dirty="0">
                <a:latin typeface="Times New Roman" panose="02020603050405020304" pitchFamily="18" charset="0"/>
                <a:ea typeface="Calibri" panose="020F0502020204030204" pitchFamily="34" charset="0"/>
              </a:rPr>
              <a:t>th</a:t>
            </a:r>
            <a:r>
              <a:rPr lang="en-US" sz="2400" dirty="0">
                <a:latin typeface="Times New Roman" panose="02020603050405020304" pitchFamily="18" charset="0"/>
                <a:ea typeface="Calibri" panose="020F0502020204030204" pitchFamily="34" charset="0"/>
              </a:rPr>
              <a:t> ed. Philadelphia: Wolters Kluwer Lippincott Williams and Wilkins.</a:t>
            </a:r>
            <a:endParaRPr lang="en-US" sz="2400" dirty="0">
              <a:latin typeface="Calibri" panose="020F0502020204030204" pitchFamily="34" charset="0"/>
              <a:ea typeface="Calibri" panose="020F0502020204030204" pitchFamily="34" charset="0"/>
            </a:endParaRPr>
          </a:p>
          <a:p>
            <a:pPr marL="854075" indent="-685800">
              <a:lnSpc>
                <a:spcPct val="115000"/>
              </a:lnSpc>
              <a:spcBef>
                <a:spcPts val="0"/>
              </a:spcBef>
              <a:spcAft>
                <a:spcPts val="1000"/>
              </a:spcAft>
              <a:buNone/>
            </a:pPr>
            <a:r>
              <a:rPr lang="en-US" sz="2400" dirty="0">
                <a:latin typeface="Times New Roman" panose="02020603050405020304" pitchFamily="18" charset="0"/>
                <a:ea typeface="Times New Roman" panose="02020603050405020304" pitchFamily="18" charset="0"/>
              </a:rPr>
              <a:t>Robinson, M., </a:t>
            </a:r>
            <a:r>
              <a:rPr lang="en-US" sz="2400" dirty="0" err="1">
                <a:latin typeface="Times New Roman" panose="02020603050405020304" pitchFamily="18" charset="0"/>
                <a:ea typeface="Times New Roman" panose="02020603050405020304" pitchFamily="18" charset="0"/>
              </a:rPr>
              <a:t>Coehlo</a:t>
            </a:r>
            <a:r>
              <a:rPr lang="en-US" sz="2400" dirty="0">
                <a:latin typeface="Times New Roman" panose="02020603050405020304" pitchFamily="18" charset="0"/>
                <a:ea typeface="Times New Roman" panose="02020603050405020304" pitchFamily="18" charset="0"/>
              </a:rPr>
              <a:t>, D. P., &amp; Smith, P. S. (2022). </a:t>
            </a:r>
            <a:r>
              <a:rPr lang="en-US" sz="2400" i="1" dirty="0">
                <a:latin typeface="Times New Roman" panose="02020603050405020304" pitchFamily="18" charset="0"/>
                <a:ea typeface="Times New Roman" panose="02020603050405020304" pitchFamily="18" charset="0"/>
              </a:rPr>
              <a:t>Family health care nursing : theory, practice, and research </a:t>
            </a:r>
            <a:r>
              <a:rPr lang="en-US" sz="2400" dirty="0">
                <a:latin typeface="Times New Roman" panose="02020603050405020304" pitchFamily="18" charset="0"/>
                <a:ea typeface="Calibri" panose="020F0502020204030204" pitchFamily="34" charset="0"/>
              </a:rPr>
              <a:t>(7</a:t>
            </a:r>
            <a:r>
              <a:rPr lang="en-US" sz="2400" baseline="30000" dirty="0">
                <a:latin typeface="Times New Roman" panose="02020603050405020304" pitchFamily="18" charset="0"/>
                <a:ea typeface="Calibri" panose="020F0502020204030204" pitchFamily="34" charset="0"/>
              </a:rPr>
              <a:t>th</a:t>
            </a:r>
            <a:r>
              <a:rPr lang="en-US" sz="2400" dirty="0">
                <a:latin typeface="Times New Roman" panose="02020603050405020304" pitchFamily="18" charset="0"/>
                <a:ea typeface="Calibri" panose="020F0502020204030204" pitchFamily="34" charset="0"/>
              </a:rPr>
              <a:t> edition). </a:t>
            </a:r>
            <a:r>
              <a:rPr lang="en-US" sz="2400" dirty="0">
                <a:latin typeface="Times New Roman" panose="02020603050405020304" pitchFamily="18" charset="0"/>
                <a:ea typeface="Times New Roman" panose="02020603050405020304" pitchFamily="18" charset="0"/>
              </a:rPr>
              <a:t>F.A. Davis Company.</a:t>
            </a:r>
            <a:endParaRPr lang="en-US" sz="2400"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620718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189A2C2F-6DA8-4912-9BF8-223D91E90C38}"/>
              </a:ext>
            </a:extLst>
          </p:cNvPr>
          <p:cNvSpPr>
            <a:spLocks noGrp="1"/>
          </p:cNvSpPr>
          <p:nvPr>
            <p:ph type="subTitle" idx="1"/>
          </p:nvPr>
        </p:nvSpPr>
        <p:spPr>
          <a:xfrm>
            <a:off x="1524000" y="4894949"/>
            <a:ext cx="9144000" cy="1655762"/>
          </a:xfrm>
        </p:spPr>
        <p:txBody>
          <a:bodyPr>
            <a:normAutofit/>
          </a:bodyPr>
          <a:lstStyle/>
          <a:p>
            <a:r>
              <a:rPr lang="en-US" sz="9600" b="1" dirty="0">
                <a:latin typeface="Edwardian Script ITC" panose="030303020407070D0804" pitchFamily="66" charset="0"/>
              </a:rPr>
              <a:t>Thank you</a:t>
            </a:r>
          </a:p>
        </p:txBody>
      </p:sp>
    </p:spTree>
    <p:extLst>
      <p:ext uri="{BB962C8B-B14F-4D97-AF65-F5344CB8AC3E}">
        <p14:creationId xmlns:p14="http://schemas.microsoft.com/office/powerpoint/2010/main" val="3915565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Colors">
      <a:dk1>
        <a:sysClr val="windowText" lastClr="000000"/>
      </a:dk1>
      <a:lt1>
        <a:sysClr val="window" lastClr="FFFFFF"/>
      </a:lt1>
      <a:dk2>
        <a:srgbClr val="44546A"/>
      </a:dk2>
      <a:lt2>
        <a:srgbClr val="E7E6E6"/>
      </a:lt2>
      <a:accent1>
        <a:srgbClr val="987E34"/>
      </a:accent1>
      <a:accent2>
        <a:srgbClr val="C3AA62"/>
      </a:accent2>
      <a:accent3>
        <a:srgbClr val="D9C793"/>
      </a:accent3>
      <a:accent4>
        <a:srgbClr val="D8D4BA"/>
      </a:accent4>
      <a:accent5>
        <a:srgbClr val="969696"/>
      </a:accent5>
      <a:accent6>
        <a:srgbClr val="BFBFBF"/>
      </a:accent6>
      <a:hlink>
        <a:srgbClr val="0563C1"/>
      </a:hlink>
      <a:folHlink>
        <a:srgbClr val="954F72"/>
      </a:folHlink>
    </a:clrScheme>
    <a:fontScheme name="Custom 4">
      <a:majorFont>
        <a:latin typeface="Lucida Sans"/>
        <a:ea typeface=""/>
        <a:cs typeface="Sakkal Majalla"/>
      </a:majorFont>
      <a:minorFont>
        <a:latin typeface="Lucida Sans"/>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63899EB7218148ABC9BC5B0430BABF" ma:contentTypeVersion="0" ma:contentTypeDescription="Create a new document." ma:contentTypeScope="" ma:versionID="55ce4a50c4cdcf9ac8a474fe6390b72b">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BE1402C-445F-449F-AAA9-FCD58BF91A59}"/>
</file>

<file path=customXml/itemProps2.xml><?xml version="1.0" encoding="utf-8"?>
<ds:datastoreItem xmlns:ds="http://schemas.openxmlformats.org/officeDocument/2006/customXml" ds:itemID="{DDEF482D-54EC-4F8C-BC3F-032A72CD9D8A}"/>
</file>

<file path=customXml/itemProps3.xml><?xml version="1.0" encoding="utf-8"?>
<ds:datastoreItem xmlns:ds="http://schemas.openxmlformats.org/officeDocument/2006/customXml" ds:itemID="{33BCD546-B9F3-4177-9CCF-D55361A1CAE3}"/>
</file>

<file path=docMetadata/LabelInfo.xml><?xml version="1.0" encoding="utf-8"?>
<clbl:labelList xmlns:clbl="http://schemas.microsoft.com/office/2020/mipLabelMetadata">
  <clbl:label id="{de069c64-97de-41b1-b6a5-363c07bccaa3}" enabled="1" method="Standard" siteId="{026137b5-e313-46d1-9b2f-026ecb50c842}" removed="0"/>
</clbl:labelList>
</file>

<file path=docProps/app.xml><?xml version="1.0" encoding="utf-8"?>
<Properties xmlns="http://schemas.openxmlformats.org/officeDocument/2006/extended-properties" xmlns:vt="http://schemas.openxmlformats.org/officeDocument/2006/docPropsVTypes">
  <TotalTime>8021</TotalTime>
  <Words>4199</Words>
  <Application>Microsoft Office PowerPoint</Application>
  <PresentationFormat>Widescreen</PresentationFormat>
  <Paragraphs>456</Paragraphs>
  <Slides>55</Slides>
  <Notes>46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55</vt:i4>
      </vt:variant>
    </vt:vector>
  </HeadingPairs>
  <TitlesOfParts>
    <vt:vector size="66" baseType="lpstr">
      <vt:lpstr>Agency FB</vt:lpstr>
      <vt:lpstr>Amasis MT Pro</vt:lpstr>
      <vt:lpstr>Arial</vt:lpstr>
      <vt:lpstr>Calibri</vt:lpstr>
      <vt:lpstr>Calibri Light</vt:lpstr>
      <vt:lpstr>Edwardian Script ITC</vt:lpstr>
      <vt:lpstr>Lucida Sans</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Major Types of FAMILY VIOLENCE AGAINST CHILDREN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Batterer Characteristics</vt:lpstr>
      <vt:lpstr>Victim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Violence Affecting Families</dc:title>
  <dc:creator>Ahmed Hashem Elsayed Elmonshed</dc:creator>
  <cp:lastModifiedBy>Dr.TOQA JAMEEL ABBAS BUSEBAIA</cp:lastModifiedBy>
  <cp:revision>4</cp:revision>
  <dcterms:created xsi:type="dcterms:W3CDTF">2023-10-18T05:49:45Z</dcterms:created>
  <dcterms:modified xsi:type="dcterms:W3CDTF">2026-09-07T07:41:21Z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0x010100B763899EB7218148ABC9BC5B0430BABF</vt:lpwstr>
  </property>
</Properties>
</file>