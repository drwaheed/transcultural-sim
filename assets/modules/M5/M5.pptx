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officeDocument/2006/relationships/custom-properties" Target="docProps/custom.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88" r:id="rId2"/>
    <p:sldId id="326" r:id="rId3"/>
    <p:sldId id="294" r:id="rId4"/>
    <p:sldId id="323" r:id="rId5"/>
    <p:sldId id="369" r:id="rId6"/>
    <p:sldId id="327" r:id="rId7"/>
    <p:sldId id="315" r:id="rId8"/>
    <p:sldId id="316" r:id="rId9"/>
    <p:sldId id="324" r:id="rId10"/>
    <p:sldId id="328" r:id="rId11"/>
    <p:sldId id="325" r:id="rId12"/>
    <p:sldId id="296" r:id="rId13"/>
    <p:sldId id="329" r:id="rId14"/>
    <p:sldId id="330" r:id="rId15"/>
    <p:sldId id="331" r:id="rId16"/>
    <p:sldId id="332" r:id="rId17"/>
    <p:sldId id="333" r:id="rId18"/>
    <p:sldId id="309" r:id="rId19"/>
    <p:sldId id="335" r:id="rId20"/>
    <p:sldId id="336" r:id="rId21"/>
    <p:sldId id="337" r:id="rId22"/>
    <p:sldId id="338" r:id="rId23"/>
    <p:sldId id="339" r:id="rId24"/>
    <p:sldId id="340" r:id="rId25"/>
    <p:sldId id="367" r:id="rId26"/>
    <p:sldId id="318" r:id="rId27"/>
    <p:sldId id="314" r:id="rId28"/>
    <p:sldId id="368" r:id="rId29"/>
    <p:sldId id="354" r:id="rId30"/>
    <p:sldId id="355" r:id="rId31"/>
    <p:sldId id="356" r:id="rId32"/>
    <p:sldId id="357" r:id="rId33"/>
    <p:sldId id="366" r:id="rId34"/>
    <p:sldId id="358" r:id="rId35"/>
    <p:sldId id="359" r:id="rId36"/>
    <p:sldId id="303" r:id="rId37"/>
    <p:sldId id="360" r:id="rId38"/>
    <p:sldId id="361" r:id="rId39"/>
    <p:sldId id="371" r:id="rId40"/>
    <p:sldId id="321" r:id="rId41"/>
    <p:sldId id="363" r:id="rId42"/>
    <p:sldId id="365" r:id="rId43"/>
    <p:sldId id="372" r:id="rId57"/>
    <p:sldId id="373" r:id="rId58"/>
    <p:sldId id="374" r:id="rId59"/>
    <p:sldId id="375" r:id="rId60"/>
    <p:sldId id="376" r:id="rId61"/>
    <p:sldId id="377" r:id="rId62"/>
    <p:sldId id="378" r:id="rId63"/>
    <p:sldId id="379" r:id="rId64"/>
    <p:sldId id="319" r:id="rId44"/>
    <p:sldId id="320" r:id="rId45"/>
    <p:sldId id="364"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94A547-562A-40C2-8AD7-9525B53BF6C5}" v="13" dt="2025-09-04T19:23:54.963"/>
    <p1510:client id="{AA682E6C-AFD6-4B55-B2A5-E031ED59A146}" v="1" dt="2025-09-04T19:31:01.4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052" autoAdjust="0"/>
  </p:normalViewPr>
  <p:slideViewPr>
    <p:cSldViewPr snapToGrid="0">
      <p:cViewPr varScale="1">
        <p:scale>
          <a:sx n="66" d="100"/>
          <a:sy n="66" d="100"/>
        </p:scale>
        <p:origin x="1301"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55"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56" Type="http://schemas.openxmlformats.org/officeDocument/2006/relationships/customXml" Target="../customXml/item3.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  <Relationship Id="rId57" Type="http://schemas.openxmlformats.org/officeDocument/2006/relationships/slide" Target="slides/slide46.xml"/>
  <Relationship Id="rId58" Type="http://schemas.openxmlformats.org/officeDocument/2006/relationships/slide" Target="slides/slide47.xml"/>
  <Relationship Id="rId59" Type="http://schemas.openxmlformats.org/officeDocument/2006/relationships/slide" Target="slides/slide48.xml"/>
  <Relationship Id="rId60" Type="http://schemas.openxmlformats.org/officeDocument/2006/relationships/slide" Target="slides/slide49.xml"/>
  <Relationship Id="rId61" Type="http://schemas.openxmlformats.org/officeDocument/2006/relationships/slide" Target="slides/slide50.xml"/>
  <Relationship Id="rId62" Type="http://schemas.openxmlformats.org/officeDocument/2006/relationships/slide" Target="slides/slide51.xml"/>
  <Relationship Id="rId63" Type="http://schemas.openxmlformats.org/officeDocument/2006/relationships/slide" Target="slides/slide52.xml"/>
  <Relationship Id="rId64" Type="http://schemas.openxmlformats.org/officeDocument/2006/relationships/slide" Target="slides/slide53.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ed Hashem El-Monshed" userId="9838a0a2-a515-498b-b6a4-a4fb6da264fd" providerId="ADAL" clId="{F2C1EF37-D5B2-454C-B80C-F24A08B1306C}"/>
    <pc:docChg chg="undo redo custSel addSld modSld">
      <pc:chgData name="Ahmed Hashem El-Monshed" userId="9838a0a2-a515-498b-b6a4-a4fb6da264fd" providerId="ADAL" clId="{F2C1EF37-D5B2-454C-B80C-F24A08B1306C}" dt="2024-11-10T09:14:52.394" v="461"/>
      <pc:docMkLst>
        <pc:docMk/>
      </pc:docMkLst>
      <pc:sldChg chg="modNotesTx">
        <pc:chgData name="Ahmed Hashem El-Monshed" userId="9838a0a2-a515-498b-b6a4-a4fb6da264fd" providerId="ADAL" clId="{F2C1EF37-D5B2-454C-B80C-F24A08B1306C}" dt="2024-11-08T19:00:15.551" v="24" actId="782"/>
        <pc:sldMkLst>
          <pc:docMk/>
          <pc:sldMk cId="0" sldId="294"/>
        </pc:sldMkLst>
      </pc:sldChg>
      <pc:sldChg chg="modNotesTx">
        <pc:chgData name="Ahmed Hashem El-Monshed" userId="9838a0a2-a515-498b-b6a4-a4fb6da264fd" providerId="ADAL" clId="{F2C1EF37-D5B2-454C-B80C-F24A08B1306C}" dt="2024-11-08T20:58:43.601" v="94"/>
        <pc:sldMkLst>
          <pc:docMk/>
          <pc:sldMk cId="0" sldId="296"/>
        </pc:sldMkLst>
      </pc:sldChg>
      <pc:sldChg chg="modNotesTx">
        <pc:chgData name="Ahmed Hashem El-Monshed" userId="9838a0a2-a515-498b-b6a4-a4fb6da264fd" providerId="ADAL" clId="{F2C1EF37-D5B2-454C-B80C-F24A08B1306C}" dt="2024-11-08T22:46:13.027" v="439" actId="113"/>
        <pc:sldMkLst>
          <pc:docMk/>
          <pc:sldMk cId="2469773091" sldId="321"/>
        </pc:sldMkLst>
      </pc:sldChg>
      <pc:sldChg chg="modNotesTx">
        <pc:chgData name="Ahmed Hashem El-Monshed" userId="9838a0a2-a515-498b-b6a4-a4fb6da264fd" providerId="ADAL" clId="{F2C1EF37-D5B2-454C-B80C-F24A08B1306C}" dt="2024-11-08T19:07:54.472" v="48" actId="782"/>
        <pc:sldMkLst>
          <pc:docMk/>
          <pc:sldMk cId="81035192" sldId="323"/>
        </pc:sldMkLst>
      </pc:sldChg>
      <pc:sldChg chg="modNotesTx">
        <pc:chgData name="Ahmed Hashem El-Monshed" userId="9838a0a2-a515-498b-b6a4-a4fb6da264fd" providerId="ADAL" clId="{F2C1EF37-D5B2-454C-B80C-F24A08B1306C}" dt="2024-11-08T20:20:14.885" v="81" actId="782"/>
        <pc:sldMkLst>
          <pc:docMk/>
          <pc:sldMk cId="3075544840" sldId="324"/>
        </pc:sldMkLst>
      </pc:sldChg>
      <pc:sldChg chg="modNotesTx">
        <pc:chgData name="Ahmed Hashem El-Monshed" userId="9838a0a2-a515-498b-b6a4-a4fb6da264fd" providerId="ADAL" clId="{F2C1EF37-D5B2-454C-B80C-F24A08B1306C}" dt="2024-11-08T20:48:39.753" v="91" actId="782"/>
        <pc:sldMkLst>
          <pc:docMk/>
          <pc:sldMk cId="0" sldId="325"/>
        </pc:sldMkLst>
      </pc:sldChg>
      <pc:sldChg chg="modNotesTx">
        <pc:chgData name="Ahmed Hashem El-Monshed" userId="9838a0a2-a515-498b-b6a4-a4fb6da264fd" providerId="ADAL" clId="{F2C1EF37-D5B2-454C-B80C-F24A08B1306C}" dt="2024-11-08T20:12:16.059" v="79" actId="20577"/>
        <pc:sldMkLst>
          <pc:docMk/>
          <pc:sldMk cId="54399378" sldId="327"/>
        </pc:sldMkLst>
      </pc:sldChg>
      <pc:sldChg chg="modNotesTx">
        <pc:chgData name="Ahmed Hashem El-Monshed" userId="9838a0a2-a515-498b-b6a4-a4fb6da264fd" providerId="ADAL" clId="{F2C1EF37-D5B2-454C-B80C-F24A08B1306C}" dt="2024-11-08T20:22:20.844" v="83" actId="782"/>
        <pc:sldMkLst>
          <pc:docMk/>
          <pc:sldMk cId="3660619094" sldId="328"/>
        </pc:sldMkLst>
      </pc:sldChg>
      <pc:sldChg chg="modNotesTx">
        <pc:chgData name="Ahmed Hashem El-Monshed" userId="9838a0a2-a515-498b-b6a4-a4fb6da264fd" providerId="ADAL" clId="{F2C1EF37-D5B2-454C-B80C-F24A08B1306C}" dt="2024-11-10T05:08:41.271" v="446" actId="113"/>
        <pc:sldMkLst>
          <pc:docMk/>
          <pc:sldMk cId="3651158943" sldId="329"/>
        </pc:sldMkLst>
      </pc:sldChg>
      <pc:sldChg chg="modSp mod modNotesTx">
        <pc:chgData name="Ahmed Hashem El-Monshed" userId="9838a0a2-a515-498b-b6a4-a4fb6da264fd" providerId="ADAL" clId="{F2C1EF37-D5B2-454C-B80C-F24A08B1306C}" dt="2024-11-08T21:26:38.810" v="130" actId="6549"/>
        <pc:sldMkLst>
          <pc:docMk/>
          <pc:sldMk cId="1730984104" sldId="330"/>
        </pc:sldMkLst>
      </pc:sldChg>
      <pc:sldChg chg="modSp mod modNotesTx">
        <pc:chgData name="Ahmed Hashem El-Monshed" userId="9838a0a2-a515-498b-b6a4-a4fb6da264fd" providerId="ADAL" clId="{F2C1EF37-D5B2-454C-B80C-F24A08B1306C}" dt="2024-11-10T05:09:46.442" v="459" actId="20577"/>
        <pc:sldMkLst>
          <pc:docMk/>
          <pc:sldMk cId="2092945823" sldId="331"/>
        </pc:sldMkLst>
      </pc:sldChg>
      <pc:sldChg chg="modSp mod modNotesTx">
        <pc:chgData name="Ahmed Hashem El-Monshed" userId="9838a0a2-a515-498b-b6a4-a4fb6da264fd" providerId="ADAL" clId="{F2C1EF37-D5B2-454C-B80C-F24A08B1306C}" dt="2024-11-08T21:18:38.044" v="115" actId="113"/>
        <pc:sldMkLst>
          <pc:docMk/>
          <pc:sldMk cId="2368797357" sldId="332"/>
        </pc:sldMkLst>
      </pc:sldChg>
      <pc:sldChg chg="modSp mod">
        <pc:chgData name="Ahmed Hashem El-Monshed" userId="9838a0a2-a515-498b-b6a4-a4fb6da264fd" providerId="ADAL" clId="{F2C1EF37-D5B2-454C-B80C-F24A08B1306C}" dt="2024-11-08T21:19:33.641" v="116" actId="14100"/>
        <pc:sldMkLst>
          <pc:docMk/>
          <pc:sldMk cId="3687348873" sldId="333"/>
        </pc:sldMkLst>
      </pc:sldChg>
      <pc:sldChg chg="modSp mod modNotesTx">
        <pc:chgData name="Ahmed Hashem El-Monshed" userId="9838a0a2-a515-498b-b6a4-a4fb6da264fd" providerId="ADAL" clId="{F2C1EF37-D5B2-454C-B80C-F24A08B1306C}" dt="2024-11-08T21:32:37.369" v="134" actId="782"/>
        <pc:sldMkLst>
          <pc:docMk/>
          <pc:sldMk cId="419651369" sldId="335"/>
        </pc:sldMkLst>
      </pc:sldChg>
      <pc:sldChg chg="modNotesTx">
        <pc:chgData name="Ahmed Hashem El-Monshed" userId="9838a0a2-a515-498b-b6a4-a4fb6da264fd" providerId="ADAL" clId="{F2C1EF37-D5B2-454C-B80C-F24A08B1306C}" dt="2024-11-08T21:34:35.218" v="136" actId="782"/>
        <pc:sldMkLst>
          <pc:docMk/>
          <pc:sldMk cId="3830575335" sldId="336"/>
        </pc:sldMkLst>
      </pc:sldChg>
      <pc:sldChg chg="modNotesTx">
        <pc:chgData name="Ahmed Hashem El-Monshed" userId="9838a0a2-a515-498b-b6a4-a4fb6da264fd" providerId="ADAL" clId="{F2C1EF37-D5B2-454C-B80C-F24A08B1306C}" dt="2024-11-08T21:48:58.604" v="140" actId="20577"/>
        <pc:sldMkLst>
          <pc:docMk/>
          <pc:sldMk cId="3685884137" sldId="337"/>
        </pc:sldMkLst>
      </pc:sldChg>
      <pc:sldChg chg="modNotesTx">
        <pc:chgData name="Ahmed Hashem El-Monshed" userId="9838a0a2-a515-498b-b6a4-a4fb6da264fd" providerId="ADAL" clId="{F2C1EF37-D5B2-454C-B80C-F24A08B1306C}" dt="2024-11-08T21:59:36.842" v="178" actId="20577"/>
        <pc:sldMkLst>
          <pc:docMk/>
          <pc:sldMk cId="2451503966" sldId="338"/>
        </pc:sldMkLst>
      </pc:sldChg>
      <pc:sldChg chg="modNotesTx">
        <pc:chgData name="Ahmed Hashem El-Monshed" userId="9838a0a2-a515-498b-b6a4-a4fb6da264fd" providerId="ADAL" clId="{F2C1EF37-D5B2-454C-B80C-F24A08B1306C}" dt="2024-11-08T22:09:06.108" v="193" actId="113"/>
        <pc:sldMkLst>
          <pc:docMk/>
          <pc:sldMk cId="1763647275" sldId="339"/>
        </pc:sldMkLst>
      </pc:sldChg>
      <pc:sldChg chg="modNotesTx">
        <pc:chgData name="Ahmed Hashem El-Monshed" userId="9838a0a2-a515-498b-b6a4-a4fb6da264fd" providerId="ADAL" clId="{F2C1EF37-D5B2-454C-B80C-F24A08B1306C}" dt="2024-11-08T22:13:29.698" v="198" actId="20577"/>
        <pc:sldMkLst>
          <pc:docMk/>
          <pc:sldMk cId="3250045397" sldId="340"/>
        </pc:sldMkLst>
      </pc:sldChg>
      <pc:sldChg chg="modNotesTx">
        <pc:chgData name="Ahmed Hashem El-Monshed" userId="9838a0a2-a515-498b-b6a4-a4fb6da264fd" providerId="ADAL" clId="{F2C1EF37-D5B2-454C-B80C-F24A08B1306C}" dt="2024-11-08T22:29:04.021" v="224" actId="20577"/>
        <pc:sldMkLst>
          <pc:docMk/>
          <pc:sldMk cId="1916744004" sldId="358"/>
        </pc:sldMkLst>
      </pc:sldChg>
      <pc:sldChg chg="modNotesTx">
        <pc:chgData name="Ahmed Hashem El-Monshed" userId="9838a0a2-a515-498b-b6a4-a4fb6da264fd" providerId="ADAL" clId="{F2C1EF37-D5B2-454C-B80C-F24A08B1306C}" dt="2024-11-08T22:35:34.749" v="264" actId="313"/>
        <pc:sldMkLst>
          <pc:docMk/>
          <pc:sldMk cId="2397035707" sldId="360"/>
        </pc:sldMkLst>
      </pc:sldChg>
      <pc:sldChg chg="modNotesTx">
        <pc:chgData name="Ahmed Hashem El-Monshed" userId="9838a0a2-a515-498b-b6a4-a4fb6da264fd" providerId="ADAL" clId="{F2C1EF37-D5B2-454C-B80C-F24A08B1306C}" dt="2024-11-08T22:40:10.549" v="388" actId="20577"/>
        <pc:sldMkLst>
          <pc:docMk/>
          <pc:sldMk cId="2363422277" sldId="361"/>
        </pc:sldMkLst>
      </pc:sldChg>
      <pc:sldChg chg="addSp new">
        <pc:chgData name="Ahmed Hashem El-Monshed" userId="9838a0a2-a515-498b-b6a4-a4fb6da264fd" providerId="ADAL" clId="{F2C1EF37-D5B2-454C-B80C-F24A08B1306C}" dt="2024-11-08T19:11:23.173" v="50"/>
        <pc:sldMkLst>
          <pc:docMk/>
          <pc:sldMk cId="4180031012" sldId="369"/>
        </pc:sldMkLst>
      </pc:sldChg>
      <pc:sldChg chg="addSp delSp modSp new mod">
        <pc:chgData name="Ahmed Hashem El-Monshed" userId="9838a0a2-a515-498b-b6a4-a4fb6da264fd" providerId="ADAL" clId="{F2C1EF37-D5B2-454C-B80C-F24A08B1306C}" dt="2024-11-10T09:14:52.394" v="461"/>
        <pc:sldMkLst>
          <pc:docMk/>
          <pc:sldMk cId="809652921" sldId="370"/>
        </pc:sldMkLst>
      </pc:sldChg>
    </pc:docChg>
  </pc:docChgLst>
  <pc:docChgLst>
    <pc:chgData name="Ahmed Hashem El-Monshed" userId="9838a0a2-a515-498b-b6a4-a4fb6da264fd" providerId="ADAL" clId="{BB1EC5F3-9575-4DB7-A81E-A4EDB8BADBBB}"/>
    <pc:docChg chg="custSel addSld delSld modSld">
      <pc:chgData name="Ahmed Hashem El-Monshed" userId="9838a0a2-a515-498b-b6a4-a4fb6da264fd" providerId="ADAL" clId="{BB1EC5F3-9575-4DB7-A81E-A4EDB8BADBBB}" dt="2025-09-04T19:31:04.244" v="69" actId="1076"/>
      <pc:docMkLst>
        <pc:docMk/>
      </pc:docMkLst>
      <pc:sldChg chg="modSp">
        <pc:chgData name="Ahmed Hashem El-Monshed" userId="9838a0a2-a515-498b-b6a4-a4fb6da264fd" providerId="ADAL" clId="{BB1EC5F3-9575-4DB7-A81E-A4EDB8BADBBB}" dt="2025-09-04T19:05:54.451" v="10" actId="20577"/>
        <pc:sldMkLst>
          <pc:docMk/>
          <pc:sldMk cId="0" sldId="288"/>
        </pc:sldMkLst>
        <pc:spChg chg="mod">
          <ac:chgData name="Ahmed Hashem El-Monshed" userId="9838a0a2-a515-498b-b6a4-a4fb6da264fd" providerId="ADAL" clId="{BB1EC5F3-9575-4DB7-A81E-A4EDB8BADBBB}" dt="2025-09-04T19:05:54.451" v="10" actId="20577"/>
          <ac:spMkLst>
            <pc:docMk/>
            <pc:sldMk cId="0" sldId="288"/>
            <ac:spMk id="2" creationId="{00000000-0000-0000-0000-000000000000}"/>
          </ac:spMkLst>
        </pc:spChg>
      </pc:sldChg>
      <pc:sldChg chg="modNotesTx">
        <pc:chgData name="Ahmed Hashem El-Monshed" userId="9838a0a2-a515-498b-b6a4-a4fb6da264fd" providerId="ADAL" clId="{BB1EC5F3-9575-4DB7-A81E-A4EDB8BADBBB}" dt="2025-09-04T19:27:42.350" v="47" actId="20577"/>
        <pc:sldMkLst>
          <pc:docMk/>
          <pc:sldMk cId="0" sldId="294"/>
        </pc:sldMkLst>
      </pc:sldChg>
      <pc:sldChg chg="modNotesTx">
        <pc:chgData name="Ahmed Hashem El-Monshed" userId="9838a0a2-a515-498b-b6a4-a4fb6da264fd" providerId="ADAL" clId="{BB1EC5F3-9575-4DB7-A81E-A4EDB8BADBBB}" dt="2025-09-04T19:28:12.714" v="53" actId="20577"/>
        <pc:sldMkLst>
          <pc:docMk/>
          <pc:sldMk cId="0" sldId="296"/>
        </pc:sldMkLst>
      </pc:sldChg>
      <pc:sldChg chg="modNotesTx">
        <pc:chgData name="Ahmed Hashem El-Monshed" userId="9838a0a2-a515-498b-b6a4-a4fb6da264fd" providerId="ADAL" clId="{BB1EC5F3-9575-4DB7-A81E-A4EDB8BADBBB}" dt="2025-09-04T19:30:29.237" v="67" actId="20577"/>
        <pc:sldMkLst>
          <pc:docMk/>
          <pc:sldMk cId="2469773091" sldId="321"/>
        </pc:sldMkLst>
      </pc:sldChg>
      <pc:sldChg chg="modNotesTx">
        <pc:chgData name="Ahmed Hashem El-Monshed" userId="9838a0a2-a515-498b-b6a4-a4fb6da264fd" providerId="ADAL" clId="{BB1EC5F3-9575-4DB7-A81E-A4EDB8BADBBB}" dt="2025-09-04T19:27:47.297" v="48" actId="20577"/>
        <pc:sldMkLst>
          <pc:docMk/>
          <pc:sldMk cId="81035192" sldId="323"/>
        </pc:sldMkLst>
      </pc:sldChg>
      <pc:sldChg chg="modNotesTx">
        <pc:chgData name="Ahmed Hashem El-Monshed" userId="9838a0a2-a515-498b-b6a4-a4fb6da264fd" providerId="ADAL" clId="{BB1EC5F3-9575-4DB7-A81E-A4EDB8BADBBB}" dt="2025-09-04T19:27:59.794" v="50" actId="20577"/>
        <pc:sldMkLst>
          <pc:docMk/>
          <pc:sldMk cId="3075544840" sldId="324"/>
        </pc:sldMkLst>
      </pc:sldChg>
      <pc:sldChg chg="modNotesTx">
        <pc:chgData name="Ahmed Hashem El-Monshed" userId="9838a0a2-a515-498b-b6a4-a4fb6da264fd" providerId="ADAL" clId="{BB1EC5F3-9575-4DB7-A81E-A4EDB8BADBBB}" dt="2025-09-04T19:28:09.349" v="52" actId="20577"/>
        <pc:sldMkLst>
          <pc:docMk/>
          <pc:sldMk cId="0" sldId="325"/>
        </pc:sldMkLst>
      </pc:sldChg>
      <pc:sldChg chg="modNotesTx">
        <pc:chgData name="Ahmed Hashem El-Monshed" userId="9838a0a2-a515-498b-b6a4-a4fb6da264fd" providerId="ADAL" clId="{BB1EC5F3-9575-4DB7-A81E-A4EDB8BADBBB}" dt="2025-09-04T19:27:52.968" v="49" actId="20577"/>
        <pc:sldMkLst>
          <pc:docMk/>
          <pc:sldMk cId="54399378" sldId="327"/>
        </pc:sldMkLst>
      </pc:sldChg>
      <pc:sldChg chg="modNotesTx">
        <pc:chgData name="Ahmed Hashem El-Monshed" userId="9838a0a2-a515-498b-b6a4-a4fb6da264fd" providerId="ADAL" clId="{BB1EC5F3-9575-4DB7-A81E-A4EDB8BADBBB}" dt="2025-09-04T19:28:03.078" v="51" actId="20577"/>
        <pc:sldMkLst>
          <pc:docMk/>
          <pc:sldMk cId="3660619094" sldId="328"/>
        </pc:sldMkLst>
      </pc:sldChg>
      <pc:sldChg chg="modNotesTx">
        <pc:chgData name="Ahmed Hashem El-Monshed" userId="9838a0a2-a515-498b-b6a4-a4fb6da264fd" providerId="ADAL" clId="{BB1EC5F3-9575-4DB7-A81E-A4EDB8BADBBB}" dt="2025-09-04T19:28:15.759" v="54" actId="20577"/>
        <pc:sldMkLst>
          <pc:docMk/>
          <pc:sldMk cId="3651158943" sldId="329"/>
        </pc:sldMkLst>
      </pc:sldChg>
      <pc:sldChg chg="modNotesTx">
        <pc:chgData name="Ahmed Hashem El-Monshed" userId="9838a0a2-a515-498b-b6a4-a4fb6da264fd" providerId="ADAL" clId="{BB1EC5F3-9575-4DB7-A81E-A4EDB8BADBBB}" dt="2025-09-04T19:28:21.029" v="55" actId="20577"/>
        <pc:sldMkLst>
          <pc:docMk/>
          <pc:sldMk cId="1730984104" sldId="330"/>
        </pc:sldMkLst>
      </pc:sldChg>
      <pc:sldChg chg="modNotesTx">
        <pc:chgData name="Ahmed Hashem El-Monshed" userId="9838a0a2-a515-498b-b6a4-a4fb6da264fd" providerId="ADAL" clId="{BB1EC5F3-9575-4DB7-A81E-A4EDB8BADBBB}" dt="2025-09-04T19:28:27.850" v="56" actId="20577"/>
        <pc:sldMkLst>
          <pc:docMk/>
          <pc:sldMk cId="2092945823" sldId="331"/>
        </pc:sldMkLst>
      </pc:sldChg>
      <pc:sldChg chg="modNotesTx">
        <pc:chgData name="Ahmed Hashem El-Monshed" userId="9838a0a2-a515-498b-b6a4-a4fb6da264fd" providerId="ADAL" clId="{BB1EC5F3-9575-4DB7-A81E-A4EDB8BADBBB}" dt="2025-09-04T19:28:32.157" v="57" actId="20577"/>
        <pc:sldMkLst>
          <pc:docMk/>
          <pc:sldMk cId="2368797357" sldId="332"/>
        </pc:sldMkLst>
      </pc:sldChg>
      <pc:sldChg chg="modNotesTx">
        <pc:chgData name="Ahmed Hashem El-Monshed" userId="9838a0a2-a515-498b-b6a4-a4fb6da264fd" providerId="ADAL" clId="{BB1EC5F3-9575-4DB7-A81E-A4EDB8BADBBB}" dt="2025-09-04T19:28:40.603" v="58" actId="20577"/>
        <pc:sldMkLst>
          <pc:docMk/>
          <pc:sldMk cId="419651369" sldId="335"/>
        </pc:sldMkLst>
      </pc:sldChg>
      <pc:sldChg chg="modNotesTx">
        <pc:chgData name="Ahmed Hashem El-Monshed" userId="9838a0a2-a515-498b-b6a4-a4fb6da264fd" providerId="ADAL" clId="{BB1EC5F3-9575-4DB7-A81E-A4EDB8BADBBB}" dt="2025-09-04T19:28:58.863" v="59" actId="20577"/>
        <pc:sldMkLst>
          <pc:docMk/>
          <pc:sldMk cId="3830575335" sldId="336"/>
        </pc:sldMkLst>
      </pc:sldChg>
      <pc:sldChg chg="modNotesTx">
        <pc:chgData name="Ahmed Hashem El-Monshed" userId="9838a0a2-a515-498b-b6a4-a4fb6da264fd" providerId="ADAL" clId="{BB1EC5F3-9575-4DB7-A81E-A4EDB8BADBBB}" dt="2025-09-04T19:29:04.668" v="60" actId="20577"/>
        <pc:sldMkLst>
          <pc:docMk/>
          <pc:sldMk cId="3685884137" sldId="337"/>
        </pc:sldMkLst>
      </pc:sldChg>
      <pc:sldChg chg="modNotesTx">
        <pc:chgData name="Ahmed Hashem El-Monshed" userId="9838a0a2-a515-498b-b6a4-a4fb6da264fd" providerId="ADAL" clId="{BB1EC5F3-9575-4DB7-A81E-A4EDB8BADBBB}" dt="2025-09-04T19:29:08.161" v="61" actId="20577"/>
        <pc:sldMkLst>
          <pc:docMk/>
          <pc:sldMk cId="2451503966" sldId="338"/>
        </pc:sldMkLst>
      </pc:sldChg>
      <pc:sldChg chg="modNotesTx">
        <pc:chgData name="Ahmed Hashem El-Monshed" userId="9838a0a2-a515-498b-b6a4-a4fb6da264fd" providerId="ADAL" clId="{BB1EC5F3-9575-4DB7-A81E-A4EDB8BADBBB}" dt="2025-09-04T19:29:15.121" v="62" actId="20577"/>
        <pc:sldMkLst>
          <pc:docMk/>
          <pc:sldMk cId="1763647275" sldId="339"/>
        </pc:sldMkLst>
      </pc:sldChg>
      <pc:sldChg chg="modNotesTx">
        <pc:chgData name="Ahmed Hashem El-Monshed" userId="9838a0a2-a515-498b-b6a4-a4fb6da264fd" providerId="ADAL" clId="{BB1EC5F3-9575-4DB7-A81E-A4EDB8BADBBB}" dt="2025-09-04T19:29:19.521" v="63" actId="20577"/>
        <pc:sldMkLst>
          <pc:docMk/>
          <pc:sldMk cId="3250045397" sldId="340"/>
        </pc:sldMkLst>
      </pc:sldChg>
      <pc:sldChg chg="modNotesTx">
        <pc:chgData name="Ahmed Hashem El-Monshed" userId="9838a0a2-a515-498b-b6a4-a4fb6da264fd" providerId="ADAL" clId="{BB1EC5F3-9575-4DB7-A81E-A4EDB8BADBBB}" dt="2025-09-04T19:29:40.328" v="64" actId="20577"/>
        <pc:sldMkLst>
          <pc:docMk/>
          <pc:sldMk cId="1916744004" sldId="358"/>
        </pc:sldMkLst>
      </pc:sldChg>
      <pc:sldChg chg="modNotesTx">
        <pc:chgData name="Ahmed Hashem El-Monshed" userId="9838a0a2-a515-498b-b6a4-a4fb6da264fd" providerId="ADAL" clId="{BB1EC5F3-9575-4DB7-A81E-A4EDB8BADBBB}" dt="2025-09-04T19:30:05.740" v="65" actId="20577"/>
        <pc:sldMkLst>
          <pc:docMk/>
          <pc:sldMk cId="2397035707" sldId="360"/>
        </pc:sldMkLst>
      </pc:sldChg>
      <pc:sldChg chg="modNotesTx">
        <pc:chgData name="Ahmed Hashem El-Monshed" userId="9838a0a2-a515-498b-b6a4-a4fb6da264fd" providerId="ADAL" clId="{BB1EC5F3-9575-4DB7-A81E-A4EDB8BADBBB}" dt="2025-09-04T19:30:13.730" v="66" actId="20577"/>
        <pc:sldMkLst>
          <pc:docMk/>
          <pc:sldMk cId="2363422277" sldId="361"/>
        </pc:sldMkLst>
      </pc:sldChg>
      <pc:sldChg chg="addSp modSp mod">
        <pc:chgData name="Ahmed Hashem El-Monshed" userId="9838a0a2-a515-498b-b6a4-a4fb6da264fd" providerId="ADAL" clId="{BB1EC5F3-9575-4DB7-A81E-A4EDB8BADBBB}" dt="2025-09-04T19:31:04.244" v="69" actId="1076"/>
        <pc:sldMkLst>
          <pc:docMk/>
          <pc:sldMk cId="1612411193" sldId="364"/>
        </pc:sldMkLst>
        <pc:spChg chg="mod">
          <ac:chgData name="Ahmed Hashem El-Monshed" userId="9838a0a2-a515-498b-b6a4-a4fb6da264fd" providerId="ADAL" clId="{BB1EC5F3-9575-4DB7-A81E-A4EDB8BADBBB}" dt="2025-09-04T19:26:42.274" v="46" actId="1076"/>
          <ac:spMkLst>
            <pc:docMk/>
            <pc:sldMk cId="1612411193" sldId="364"/>
            <ac:spMk id="3" creationId="{5D358FA3-D752-4C65-B67F-FA2C934E3BDB}"/>
          </ac:spMkLst>
        </pc:spChg>
        <pc:picChg chg="add mod">
          <ac:chgData name="Ahmed Hashem El-Monshed" userId="9838a0a2-a515-498b-b6a4-a4fb6da264fd" providerId="ADAL" clId="{BB1EC5F3-9575-4DB7-A81E-A4EDB8BADBBB}" dt="2025-09-04T19:31:04.244" v="69" actId="1076"/>
          <ac:picMkLst>
            <pc:docMk/>
            <pc:sldMk cId="1612411193" sldId="364"/>
            <ac:picMk id="2" creationId="{5E86EBC3-3E40-A99D-9723-02D39A499BA1}"/>
          </ac:picMkLst>
        </pc:picChg>
      </pc:sldChg>
      <pc:sldChg chg="del">
        <pc:chgData name="Ahmed Hashem El-Monshed" userId="9838a0a2-a515-498b-b6a4-a4fb6da264fd" providerId="ADAL" clId="{BB1EC5F3-9575-4DB7-A81E-A4EDB8BADBBB}" dt="2025-09-04T19:26:18.889" v="32" actId="47"/>
        <pc:sldMkLst>
          <pc:docMk/>
          <pc:sldMk cId="809652921" sldId="370"/>
        </pc:sldMkLst>
      </pc:sldChg>
      <pc:sldChg chg="addSp delSp modSp new mod">
        <pc:chgData name="Ahmed Hashem El-Monshed" userId="9838a0a2-a515-498b-b6a4-a4fb6da264fd" providerId="ADAL" clId="{BB1EC5F3-9575-4DB7-A81E-A4EDB8BADBBB}" dt="2025-09-04T19:24:35.144" v="31" actId="2710"/>
        <pc:sldMkLst>
          <pc:docMk/>
          <pc:sldMk cId="3637885349" sldId="371"/>
        </pc:sldMkLst>
        <pc:spChg chg="mod">
          <ac:chgData name="Ahmed Hashem El-Monshed" userId="9838a0a2-a515-498b-b6a4-a4fb6da264fd" providerId="ADAL" clId="{BB1EC5F3-9575-4DB7-A81E-A4EDB8BADBBB}" dt="2025-09-04T19:23:45.679" v="15" actId="207"/>
          <ac:spMkLst>
            <pc:docMk/>
            <pc:sldMk cId="3637885349" sldId="371"/>
            <ac:spMk id="2" creationId="{435956AD-D066-A9CA-E5EA-75F7449F6730}"/>
          </ac:spMkLst>
        </pc:spChg>
        <pc:spChg chg="del">
          <ac:chgData name="Ahmed Hashem El-Monshed" userId="9838a0a2-a515-498b-b6a4-a4fb6da264fd" providerId="ADAL" clId="{BB1EC5F3-9575-4DB7-A81E-A4EDB8BADBBB}" dt="2025-09-04T19:23:53.629" v="16" actId="478"/>
          <ac:spMkLst>
            <pc:docMk/>
            <pc:sldMk cId="3637885349" sldId="371"/>
            <ac:spMk id="3" creationId="{235F3495-90B2-A7D6-1218-76A2CA9F6C02}"/>
          </ac:spMkLst>
        </pc:spChg>
        <pc:spChg chg="add mod">
          <ac:chgData name="Ahmed Hashem El-Monshed" userId="9838a0a2-a515-498b-b6a4-a4fb6da264fd" providerId="ADAL" clId="{BB1EC5F3-9575-4DB7-A81E-A4EDB8BADBBB}" dt="2025-09-04T19:24:35.144" v="31" actId="2710"/>
          <ac:spMkLst>
            <pc:docMk/>
            <pc:sldMk cId="3637885349" sldId="371"/>
            <ac:spMk id="6" creationId="{0EEFD737-27C7-B0FD-77CF-A35EA034BD97}"/>
          </ac:spMkLst>
        </pc:spChg>
        <pc:picChg chg="add mod">
          <ac:chgData name="Ahmed Hashem El-Monshed" userId="9838a0a2-a515-498b-b6a4-a4fb6da264fd" providerId="ADAL" clId="{BB1EC5F3-9575-4DB7-A81E-A4EDB8BADBBB}" dt="2025-09-04T19:24:01.413" v="18" actId="1076"/>
          <ac:picMkLst>
            <pc:docMk/>
            <pc:sldMk cId="3637885349" sldId="371"/>
            <ac:picMk id="4" creationId="{1C743D08-5243-31E5-CDE4-15671591DE2E}"/>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svg"/><Relationship Id="rId1" Type="http://schemas.openxmlformats.org/officeDocument/2006/relationships/image" Target="../media/image35.svg"/><Relationship Id="rId4" Type="http://schemas.openxmlformats.org/officeDocument/2006/relationships/image" Target="../media/image3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svg"/><Relationship Id="rId1" Type="http://schemas.openxmlformats.org/officeDocument/2006/relationships/image" Target="../media/image35.svg"/><Relationship Id="rId4" Type="http://schemas.openxmlformats.org/officeDocument/2006/relationships/image" Target="../media/image38.sv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2ED0ED0-CE82-4894-93A3-15ECB6F62953}" type="doc">
      <dgm:prSet loTypeId="urn:microsoft.com/office/officeart/2018/2/layout/IconCircleList" loCatId="icon" qsTypeId="urn:microsoft.com/office/officeart/2005/8/quickstyle/simple1#1" qsCatId="simple" csTypeId="urn:microsoft.com/office/officeart/2005/8/colors/accent1_2#1" csCatId="accent1" phldr="1"/>
      <dgm:spPr/>
      <dgm:t>
        <a:bodyPr/>
        <a:lstStyle/>
        <a:p>
          <a:endParaRPr lang="en-US"/>
        </a:p>
      </dgm:t>
    </dgm:pt>
    <dgm:pt modelId="{51261509-C82B-4090-8841-EF85C8B11FCB}">
      <dgm:prSet/>
      <dgm:spPr/>
      <dgm:t>
        <a:bodyPr/>
        <a:lstStyle/>
        <a:p>
          <a:pPr>
            <a:lnSpc>
              <a:spcPct val="100000"/>
            </a:lnSpc>
          </a:pPr>
          <a:r>
            <a:rPr lang="en-US" dirty="0"/>
            <a:t>Make no assumptions about a client’s understanding of health care issues.</a:t>
          </a:r>
        </a:p>
      </dgm:t>
    </dgm:pt>
    <dgm:pt modelId="{2093223E-472A-47F8-8ED0-05D771965CD5}" type="parTrans" cxnId="{B212173A-4991-4B5D-B1FA-C3ACFD877E2A}">
      <dgm:prSet/>
      <dgm:spPr/>
      <dgm:t>
        <a:bodyPr/>
        <a:lstStyle/>
        <a:p>
          <a:endParaRPr lang="en-US"/>
        </a:p>
      </dgm:t>
    </dgm:pt>
    <dgm:pt modelId="{6B24401F-70A8-4AFF-8F18-A44141E45004}" type="sibTrans" cxnId="{B212173A-4991-4B5D-B1FA-C3ACFD877E2A}">
      <dgm:prSet/>
      <dgm:spPr/>
      <dgm:t>
        <a:bodyPr/>
        <a:lstStyle/>
        <a:p>
          <a:pPr>
            <a:lnSpc>
              <a:spcPct val="100000"/>
            </a:lnSpc>
          </a:pPr>
          <a:endParaRPr lang="en-US"/>
        </a:p>
      </dgm:t>
    </dgm:pt>
    <dgm:pt modelId="{AFF0ACBB-E54B-4289-BD22-B4C39D2E5CA2}">
      <dgm:prSet/>
      <dgm:spPr/>
      <dgm:t>
        <a:bodyPr/>
        <a:lstStyle/>
        <a:p>
          <a:pPr>
            <a:lnSpc>
              <a:spcPct val="100000"/>
            </a:lnSpc>
          </a:pPr>
          <a:r>
            <a:rPr lang="en-US" dirty="0"/>
            <a:t>Permit more time for interviewing; allow time to evaluate beliefs and provide appropriate interventions.</a:t>
          </a:r>
        </a:p>
      </dgm:t>
    </dgm:pt>
    <dgm:pt modelId="{70911611-EBD2-4569-8108-9051BC3B3931}" type="parTrans" cxnId="{69669381-6A89-4EE0-9E74-81B25CD6EA61}">
      <dgm:prSet/>
      <dgm:spPr/>
      <dgm:t>
        <a:bodyPr/>
        <a:lstStyle/>
        <a:p>
          <a:endParaRPr lang="en-US"/>
        </a:p>
      </dgm:t>
    </dgm:pt>
    <dgm:pt modelId="{CCA4ED1E-6955-4981-9173-19DDDF8E1538}" type="sibTrans" cxnId="{69669381-6A89-4EE0-9E74-81B25CD6EA61}">
      <dgm:prSet/>
      <dgm:spPr/>
      <dgm:t>
        <a:bodyPr/>
        <a:lstStyle/>
        <a:p>
          <a:pPr>
            <a:lnSpc>
              <a:spcPct val="100000"/>
            </a:lnSpc>
          </a:pPr>
          <a:endParaRPr lang="en-US"/>
        </a:p>
      </dgm:t>
    </dgm:pt>
    <dgm:pt modelId="{FEA34CC6-A5A5-42A6-BDD4-B3AF1E751D61}">
      <dgm:prSet/>
      <dgm:spPr/>
      <dgm:t>
        <a:bodyPr/>
        <a:lstStyle/>
        <a:p>
          <a:pPr>
            <a:lnSpc>
              <a:spcPct val="100000"/>
            </a:lnSpc>
          </a:pPr>
          <a:r>
            <a:rPr lang="en-US" dirty="0"/>
            <a:t>Provide educational programs to correct any misconceptions about health issues; this can occur in clinics, mosques, schools, or homes.</a:t>
          </a:r>
        </a:p>
      </dgm:t>
    </dgm:pt>
    <dgm:pt modelId="{084E2E07-D2D0-4800-A696-6C862D1EF64E}" type="parTrans" cxnId="{EA15A869-4D19-4A4D-BEE7-A976EE8DCCAF}">
      <dgm:prSet/>
      <dgm:spPr/>
      <dgm:t>
        <a:bodyPr/>
        <a:lstStyle/>
        <a:p>
          <a:endParaRPr lang="en-US"/>
        </a:p>
      </dgm:t>
    </dgm:pt>
    <dgm:pt modelId="{1B974E19-1F52-47E9-8614-26E567843C73}" type="sibTrans" cxnId="{EA15A869-4D19-4A4D-BEE7-A976EE8DCCAF}">
      <dgm:prSet/>
      <dgm:spPr/>
      <dgm:t>
        <a:bodyPr/>
        <a:lstStyle/>
        <a:p>
          <a:pPr>
            <a:lnSpc>
              <a:spcPct val="100000"/>
            </a:lnSpc>
          </a:pPr>
          <a:endParaRPr lang="en-US"/>
        </a:p>
      </dgm:t>
    </dgm:pt>
    <dgm:pt modelId="{F91447AF-4D4A-43B1-91F0-3817BA2BD3D7}">
      <dgm:prSet/>
      <dgm:spPr/>
      <dgm:t>
        <a:bodyPr/>
        <a:lstStyle/>
        <a:p>
          <a:pPr>
            <a:lnSpc>
              <a:spcPct val="100000"/>
            </a:lnSpc>
          </a:pPr>
          <a:r>
            <a:rPr lang="en-US" dirty="0"/>
            <a:t>Provide an appropriate interpreter to improve communication with people who do not speak English or Arabic well.</a:t>
          </a:r>
        </a:p>
      </dgm:t>
    </dgm:pt>
    <dgm:pt modelId="{E84BD0C1-81BB-49E6-86D3-DCFB8D3C7933}" type="parTrans" cxnId="{B4CB11EC-0E3A-4744-BA36-662E92E0CB63}">
      <dgm:prSet/>
      <dgm:spPr/>
      <dgm:t>
        <a:bodyPr/>
        <a:lstStyle/>
        <a:p>
          <a:endParaRPr lang="en-US"/>
        </a:p>
      </dgm:t>
    </dgm:pt>
    <dgm:pt modelId="{0CBCA674-07B7-473B-AB15-615B24914924}" type="sibTrans" cxnId="{B4CB11EC-0E3A-4744-BA36-662E92E0CB63}">
      <dgm:prSet/>
      <dgm:spPr/>
      <dgm:t>
        <a:bodyPr/>
        <a:lstStyle/>
        <a:p>
          <a:endParaRPr lang="en-US"/>
        </a:p>
      </dgm:t>
    </dgm:pt>
    <dgm:pt modelId="{6552BAE4-0466-4475-ADFE-58B33AAB6C8E}" type="pres">
      <dgm:prSet presAssocID="{B2ED0ED0-CE82-4894-93A3-15ECB6F62953}" presName="root" presStyleCnt="0">
        <dgm:presLayoutVars>
          <dgm:dir/>
          <dgm:resizeHandles val="exact"/>
        </dgm:presLayoutVars>
      </dgm:prSet>
      <dgm:spPr/>
    </dgm:pt>
    <dgm:pt modelId="{9EAD964A-0186-46C6-9751-66A50529FF05}" type="pres">
      <dgm:prSet presAssocID="{B2ED0ED0-CE82-4894-93A3-15ECB6F62953}" presName="container" presStyleCnt="0">
        <dgm:presLayoutVars>
          <dgm:dir/>
          <dgm:resizeHandles val="exact"/>
        </dgm:presLayoutVars>
      </dgm:prSet>
      <dgm:spPr/>
    </dgm:pt>
    <dgm:pt modelId="{F5FFC483-289B-4589-A061-C95A768FED0A}" type="pres">
      <dgm:prSet presAssocID="{51261509-C82B-4090-8841-EF85C8B11FCB}" presName="compNode" presStyleCnt="0"/>
      <dgm:spPr/>
    </dgm:pt>
    <dgm:pt modelId="{EDFE75F4-00FC-4305-BDD9-7AA085ECD85D}" type="pres">
      <dgm:prSet presAssocID="{51261509-C82B-4090-8841-EF85C8B11FCB}" presName="iconBgRect" presStyleLbl="bgShp" presStyleIdx="0" presStyleCnt="4"/>
      <dgm:spPr/>
    </dgm:pt>
    <dgm:pt modelId="{B45E0218-E43B-48EB-9127-8CC5878F0D7A}" type="pres">
      <dgm:prSet presAssocID="{51261509-C82B-4090-8841-EF85C8B11FCB}"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octor"/>
        </a:ext>
      </dgm:extLst>
    </dgm:pt>
    <dgm:pt modelId="{E92F28F9-0A75-441C-91AE-979479CFA372}" type="pres">
      <dgm:prSet presAssocID="{51261509-C82B-4090-8841-EF85C8B11FCB}" presName="spaceRect" presStyleCnt="0"/>
      <dgm:spPr/>
    </dgm:pt>
    <dgm:pt modelId="{0FC0BA5B-DECD-41CC-9A53-45FD8A8E38F3}" type="pres">
      <dgm:prSet presAssocID="{51261509-C82B-4090-8841-EF85C8B11FCB}" presName="textRect" presStyleLbl="revTx" presStyleIdx="0" presStyleCnt="4">
        <dgm:presLayoutVars>
          <dgm:chMax val="1"/>
          <dgm:chPref val="1"/>
        </dgm:presLayoutVars>
      </dgm:prSet>
      <dgm:spPr/>
    </dgm:pt>
    <dgm:pt modelId="{6821100B-E6D7-4102-A0FB-2B43A3738D3E}" type="pres">
      <dgm:prSet presAssocID="{6B24401F-70A8-4AFF-8F18-A44141E45004}" presName="sibTrans" presStyleLbl="sibTrans2D1" presStyleIdx="0" presStyleCnt="0"/>
      <dgm:spPr/>
    </dgm:pt>
    <dgm:pt modelId="{CE396B7E-21E8-4FDF-AA88-267DA4A05E48}" type="pres">
      <dgm:prSet presAssocID="{AFF0ACBB-E54B-4289-BD22-B4C39D2E5CA2}" presName="compNode" presStyleCnt="0"/>
      <dgm:spPr/>
    </dgm:pt>
    <dgm:pt modelId="{06245BB3-4CA6-4175-A464-B04BB2E9C903}" type="pres">
      <dgm:prSet presAssocID="{AFF0ACBB-E54B-4289-BD22-B4C39D2E5CA2}" presName="iconBgRect" presStyleLbl="bgShp" presStyleIdx="1" presStyleCnt="4"/>
      <dgm:spPr/>
    </dgm:pt>
    <dgm:pt modelId="{83AC9DA3-8507-414E-A5F5-BF8625369DA5}" type="pres">
      <dgm:prSet presAssocID="{AFF0ACBB-E54B-4289-BD22-B4C39D2E5CA2}"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gnifying glass"/>
        </a:ext>
      </dgm:extLst>
    </dgm:pt>
    <dgm:pt modelId="{2B6AC3FA-9D2D-4C28-960F-367180EE8C12}" type="pres">
      <dgm:prSet presAssocID="{AFF0ACBB-E54B-4289-BD22-B4C39D2E5CA2}" presName="spaceRect" presStyleCnt="0"/>
      <dgm:spPr/>
    </dgm:pt>
    <dgm:pt modelId="{0357785F-40BC-4E07-9869-A328734C9898}" type="pres">
      <dgm:prSet presAssocID="{AFF0ACBB-E54B-4289-BD22-B4C39D2E5CA2}" presName="textRect" presStyleLbl="revTx" presStyleIdx="1" presStyleCnt="4">
        <dgm:presLayoutVars>
          <dgm:chMax val="1"/>
          <dgm:chPref val="1"/>
        </dgm:presLayoutVars>
      </dgm:prSet>
      <dgm:spPr/>
    </dgm:pt>
    <dgm:pt modelId="{95D71367-3594-4F16-A0C4-3CAAE4F03EC9}" type="pres">
      <dgm:prSet presAssocID="{CCA4ED1E-6955-4981-9173-19DDDF8E1538}" presName="sibTrans" presStyleLbl="sibTrans2D1" presStyleIdx="0" presStyleCnt="0"/>
      <dgm:spPr/>
    </dgm:pt>
    <dgm:pt modelId="{90E4257A-FD3D-4865-AD7A-53F330417F28}" type="pres">
      <dgm:prSet presAssocID="{FEA34CC6-A5A5-42A6-BDD4-B3AF1E751D61}" presName="compNode" presStyleCnt="0"/>
      <dgm:spPr/>
    </dgm:pt>
    <dgm:pt modelId="{EACFC769-F86F-4EE5-B087-84616C0695F6}" type="pres">
      <dgm:prSet presAssocID="{FEA34CC6-A5A5-42A6-BDD4-B3AF1E751D61}" presName="iconBgRect" presStyleLbl="bgShp" presStyleIdx="2" presStyleCnt="4"/>
      <dgm:spPr/>
    </dgm:pt>
    <dgm:pt modelId="{8DEFA770-9A02-4022-B49B-16B7721E453D}" type="pres">
      <dgm:prSet presAssocID="{FEA34CC6-A5A5-42A6-BDD4-B3AF1E751D61}"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Schoolhouse"/>
        </a:ext>
      </dgm:extLst>
    </dgm:pt>
    <dgm:pt modelId="{F3DDADC4-4BC3-4D50-B3C1-43360AD6F31E}" type="pres">
      <dgm:prSet presAssocID="{FEA34CC6-A5A5-42A6-BDD4-B3AF1E751D61}" presName="spaceRect" presStyleCnt="0"/>
      <dgm:spPr/>
    </dgm:pt>
    <dgm:pt modelId="{1E3876E2-CEBE-43FB-BE06-5195782660A6}" type="pres">
      <dgm:prSet presAssocID="{FEA34CC6-A5A5-42A6-BDD4-B3AF1E751D61}" presName="textRect" presStyleLbl="revTx" presStyleIdx="2" presStyleCnt="4">
        <dgm:presLayoutVars>
          <dgm:chMax val="1"/>
          <dgm:chPref val="1"/>
        </dgm:presLayoutVars>
      </dgm:prSet>
      <dgm:spPr/>
    </dgm:pt>
    <dgm:pt modelId="{96C89105-80E8-448D-8546-0C1375940AE5}" type="pres">
      <dgm:prSet presAssocID="{1B974E19-1F52-47E9-8614-26E567843C73}" presName="sibTrans" presStyleLbl="sibTrans2D1" presStyleIdx="0" presStyleCnt="0"/>
      <dgm:spPr/>
    </dgm:pt>
    <dgm:pt modelId="{9DAD4689-4E39-4E15-B2CE-0887EE5A5F38}" type="pres">
      <dgm:prSet presAssocID="{F91447AF-4D4A-43B1-91F0-3817BA2BD3D7}" presName="compNode" presStyleCnt="0"/>
      <dgm:spPr/>
    </dgm:pt>
    <dgm:pt modelId="{C95DB29B-C71C-49B4-B707-B92254CADCAB}" type="pres">
      <dgm:prSet presAssocID="{F91447AF-4D4A-43B1-91F0-3817BA2BD3D7}" presName="iconBgRect" presStyleLbl="bgShp" presStyleIdx="3" presStyleCnt="4"/>
      <dgm:spPr/>
    </dgm:pt>
    <dgm:pt modelId="{F2F0B937-6B56-4303-B2BA-2D8A1216BDA3}" type="pres">
      <dgm:prSet presAssocID="{F91447AF-4D4A-43B1-91F0-3817BA2BD3D7}"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ongue"/>
        </a:ext>
      </dgm:extLst>
    </dgm:pt>
    <dgm:pt modelId="{AE0703D6-460E-4187-B848-9D89771E28F9}" type="pres">
      <dgm:prSet presAssocID="{F91447AF-4D4A-43B1-91F0-3817BA2BD3D7}" presName="spaceRect" presStyleCnt="0"/>
      <dgm:spPr/>
    </dgm:pt>
    <dgm:pt modelId="{1756926F-F88A-413B-9F2A-6BCD0616A623}" type="pres">
      <dgm:prSet presAssocID="{F91447AF-4D4A-43B1-91F0-3817BA2BD3D7}" presName="textRect" presStyleLbl="revTx" presStyleIdx="3" presStyleCnt="4">
        <dgm:presLayoutVars>
          <dgm:chMax val="1"/>
          <dgm:chPref val="1"/>
        </dgm:presLayoutVars>
      </dgm:prSet>
      <dgm:spPr/>
    </dgm:pt>
  </dgm:ptLst>
  <dgm:cxnLst>
    <dgm:cxn modelId="{4B23DB12-901D-4B68-BC9B-500753559B30}" type="presOf" srcId="{B2ED0ED0-CE82-4894-93A3-15ECB6F62953}" destId="{6552BAE4-0466-4475-ADFE-58B33AAB6C8E}" srcOrd="0" destOrd="0" presId="urn:microsoft.com/office/officeart/2018/2/layout/IconCircleList"/>
    <dgm:cxn modelId="{A7E99033-D2D9-4E17-97DB-619E46251EB4}" type="presOf" srcId="{1B974E19-1F52-47E9-8614-26E567843C73}" destId="{96C89105-80E8-448D-8546-0C1375940AE5}" srcOrd="0" destOrd="0" presId="urn:microsoft.com/office/officeart/2018/2/layout/IconCircleList"/>
    <dgm:cxn modelId="{20A34C39-BC06-4465-8A3D-02198FCEF7C1}" type="presOf" srcId="{6B24401F-70A8-4AFF-8F18-A44141E45004}" destId="{6821100B-E6D7-4102-A0FB-2B43A3738D3E}" srcOrd="0" destOrd="0" presId="urn:microsoft.com/office/officeart/2018/2/layout/IconCircleList"/>
    <dgm:cxn modelId="{B212173A-4991-4B5D-B1FA-C3ACFD877E2A}" srcId="{B2ED0ED0-CE82-4894-93A3-15ECB6F62953}" destId="{51261509-C82B-4090-8841-EF85C8B11FCB}" srcOrd="0" destOrd="0" parTransId="{2093223E-472A-47F8-8ED0-05D771965CD5}" sibTransId="{6B24401F-70A8-4AFF-8F18-A44141E45004}"/>
    <dgm:cxn modelId="{EA15A869-4D19-4A4D-BEE7-A976EE8DCCAF}" srcId="{B2ED0ED0-CE82-4894-93A3-15ECB6F62953}" destId="{FEA34CC6-A5A5-42A6-BDD4-B3AF1E751D61}" srcOrd="2" destOrd="0" parTransId="{084E2E07-D2D0-4800-A696-6C862D1EF64E}" sibTransId="{1B974E19-1F52-47E9-8614-26E567843C73}"/>
    <dgm:cxn modelId="{69669381-6A89-4EE0-9E74-81B25CD6EA61}" srcId="{B2ED0ED0-CE82-4894-93A3-15ECB6F62953}" destId="{AFF0ACBB-E54B-4289-BD22-B4C39D2E5CA2}" srcOrd="1" destOrd="0" parTransId="{70911611-EBD2-4569-8108-9051BC3B3931}" sibTransId="{CCA4ED1E-6955-4981-9173-19DDDF8E1538}"/>
    <dgm:cxn modelId="{9876699C-685F-4CA8-8D70-44A6087701D9}" type="presOf" srcId="{51261509-C82B-4090-8841-EF85C8B11FCB}" destId="{0FC0BA5B-DECD-41CC-9A53-45FD8A8E38F3}" srcOrd="0" destOrd="0" presId="urn:microsoft.com/office/officeart/2018/2/layout/IconCircleList"/>
    <dgm:cxn modelId="{579BC4AD-77B5-4130-9F4D-D02E69CE8DC2}" type="presOf" srcId="{CCA4ED1E-6955-4981-9173-19DDDF8E1538}" destId="{95D71367-3594-4F16-A0C4-3CAAE4F03EC9}" srcOrd="0" destOrd="0" presId="urn:microsoft.com/office/officeart/2018/2/layout/IconCircleList"/>
    <dgm:cxn modelId="{B6821EBB-7CDD-4F0A-B757-164FE496339C}" type="presOf" srcId="{AFF0ACBB-E54B-4289-BD22-B4C39D2E5CA2}" destId="{0357785F-40BC-4E07-9869-A328734C9898}" srcOrd="0" destOrd="0" presId="urn:microsoft.com/office/officeart/2018/2/layout/IconCircleList"/>
    <dgm:cxn modelId="{A989DCCC-AEBD-4968-9710-C8D0F21F6733}" type="presOf" srcId="{FEA34CC6-A5A5-42A6-BDD4-B3AF1E751D61}" destId="{1E3876E2-CEBE-43FB-BE06-5195782660A6}" srcOrd="0" destOrd="0" presId="urn:microsoft.com/office/officeart/2018/2/layout/IconCircleList"/>
    <dgm:cxn modelId="{B4CB11EC-0E3A-4744-BA36-662E92E0CB63}" srcId="{B2ED0ED0-CE82-4894-93A3-15ECB6F62953}" destId="{F91447AF-4D4A-43B1-91F0-3817BA2BD3D7}" srcOrd="3" destOrd="0" parTransId="{E84BD0C1-81BB-49E6-86D3-DCFB8D3C7933}" sibTransId="{0CBCA674-07B7-473B-AB15-615B24914924}"/>
    <dgm:cxn modelId="{E465A3F1-34C1-4D2B-8B10-5E49D2C92AC6}" type="presOf" srcId="{F91447AF-4D4A-43B1-91F0-3817BA2BD3D7}" destId="{1756926F-F88A-413B-9F2A-6BCD0616A623}" srcOrd="0" destOrd="0" presId="urn:microsoft.com/office/officeart/2018/2/layout/IconCircleList"/>
    <dgm:cxn modelId="{187EF578-4EAC-4B04-A46D-C6C5FE207F13}" type="presParOf" srcId="{6552BAE4-0466-4475-ADFE-58B33AAB6C8E}" destId="{9EAD964A-0186-46C6-9751-66A50529FF05}" srcOrd="0" destOrd="0" presId="urn:microsoft.com/office/officeart/2018/2/layout/IconCircleList"/>
    <dgm:cxn modelId="{FBF70905-62DA-4A54-AB27-52957C8435B8}" type="presParOf" srcId="{9EAD964A-0186-46C6-9751-66A50529FF05}" destId="{F5FFC483-289B-4589-A061-C95A768FED0A}" srcOrd="0" destOrd="0" presId="urn:microsoft.com/office/officeart/2018/2/layout/IconCircleList"/>
    <dgm:cxn modelId="{7EFEE7C6-144C-4BD0-8A5C-C43932F914B6}" type="presParOf" srcId="{F5FFC483-289B-4589-A061-C95A768FED0A}" destId="{EDFE75F4-00FC-4305-BDD9-7AA085ECD85D}" srcOrd="0" destOrd="0" presId="urn:microsoft.com/office/officeart/2018/2/layout/IconCircleList"/>
    <dgm:cxn modelId="{61CC29BC-85DB-437F-8333-45C949EB8FFA}" type="presParOf" srcId="{F5FFC483-289B-4589-A061-C95A768FED0A}" destId="{B45E0218-E43B-48EB-9127-8CC5878F0D7A}" srcOrd="1" destOrd="0" presId="urn:microsoft.com/office/officeart/2018/2/layout/IconCircleList"/>
    <dgm:cxn modelId="{B75BFD83-9972-4651-81C3-5C5E8927EAC9}" type="presParOf" srcId="{F5FFC483-289B-4589-A061-C95A768FED0A}" destId="{E92F28F9-0A75-441C-91AE-979479CFA372}" srcOrd="2" destOrd="0" presId="urn:microsoft.com/office/officeart/2018/2/layout/IconCircleList"/>
    <dgm:cxn modelId="{8E41E153-3668-47D6-9F15-F97A2247C0BB}" type="presParOf" srcId="{F5FFC483-289B-4589-A061-C95A768FED0A}" destId="{0FC0BA5B-DECD-41CC-9A53-45FD8A8E38F3}" srcOrd="3" destOrd="0" presId="urn:microsoft.com/office/officeart/2018/2/layout/IconCircleList"/>
    <dgm:cxn modelId="{63038517-B6B5-4FD9-9009-8A933A46AFD7}" type="presParOf" srcId="{9EAD964A-0186-46C6-9751-66A50529FF05}" destId="{6821100B-E6D7-4102-A0FB-2B43A3738D3E}" srcOrd="1" destOrd="0" presId="urn:microsoft.com/office/officeart/2018/2/layout/IconCircleList"/>
    <dgm:cxn modelId="{8731B5F3-1081-4A74-BFBF-BA385C0717EE}" type="presParOf" srcId="{9EAD964A-0186-46C6-9751-66A50529FF05}" destId="{CE396B7E-21E8-4FDF-AA88-267DA4A05E48}" srcOrd="2" destOrd="0" presId="urn:microsoft.com/office/officeart/2018/2/layout/IconCircleList"/>
    <dgm:cxn modelId="{27570ABB-1A12-402F-ADED-00BDFD567CF7}" type="presParOf" srcId="{CE396B7E-21E8-4FDF-AA88-267DA4A05E48}" destId="{06245BB3-4CA6-4175-A464-B04BB2E9C903}" srcOrd="0" destOrd="0" presId="urn:microsoft.com/office/officeart/2018/2/layout/IconCircleList"/>
    <dgm:cxn modelId="{D0B49264-BEE7-46A4-BD64-6D86F52EA710}" type="presParOf" srcId="{CE396B7E-21E8-4FDF-AA88-267DA4A05E48}" destId="{83AC9DA3-8507-414E-A5F5-BF8625369DA5}" srcOrd="1" destOrd="0" presId="urn:microsoft.com/office/officeart/2018/2/layout/IconCircleList"/>
    <dgm:cxn modelId="{73A32E5A-F5C5-47E4-A3E2-ABC79193FC2D}" type="presParOf" srcId="{CE396B7E-21E8-4FDF-AA88-267DA4A05E48}" destId="{2B6AC3FA-9D2D-4C28-960F-367180EE8C12}" srcOrd="2" destOrd="0" presId="urn:microsoft.com/office/officeart/2018/2/layout/IconCircleList"/>
    <dgm:cxn modelId="{BE7E8752-3EC7-4B53-B6F0-30790921264A}" type="presParOf" srcId="{CE396B7E-21E8-4FDF-AA88-267DA4A05E48}" destId="{0357785F-40BC-4E07-9869-A328734C9898}" srcOrd="3" destOrd="0" presId="urn:microsoft.com/office/officeart/2018/2/layout/IconCircleList"/>
    <dgm:cxn modelId="{DF3AB2F3-79EA-4CF5-AD3F-0AAEC6C8894D}" type="presParOf" srcId="{9EAD964A-0186-46C6-9751-66A50529FF05}" destId="{95D71367-3594-4F16-A0C4-3CAAE4F03EC9}" srcOrd="3" destOrd="0" presId="urn:microsoft.com/office/officeart/2018/2/layout/IconCircleList"/>
    <dgm:cxn modelId="{43D99A9D-F48C-46A3-A17D-DDFE11C1BDD0}" type="presParOf" srcId="{9EAD964A-0186-46C6-9751-66A50529FF05}" destId="{90E4257A-FD3D-4865-AD7A-53F330417F28}" srcOrd="4" destOrd="0" presId="urn:microsoft.com/office/officeart/2018/2/layout/IconCircleList"/>
    <dgm:cxn modelId="{4AF336D1-7345-4AA2-83EA-3A5EACC88FEA}" type="presParOf" srcId="{90E4257A-FD3D-4865-AD7A-53F330417F28}" destId="{EACFC769-F86F-4EE5-B087-84616C0695F6}" srcOrd="0" destOrd="0" presId="urn:microsoft.com/office/officeart/2018/2/layout/IconCircleList"/>
    <dgm:cxn modelId="{E9CAD3C6-4E3C-40D0-BD0E-4FC46130197D}" type="presParOf" srcId="{90E4257A-FD3D-4865-AD7A-53F330417F28}" destId="{8DEFA770-9A02-4022-B49B-16B7721E453D}" srcOrd="1" destOrd="0" presId="urn:microsoft.com/office/officeart/2018/2/layout/IconCircleList"/>
    <dgm:cxn modelId="{CA86781B-DC24-4157-8C49-3A296E278524}" type="presParOf" srcId="{90E4257A-FD3D-4865-AD7A-53F330417F28}" destId="{F3DDADC4-4BC3-4D50-B3C1-43360AD6F31E}" srcOrd="2" destOrd="0" presId="urn:microsoft.com/office/officeart/2018/2/layout/IconCircleList"/>
    <dgm:cxn modelId="{EC9ADD28-B78C-472A-A81C-BEE85FD7B8A2}" type="presParOf" srcId="{90E4257A-FD3D-4865-AD7A-53F330417F28}" destId="{1E3876E2-CEBE-43FB-BE06-5195782660A6}" srcOrd="3" destOrd="0" presId="urn:microsoft.com/office/officeart/2018/2/layout/IconCircleList"/>
    <dgm:cxn modelId="{E244421D-11F4-4E6B-B525-6556120D082D}" type="presParOf" srcId="{9EAD964A-0186-46C6-9751-66A50529FF05}" destId="{96C89105-80E8-448D-8546-0C1375940AE5}" srcOrd="5" destOrd="0" presId="urn:microsoft.com/office/officeart/2018/2/layout/IconCircleList"/>
    <dgm:cxn modelId="{9DC0D08D-9B57-422E-BD93-38E687035430}" type="presParOf" srcId="{9EAD964A-0186-46C6-9751-66A50529FF05}" destId="{9DAD4689-4E39-4E15-B2CE-0887EE5A5F38}" srcOrd="6" destOrd="0" presId="urn:microsoft.com/office/officeart/2018/2/layout/IconCircleList"/>
    <dgm:cxn modelId="{92636AA0-C851-44FD-9989-6F875BDC84C4}" type="presParOf" srcId="{9DAD4689-4E39-4E15-B2CE-0887EE5A5F38}" destId="{C95DB29B-C71C-49B4-B707-B92254CADCAB}" srcOrd="0" destOrd="0" presId="urn:microsoft.com/office/officeart/2018/2/layout/IconCircleList"/>
    <dgm:cxn modelId="{FC7F748A-C8AE-48CA-8A91-3E1239501B0C}" type="presParOf" srcId="{9DAD4689-4E39-4E15-B2CE-0887EE5A5F38}" destId="{F2F0B937-6B56-4303-B2BA-2D8A1216BDA3}" srcOrd="1" destOrd="0" presId="urn:microsoft.com/office/officeart/2018/2/layout/IconCircleList"/>
    <dgm:cxn modelId="{CB502DC6-40DD-419F-B306-6D437D722EFD}" type="presParOf" srcId="{9DAD4689-4E39-4E15-B2CE-0887EE5A5F38}" destId="{AE0703D6-460E-4187-B848-9D89771E28F9}" srcOrd="2" destOrd="0" presId="urn:microsoft.com/office/officeart/2018/2/layout/IconCircleList"/>
    <dgm:cxn modelId="{18563C3B-F957-4573-80C8-FE33ED32AAD8}" type="presParOf" srcId="{9DAD4689-4E39-4E15-B2CE-0887EE5A5F38}" destId="{1756926F-F88A-413B-9F2A-6BCD0616A623}"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B25340F-A464-415B-AB76-1374791F05A8}" type="doc">
      <dgm:prSet loTypeId="urn:microsoft.com/office/officeart/2016/7/layout/RepeatingBendingProcessNew" loCatId="process" qsTypeId="urn:microsoft.com/office/officeart/2005/8/quickstyle/simple1#2" qsCatId="simple" csTypeId="urn:microsoft.com/office/officeart/2005/8/colors/accent1_2#2" csCatId="accent1"/>
      <dgm:spPr/>
      <dgm:t>
        <a:bodyPr/>
        <a:lstStyle/>
        <a:p>
          <a:endParaRPr lang="en-US"/>
        </a:p>
      </dgm:t>
    </dgm:pt>
    <dgm:pt modelId="{E118B780-A69C-474B-BE55-46B6FDDDBE36}">
      <dgm:prSet/>
      <dgm:spPr/>
      <dgm:t>
        <a:bodyPr/>
        <a:lstStyle/>
        <a:p>
          <a:r>
            <a:rPr lang="en-US" dirty="0"/>
            <a:t>Develop cultural self-awareness.</a:t>
          </a:r>
        </a:p>
      </dgm:t>
    </dgm:pt>
    <dgm:pt modelId="{3F2FD230-5388-44EB-B954-EE594B48F9F9}" type="parTrans" cxnId="{2D7A05B2-A68B-4FCD-87D8-2CCF94AFA378}">
      <dgm:prSet/>
      <dgm:spPr/>
      <dgm:t>
        <a:bodyPr/>
        <a:lstStyle/>
        <a:p>
          <a:endParaRPr lang="en-US"/>
        </a:p>
      </dgm:t>
    </dgm:pt>
    <dgm:pt modelId="{FD8B02EC-7537-414F-93B8-34BE0D6A06C8}" type="sibTrans" cxnId="{2D7A05B2-A68B-4FCD-87D8-2CCF94AFA378}">
      <dgm:prSet/>
      <dgm:spPr/>
      <dgm:t>
        <a:bodyPr/>
        <a:lstStyle/>
        <a:p>
          <a:endParaRPr lang="en-US"/>
        </a:p>
      </dgm:t>
    </dgm:pt>
    <dgm:pt modelId="{516E7290-96FD-40FF-88F6-775A07656CED}">
      <dgm:prSet/>
      <dgm:spPr/>
      <dgm:t>
        <a:bodyPr/>
        <a:lstStyle/>
        <a:p>
          <a:r>
            <a:rPr lang="en-US" dirty="0"/>
            <a:t>Cultivate cultural sensitivity.</a:t>
          </a:r>
        </a:p>
      </dgm:t>
    </dgm:pt>
    <dgm:pt modelId="{6F12F7AE-80DA-42D4-AF7B-CE581D76D989}" type="parTrans" cxnId="{68E7C818-7B26-4BA7-9976-8A78D792C8FB}">
      <dgm:prSet/>
      <dgm:spPr/>
      <dgm:t>
        <a:bodyPr/>
        <a:lstStyle/>
        <a:p>
          <a:endParaRPr lang="en-US"/>
        </a:p>
      </dgm:t>
    </dgm:pt>
    <dgm:pt modelId="{5FA6EDE2-91A6-4D70-B9D5-917D208DCFEF}" type="sibTrans" cxnId="{68E7C818-7B26-4BA7-9976-8A78D792C8FB}">
      <dgm:prSet/>
      <dgm:spPr/>
      <dgm:t>
        <a:bodyPr/>
        <a:lstStyle/>
        <a:p>
          <a:endParaRPr lang="en-US"/>
        </a:p>
      </dgm:t>
    </dgm:pt>
    <dgm:pt modelId="{F908FCA8-C205-4AD6-8093-89BFF94472FC}">
      <dgm:prSet/>
      <dgm:spPr/>
      <dgm:t>
        <a:bodyPr/>
        <a:lstStyle/>
        <a:p>
          <a:r>
            <a:rPr lang="en-US" dirty="0"/>
            <a:t>Assess the client group’s culture.</a:t>
          </a:r>
        </a:p>
      </dgm:t>
    </dgm:pt>
    <dgm:pt modelId="{D9486BFF-F100-4FCB-9F51-24CE8B5EF4BF}" type="parTrans" cxnId="{D5B63A41-61DF-497F-A6E0-B3671148FD8D}">
      <dgm:prSet/>
      <dgm:spPr/>
      <dgm:t>
        <a:bodyPr/>
        <a:lstStyle/>
        <a:p>
          <a:endParaRPr lang="en-US"/>
        </a:p>
      </dgm:t>
    </dgm:pt>
    <dgm:pt modelId="{F599D6AF-5566-4509-B2FE-ACC45267D7C1}" type="sibTrans" cxnId="{D5B63A41-61DF-497F-A6E0-B3671148FD8D}">
      <dgm:prSet/>
      <dgm:spPr/>
      <dgm:t>
        <a:bodyPr/>
        <a:lstStyle/>
        <a:p>
          <a:endParaRPr lang="en-US"/>
        </a:p>
      </dgm:t>
    </dgm:pt>
    <dgm:pt modelId="{278D4A1B-6F41-459E-9C81-9039B9DC7089}">
      <dgm:prSet/>
      <dgm:spPr/>
      <dgm:t>
        <a:bodyPr/>
        <a:lstStyle/>
        <a:p>
          <a:r>
            <a:rPr lang="en-US" dirty="0"/>
            <a:t>Show respect and patience while learning about other cultures.</a:t>
          </a:r>
        </a:p>
      </dgm:t>
    </dgm:pt>
    <dgm:pt modelId="{4FDC53CB-9836-4308-B536-A95A68899414}" type="parTrans" cxnId="{853F430D-4FD5-453F-8405-D1AF240DD008}">
      <dgm:prSet/>
      <dgm:spPr/>
      <dgm:t>
        <a:bodyPr/>
        <a:lstStyle/>
        <a:p>
          <a:endParaRPr lang="en-US"/>
        </a:p>
      </dgm:t>
    </dgm:pt>
    <dgm:pt modelId="{72A89E9B-937A-4A55-B111-2CC567BAF398}" type="sibTrans" cxnId="{853F430D-4FD5-453F-8405-D1AF240DD008}">
      <dgm:prSet/>
      <dgm:spPr/>
      <dgm:t>
        <a:bodyPr/>
        <a:lstStyle/>
        <a:p>
          <a:endParaRPr lang="en-US"/>
        </a:p>
      </dgm:t>
    </dgm:pt>
    <dgm:pt modelId="{7EB62C2F-27B8-4554-B0C8-0299745EA425}">
      <dgm:prSet/>
      <dgm:spPr/>
      <dgm:t>
        <a:bodyPr/>
        <a:lstStyle/>
        <a:p>
          <a:r>
            <a:rPr lang="en-US" dirty="0"/>
            <a:t>Examine culturally derived health practices.</a:t>
          </a:r>
        </a:p>
      </dgm:t>
    </dgm:pt>
    <dgm:pt modelId="{261EC15B-2DAE-4E06-83B1-12A79F0B17A8}" type="parTrans" cxnId="{EC2354CD-8AB5-4B8B-9976-5CA5F5BAC61D}">
      <dgm:prSet/>
      <dgm:spPr/>
      <dgm:t>
        <a:bodyPr/>
        <a:lstStyle/>
        <a:p>
          <a:endParaRPr lang="en-US"/>
        </a:p>
      </dgm:t>
    </dgm:pt>
    <dgm:pt modelId="{95EC615C-42FD-4EC9-AD10-9C77D454737A}" type="sibTrans" cxnId="{EC2354CD-8AB5-4B8B-9976-5CA5F5BAC61D}">
      <dgm:prSet/>
      <dgm:spPr/>
      <dgm:t>
        <a:bodyPr/>
        <a:lstStyle/>
        <a:p>
          <a:endParaRPr lang="en-US"/>
        </a:p>
      </dgm:t>
    </dgm:pt>
    <dgm:pt modelId="{5EABA8BC-E653-440A-B92D-1DE642682317}" type="pres">
      <dgm:prSet presAssocID="{3B25340F-A464-415B-AB76-1374791F05A8}" presName="Name0" presStyleCnt="0">
        <dgm:presLayoutVars>
          <dgm:dir/>
          <dgm:resizeHandles val="exact"/>
        </dgm:presLayoutVars>
      </dgm:prSet>
      <dgm:spPr/>
    </dgm:pt>
    <dgm:pt modelId="{628B9FB5-52D1-4BDB-9D15-795E87838801}" type="pres">
      <dgm:prSet presAssocID="{E118B780-A69C-474B-BE55-46B6FDDDBE36}" presName="node" presStyleLbl="node1" presStyleIdx="0" presStyleCnt="5">
        <dgm:presLayoutVars>
          <dgm:bulletEnabled val="1"/>
        </dgm:presLayoutVars>
      </dgm:prSet>
      <dgm:spPr/>
    </dgm:pt>
    <dgm:pt modelId="{8B0C49F9-27D7-44B3-BEEC-BF0BCC8D1F43}" type="pres">
      <dgm:prSet presAssocID="{FD8B02EC-7537-414F-93B8-34BE0D6A06C8}" presName="sibTrans" presStyleLbl="sibTrans1D1" presStyleIdx="0" presStyleCnt="4"/>
      <dgm:spPr/>
    </dgm:pt>
    <dgm:pt modelId="{3DF732B3-E9F0-4B6A-8B54-57E5776E45E5}" type="pres">
      <dgm:prSet presAssocID="{FD8B02EC-7537-414F-93B8-34BE0D6A06C8}" presName="connectorText" presStyleLbl="sibTrans1D1" presStyleIdx="0" presStyleCnt="4"/>
      <dgm:spPr/>
    </dgm:pt>
    <dgm:pt modelId="{EE46F825-1370-4316-B208-C48BFB652619}" type="pres">
      <dgm:prSet presAssocID="{516E7290-96FD-40FF-88F6-775A07656CED}" presName="node" presStyleLbl="node1" presStyleIdx="1" presStyleCnt="5">
        <dgm:presLayoutVars>
          <dgm:bulletEnabled val="1"/>
        </dgm:presLayoutVars>
      </dgm:prSet>
      <dgm:spPr/>
    </dgm:pt>
    <dgm:pt modelId="{986BEFC1-A723-4506-BB27-77BF6B42B2DD}" type="pres">
      <dgm:prSet presAssocID="{5FA6EDE2-91A6-4D70-B9D5-917D208DCFEF}" presName="sibTrans" presStyleLbl="sibTrans1D1" presStyleIdx="1" presStyleCnt="4"/>
      <dgm:spPr/>
    </dgm:pt>
    <dgm:pt modelId="{928F9487-6D05-465A-A5A1-6C96AF1CCBA3}" type="pres">
      <dgm:prSet presAssocID="{5FA6EDE2-91A6-4D70-B9D5-917D208DCFEF}" presName="connectorText" presStyleLbl="sibTrans1D1" presStyleIdx="1" presStyleCnt="4"/>
      <dgm:spPr/>
    </dgm:pt>
    <dgm:pt modelId="{7ABD1CAC-E8E0-4249-9C22-403489280AB2}" type="pres">
      <dgm:prSet presAssocID="{F908FCA8-C205-4AD6-8093-89BFF94472FC}" presName="node" presStyleLbl="node1" presStyleIdx="2" presStyleCnt="5">
        <dgm:presLayoutVars>
          <dgm:bulletEnabled val="1"/>
        </dgm:presLayoutVars>
      </dgm:prSet>
      <dgm:spPr/>
    </dgm:pt>
    <dgm:pt modelId="{2D7D5DE5-D0DA-4CCA-8F0C-A4C6DC11D316}" type="pres">
      <dgm:prSet presAssocID="{F599D6AF-5566-4509-B2FE-ACC45267D7C1}" presName="sibTrans" presStyleLbl="sibTrans1D1" presStyleIdx="2" presStyleCnt="4"/>
      <dgm:spPr/>
    </dgm:pt>
    <dgm:pt modelId="{283B4E25-B91F-44FE-AE02-40C1603ABDE3}" type="pres">
      <dgm:prSet presAssocID="{F599D6AF-5566-4509-B2FE-ACC45267D7C1}" presName="connectorText" presStyleLbl="sibTrans1D1" presStyleIdx="2" presStyleCnt="4"/>
      <dgm:spPr/>
    </dgm:pt>
    <dgm:pt modelId="{341139AD-D36A-4DF4-BA6F-DC49928ED555}" type="pres">
      <dgm:prSet presAssocID="{278D4A1B-6F41-459E-9C81-9039B9DC7089}" presName="node" presStyleLbl="node1" presStyleIdx="3" presStyleCnt="5">
        <dgm:presLayoutVars>
          <dgm:bulletEnabled val="1"/>
        </dgm:presLayoutVars>
      </dgm:prSet>
      <dgm:spPr/>
    </dgm:pt>
    <dgm:pt modelId="{2570C40A-4F69-4413-B23F-8D395D7D5A7C}" type="pres">
      <dgm:prSet presAssocID="{72A89E9B-937A-4A55-B111-2CC567BAF398}" presName="sibTrans" presStyleLbl="sibTrans1D1" presStyleIdx="3" presStyleCnt="4"/>
      <dgm:spPr/>
    </dgm:pt>
    <dgm:pt modelId="{CDC6B8BC-7C3F-485C-B367-C7B503A8B275}" type="pres">
      <dgm:prSet presAssocID="{72A89E9B-937A-4A55-B111-2CC567BAF398}" presName="connectorText" presStyleLbl="sibTrans1D1" presStyleIdx="3" presStyleCnt="4"/>
      <dgm:spPr/>
    </dgm:pt>
    <dgm:pt modelId="{E7CA11C2-0E28-488A-A1C4-B375AC4A3893}" type="pres">
      <dgm:prSet presAssocID="{7EB62C2F-27B8-4554-B0C8-0299745EA425}" presName="node" presStyleLbl="node1" presStyleIdx="4" presStyleCnt="5">
        <dgm:presLayoutVars>
          <dgm:bulletEnabled val="1"/>
        </dgm:presLayoutVars>
      </dgm:prSet>
      <dgm:spPr/>
    </dgm:pt>
  </dgm:ptLst>
  <dgm:cxnLst>
    <dgm:cxn modelId="{853F430D-4FD5-453F-8405-D1AF240DD008}" srcId="{3B25340F-A464-415B-AB76-1374791F05A8}" destId="{278D4A1B-6F41-459E-9C81-9039B9DC7089}" srcOrd="3" destOrd="0" parTransId="{4FDC53CB-9836-4308-B536-A95A68899414}" sibTransId="{72A89E9B-937A-4A55-B111-2CC567BAF398}"/>
    <dgm:cxn modelId="{68E7C818-7B26-4BA7-9976-8A78D792C8FB}" srcId="{3B25340F-A464-415B-AB76-1374791F05A8}" destId="{516E7290-96FD-40FF-88F6-775A07656CED}" srcOrd="1" destOrd="0" parTransId="{6F12F7AE-80DA-42D4-AF7B-CE581D76D989}" sibTransId="{5FA6EDE2-91A6-4D70-B9D5-917D208DCFEF}"/>
    <dgm:cxn modelId="{7D18A626-C44D-4AC3-A6E0-95BC8D3FB3BC}" type="presOf" srcId="{72A89E9B-937A-4A55-B111-2CC567BAF398}" destId="{2570C40A-4F69-4413-B23F-8D395D7D5A7C}" srcOrd="0" destOrd="0" presId="urn:microsoft.com/office/officeart/2016/7/layout/RepeatingBendingProcessNew"/>
    <dgm:cxn modelId="{0B8B432D-CB3A-4A68-B46D-A18DB9DD522E}" type="presOf" srcId="{F908FCA8-C205-4AD6-8093-89BFF94472FC}" destId="{7ABD1CAC-E8E0-4249-9C22-403489280AB2}" srcOrd="0" destOrd="0" presId="urn:microsoft.com/office/officeart/2016/7/layout/RepeatingBendingProcessNew"/>
    <dgm:cxn modelId="{95C0085C-0D61-40EC-A93C-0C5004F59E9D}" type="presOf" srcId="{5FA6EDE2-91A6-4D70-B9D5-917D208DCFEF}" destId="{986BEFC1-A723-4506-BB27-77BF6B42B2DD}" srcOrd="0" destOrd="0" presId="urn:microsoft.com/office/officeart/2016/7/layout/RepeatingBendingProcessNew"/>
    <dgm:cxn modelId="{EA9A2E60-1DA9-43AE-A126-3884AB514201}" type="presOf" srcId="{FD8B02EC-7537-414F-93B8-34BE0D6A06C8}" destId="{8B0C49F9-27D7-44B3-BEEC-BF0BCC8D1F43}" srcOrd="0" destOrd="0" presId="urn:microsoft.com/office/officeart/2016/7/layout/RepeatingBendingProcessNew"/>
    <dgm:cxn modelId="{D5B63A41-61DF-497F-A6E0-B3671148FD8D}" srcId="{3B25340F-A464-415B-AB76-1374791F05A8}" destId="{F908FCA8-C205-4AD6-8093-89BFF94472FC}" srcOrd="2" destOrd="0" parTransId="{D9486BFF-F100-4FCB-9F51-24CE8B5EF4BF}" sibTransId="{F599D6AF-5566-4509-B2FE-ACC45267D7C1}"/>
    <dgm:cxn modelId="{9DB27A61-B38B-4089-867B-39A275219061}" type="presOf" srcId="{E118B780-A69C-474B-BE55-46B6FDDDBE36}" destId="{628B9FB5-52D1-4BDB-9D15-795E87838801}" srcOrd="0" destOrd="0" presId="urn:microsoft.com/office/officeart/2016/7/layout/RepeatingBendingProcessNew"/>
    <dgm:cxn modelId="{EC1B8D8F-B810-42A3-B895-F980D4F2BE00}" type="presOf" srcId="{5FA6EDE2-91A6-4D70-B9D5-917D208DCFEF}" destId="{928F9487-6D05-465A-A5A1-6C96AF1CCBA3}" srcOrd="1" destOrd="0" presId="urn:microsoft.com/office/officeart/2016/7/layout/RepeatingBendingProcessNew"/>
    <dgm:cxn modelId="{5E579E97-E129-4D0C-A618-5C0EFF2181C0}" type="presOf" srcId="{516E7290-96FD-40FF-88F6-775A07656CED}" destId="{EE46F825-1370-4316-B208-C48BFB652619}" srcOrd="0" destOrd="0" presId="urn:microsoft.com/office/officeart/2016/7/layout/RepeatingBendingProcessNew"/>
    <dgm:cxn modelId="{AA7C459F-C773-45D4-88BC-342D67CAEFE9}" type="presOf" srcId="{278D4A1B-6F41-459E-9C81-9039B9DC7089}" destId="{341139AD-D36A-4DF4-BA6F-DC49928ED555}" srcOrd="0" destOrd="0" presId="urn:microsoft.com/office/officeart/2016/7/layout/RepeatingBendingProcessNew"/>
    <dgm:cxn modelId="{2D7A05B2-A68B-4FCD-87D8-2CCF94AFA378}" srcId="{3B25340F-A464-415B-AB76-1374791F05A8}" destId="{E118B780-A69C-474B-BE55-46B6FDDDBE36}" srcOrd="0" destOrd="0" parTransId="{3F2FD230-5388-44EB-B954-EE594B48F9F9}" sibTransId="{FD8B02EC-7537-414F-93B8-34BE0D6A06C8}"/>
    <dgm:cxn modelId="{52BEECB7-FD95-421E-8C28-A5D85D463D8B}" type="presOf" srcId="{3B25340F-A464-415B-AB76-1374791F05A8}" destId="{5EABA8BC-E653-440A-B92D-1DE642682317}" srcOrd="0" destOrd="0" presId="urn:microsoft.com/office/officeart/2016/7/layout/RepeatingBendingProcessNew"/>
    <dgm:cxn modelId="{78C47BB8-7A7E-4550-8DB4-0536C0AAB287}" type="presOf" srcId="{7EB62C2F-27B8-4554-B0C8-0299745EA425}" destId="{E7CA11C2-0E28-488A-A1C4-B375AC4A3893}" srcOrd="0" destOrd="0" presId="urn:microsoft.com/office/officeart/2016/7/layout/RepeatingBendingProcessNew"/>
    <dgm:cxn modelId="{3954EABA-29B5-4F77-8A1F-3B62A41ED8C3}" type="presOf" srcId="{F599D6AF-5566-4509-B2FE-ACC45267D7C1}" destId="{2D7D5DE5-D0DA-4CCA-8F0C-A4C6DC11D316}" srcOrd="0" destOrd="0" presId="urn:microsoft.com/office/officeart/2016/7/layout/RepeatingBendingProcessNew"/>
    <dgm:cxn modelId="{D30187C8-BD17-4387-9714-E6280BC5C3B3}" type="presOf" srcId="{72A89E9B-937A-4A55-B111-2CC567BAF398}" destId="{CDC6B8BC-7C3F-485C-B367-C7B503A8B275}" srcOrd="1" destOrd="0" presId="urn:microsoft.com/office/officeart/2016/7/layout/RepeatingBendingProcessNew"/>
    <dgm:cxn modelId="{EC2354CD-8AB5-4B8B-9976-5CA5F5BAC61D}" srcId="{3B25340F-A464-415B-AB76-1374791F05A8}" destId="{7EB62C2F-27B8-4554-B0C8-0299745EA425}" srcOrd="4" destOrd="0" parTransId="{261EC15B-2DAE-4E06-83B1-12A79F0B17A8}" sibTransId="{95EC615C-42FD-4EC9-AD10-9C77D454737A}"/>
    <dgm:cxn modelId="{E459DBD8-06C2-4BBB-AFC5-AB997CCF8B30}" type="presOf" srcId="{F599D6AF-5566-4509-B2FE-ACC45267D7C1}" destId="{283B4E25-B91F-44FE-AE02-40C1603ABDE3}" srcOrd="1" destOrd="0" presId="urn:microsoft.com/office/officeart/2016/7/layout/RepeatingBendingProcessNew"/>
    <dgm:cxn modelId="{1BF634DA-5717-435D-AD3B-776C4605D0C9}" type="presOf" srcId="{FD8B02EC-7537-414F-93B8-34BE0D6A06C8}" destId="{3DF732B3-E9F0-4B6A-8B54-57E5776E45E5}" srcOrd="1" destOrd="0" presId="urn:microsoft.com/office/officeart/2016/7/layout/RepeatingBendingProcessNew"/>
    <dgm:cxn modelId="{F36A1DE1-DC6B-487D-8810-CC259D040003}" type="presParOf" srcId="{5EABA8BC-E653-440A-B92D-1DE642682317}" destId="{628B9FB5-52D1-4BDB-9D15-795E87838801}" srcOrd="0" destOrd="0" presId="urn:microsoft.com/office/officeart/2016/7/layout/RepeatingBendingProcessNew"/>
    <dgm:cxn modelId="{756593ED-E3BA-418A-833B-D849311840FE}" type="presParOf" srcId="{5EABA8BC-E653-440A-B92D-1DE642682317}" destId="{8B0C49F9-27D7-44B3-BEEC-BF0BCC8D1F43}" srcOrd="1" destOrd="0" presId="urn:microsoft.com/office/officeart/2016/7/layout/RepeatingBendingProcessNew"/>
    <dgm:cxn modelId="{2B5B8959-189C-414A-AA48-5BFBED22958C}" type="presParOf" srcId="{8B0C49F9-27D7-44B3-BEEC-BF0BCC8D1F43}" destId="{3DF732B3-E9F0-4B6A-8B54-57E5776E45E5}" srcOrd="0" destOrd="0" presId="urn:microsoft.com/office/officeart/2016/7/layout/RepeatingBendingProcessNew"/>
    <dgm:cxn modelId="{61CADB33-F10A-4546-A7AB-481964272633}" type="presParOf" srcId="{5EABA8BC-E653-440A-B92D-1DE642682317}" destId="{EE46F825-1370-4316-B208-C48BFB652619}" srcOrd="2" destOrd="0" presId="urn:microsoft.com/office/officeart/2016/7/layout/RepeatingBendingProcessNew"/>
    <dgm:cxn modelId="{279FB832-3B29-4372-B78E-D6FBFA04D30C}" type="presParOf" srcId="{5EABA8BC-E653-440A-B92D-1DE642682317}" destId="{986BEFC1-A723-4506-BB27-77BF6B42B2DD}" srcOrd="3" destOrd="0" presId="urn:microsoft.com/office/officeart/2016/7/layout/RepeatingBendingProcessNew"/>
    <dgm:cxn modelId="{7A71F6DF-C7EA-4582-82AE-61FA53404034}" type="presParOf" srcId="{986BEFC1-A723-4506-BB27-77BF6B42B2DD}" destId="{928F9487-6D05-465A-A5A1-6C96AF1CCBA3}" srcOrd="0" destOrd="0" presId="urn:microsoft.com/office/officeart/2016/7/layout/RepeatingBendingProcessNew"/>
    <dgm:cxn modelId="{0C643F68-BAA1-47B5-8169-DF576F7540F6}" type="presParOf" srcId="{5EABA8BC-E653-440A-B92D-1DE642682317}" destId="{7ABD1CAC-E8E0-4249-9C22-403489280AB2}" srcOrd="4" destOrd="0" presId="urn:microsoft.com/office/officeart/2016/7/layout/RepeatingBendingProcessNew"/>
    <dgm:cxn modelId="{7606EE8A-5CC5-41B8-BAF2-F948276C1F2F}" type="presParOf" srcId="{5EABA8BC-E653-440A-B92D-1DE642682317}" destId="{2D7D5DE5-D0DA-4CCA-8F0C-A4C6DC11D316}" srcOrd="5" destOrd="0" presId="urn:microsoft.com/office/officeart/2016/7/layout/RepeatingBendingProcessNew"/>
    <dgm:cxn modelId="{A470AA73-9B9E-42F7-857E-5EE4C4791568}" type="presParOf" srcId="{2D7D5DE5-D0DA-4CCA-8F0C-A4C6DC11D316}" destId="{283B4E25-B91F-44FE-AE02-40C1603ABDE3}" srcOrd="0" destOrd="0" presId="urn:microsoft.com/office/officeart/2016/7/layout/RepeatingBendingProcessNew"/>
    <dgm:cxn modelId="{6E9A6AD9-F73F-4545-BA42-213555DCB957}" type="presParOf" srcId="{5EABA8BC-E653-440A-B92D-1DE642682317}" destId="{341139AD-D36A-4DF4-BA6F-DC49928ED555}" srcOrd="6" destOrd="0" presId="urn:microsoft.com/office/officeart/2016/7/layout/RepeatingBendingProcessNew"/>
    <dgm:cxn modelId="{63945394-851B-457E-8CEE-24113DA6A02D}" type="presParOf" srcId="{5EABA8BC-E653-440A-B92D-1DE642682317}" destId="{2570C40A-4F69-4413-B23F-8D395D7D5A7C}" srcOrd="7" destOrd="0" presId="urn:microsoft.com/office/officeart/2016/7/layout/RepeatingBendingProcessNew"/>
    <dgm:cxn modelId="{933AD60D-5B1F-4EDC-ADFD-5A7EE97E7F62}" type="presParOf" srcId="{2570C40A-4F69-4413-B23F-8D395D7D5A7C}" destId="{CDC6B8BC-7C3F-485C-B367-C7B503A8B275}" srcOrd="0" destOrd="0" presId="urn:microsoft.com/office/officeart/2016/7/layout/RepeatingBendingProcessNew"/>
    <dgm:cxn modelId="{9F49D317-307B-47C2-8469-5C9149DD23F9}" type="presParOf" srcId="{5EABA8BC-E653-440A-B92D-1DE642682317}" destId="{E7CA11C2-0E28-488A-A1C4-B375AC4A3893}" srcOrd="8" destOrd="0" presId="urn:microsoft.com/office/officeart/2016/7/layout/RepeatingBendingProcessNew"/>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FE75F4-00FC-4305-BDD9-7AA085ECD85D}">
      <dsp:nvSpPr>
        <dsp:cNvPr id="0" name=""/>
        <dsp:cNvSpPr/>
      </dsp:nvSpPr>
      <dsp:spPr>
        <a:xfrm>
          <a:off x="103193" y="416727"/>
          <a:ext cx="1113034" cy="111303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5E0218-E43B-48EB-9127-8CC5878F0D7A}">
      <dsp:nvSpPr>
        <dsp:cNvPr id="0" name=""/>
        <dsp:cNvSpPr/>
      </dsp:nvSpPr>
      <dsp:spPr>
        <a:xfrm>
          <a:off x="336930" y="650465"/>
          <a:ext cx="645560" cy="64556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C0BA5B-DECD-41CC-9A53-45FD8A8E38F3}">
      <dsp:nvSpPr>
        <dsp:cNvPr id="0" name=""/>
        <dsp:cNvSpPr/>
      </dsp:nvSpPr>
      <dsp:spPr>
        <a:xfrm>
          <a:off x="1454735" y="416727"/>
          <a:ext cx="2623581" cy="1113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dirty="0"/>
            <a:t>Make no assumptions about a client’s understanding of health care issues.</a:t>
          </a:r>
        </a:p>
      </dsp:txBody>
      <dsp:txXfrm>
        <a:off x="1454735" y="416727"/>
        <a:ext cx="2623581" cy="1113034"/>
      </dsp:txXfrm>
    </dsp:sp>
    <dsp:sp modelId="{06245BB3-4CA6-4175-A464-B04BB2E9C903}">
      <dsp:nvSpPr>
        <dsp:cNvPr id="0" name=""/>
        <dsp:cNvSpPr/>
      </dsp:nvSpPr>
      <dsp:spPr>
        <a:xfrm>
          <a:off x="4535457" y="416727"/>
          <a:ext cx="1113034" cy="111303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AC9DA3-8507-414E-A5F5-BF8625369DA5}">
      <dsp:nvSpPr>
        <dsp:cNvPr id="0" name=""/>
        <dsp:cNvSpPr/>
      </dsp:nvSpPr>
      <dsp:spPr>
        <a:xfrm>
          <a:off x="4769194" y="650465"/>
          <a:ext cx="645560" cy="64556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57785F-40BC-4E07-9869-A328734C9898}">
      <dsp:nvSpPr>
        <dsp:cNvPr id="0" name=""/>
        <dsp:cNvSpPr/>
      </dsp:nvSpPr>
      <dsp:spPr>
        <a:xfrm>
          <a:off x="5886999" y="416727"/>
          <a:ext cx="2623581" cy="1113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dirty="0"/>
            <a:t>Permit more time for interviewing; allow time to evaluate beliefs and provide appropriate interventions.</a:t>
          </a:r>
        </a:p>
      </dsp:txBody>
      <dsp:txXfrm>
        <a:off x="5886999" y="416727"/>
        <a:ext cx="2623581" cy="1113034"/>
      </dsp:txXfrm>
    </dsp:sp>
    <dsp:sp modelId="{EACFC769-F86F-4EE5-B087-84616C0695F6}">
      <dsp:nvSpPr>
        <dsp:cNvPr id="0" name=""/>
        <dsp:cNvSpPr/>
      </dsp:nvSpPr>
      <dsp:spPr>
        <a:xfrm>
          <a:off x="103193" y="2156412"/>
          <a:ext cx="1113034" cy="111303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EFA770-9A02-4022-B49B-16B7721E453D}">
      <dsp:nvSpPr>
        <dsp:cNvPr id="0" name=""/>
        <dsp:cNvSpPr/>
      </dsp:nvSpPr>
      <dsp:spPr>
        <a:xfrm>
          <a:off x="336930" y="2390149"/>
          <a:ext cx="645560" cy="64556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3876E2-CEBE-43FB-BE06-5195782660A6}">
      <dsp:nvSpPr>
        <dsp:cNvPr id="0" name=""/>
        <dsp:cNvSpPr/>
      </dsp:nvSpPr>
      <dsp:spPr>
        <a:xfrm>
          <a:off x="1454735" y="2156412"/>
          <a:ext cx="2623581" cy="1113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dirty="0"/>
            <a:t>Provide educational programs to correct any misconceptions about health issues; this can occur in clinics, mosques, schools, or homes.</a:t>
          </a:r>
        </a:p>
      </dsp:txBody>
      <dsp:txXfrm>
        <a:off x="1454735" y="2156412"/>
        <a:ext cx="2623581" cy="1113034"/>
      </dsp:txXfrm>
    </dsp:sp>
    <dsp:sp modelId="{C95DB29B-C71C-49B4-B707-B92254CADCAB}">
      <dsp:nvSpPr>
        <dsp:cNvPr id="0" name=""/>
        <dsp:cNvSpPr/>
      </dsp:nvSpPr>
      <dsp:spPr>
        <a:xfrm>
          <a:off x="4535457" y="2156412"/>
          <a:ext cx="1113034" cy="111303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F0B937-6B56-4303-B2BA-2D8A1216BDA3}">
      <dsp:nvSpPr>
        <dsp:cNvPr id="0" name=""/>
        <dsp:cNvSpPr/>
      </dsp:nvSpPr>
      <dsp:spPr>
        <a:xfrm>
          <a:off x="4769194" y="2390149"/>
          <a:ext cx="645560" cy="64556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56926F-F88A-413B-9F2A-6BCD0616A623}">
      <dsp:nvSpPr>
        <dsp:cNvPr id="0" name=""/>
        <dsp:cNvSpPr/>
      </dsp:nvSpPr>
      <dsp:spPr>
        <a:xfrm>
          <a:off x="5886999" y="2156412"/>
          <a:ext cx="2623581" cy="1113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dirty="0"/>
            <a:t>Provide an appropriate interpreter to improve communication with people who do not speak English or Arabic well.</a:t>
          </a:r>
        </a:p>
      </dsp:txBody>
      <dsp:txXfrm>
        <a:off x="5886999" y="2156412"/>
        <a:ext cx="2623581" cy="1113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0C49F9-27D7-44B3-BEEC-BF0BCC8D1F43}">
      <dsp:nvSpPr>
        <dsp:cNvPr id="0" name=""/>
        <dsp:cNvSpPr/>
      </dsp:nvSpPr>
      <dsp:spPr>
        <a:xfrm>
          <a:off x="2533501" y="1117892"/>
          <a:ext cx="550974" cy="91440"/>
        </a:xfrm>
        <a:custGeom>
          <a:avLst/>
          <a:gdLst/>
          <a:ahLst/>
          <a:cxnLst/>
          <a:rect l="0" t="0" r="0" b="0"/>
          <a:pathLst>
            <a:path>
              <a:moveTo>
                <a:pt x="0" y="45720"/>
              </a:moveTo>
              <a:lnTo>
                <a:pt x="550974"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794449" y="1160704"/>
        <a:ext cx="29078" cy="5815"/>
      </dsp:txXfrm>
    </dsp:sp>
    <dsp:sp modelId="{628B9FB5-52D1-4BDB-9D15-795E87838801}">
      <dsp:nvSpPr>
        <dsp:cNvPr id="0" name=""/>
        <dsp:cNvSpPr/>
      </dsp:nvSpPr>
      <dsp:spPr>
        <a:xfrm>
          <a:off x="6717" y="405037"/>
          <a:ext cx="2528584" cy="151715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3903" tIns="130058" rIns="123903" bIns="130058" numCol="1" spcCol="1270" anchor="ctr" anchorCtr="0">
          <a:noAutofit/>
        </a:bodyPr>
        <a:lstStyle/>
        <a:p>
          <a:pPr marL="0" lvl="0" indent="0" algn="ctr" defTabSz="977900">
            <a:lnSpc>
              <a:spcPct val="90000"/>
            </a:lnSpc>
            <a:spcBef>
              <a:spcPct val="0"/>
            </a:spcBef>
            <a:spcAft>
              <a:spcPct val="35000"/>
            </a:spcAft>
            <a:buNone/>
          </a:pPr>
          <a:r>
            <a:rPr lang="en-US" sz="2200" kern="1200" dirty="0"/>
            <a:t>Develop cultural self-awareness.</a:t>
          </a:r>
        </a:p>
      </dsp:txBody>
      <dsp:txXfrm>
        <a:off x="6717" y="405037"/>
        <a:ext cx="2528584" cy="1517150"/>
      </dsp:txXfrm>
    </dsp:sp>
    <dsp:sp modelId="{986BEFC1-A723-4506-BB27-77BF6B42B2DD}">
      <dsp:nvSpPr>
        <dsp:cNvPr id="0" name=""/>
        <dsp:cNvSpPr/>
      </dsp:nvSpPr>
      <dsp:spPr>
        <a:xfrm>
          <a:off x="5643660" y="1117892"/>
          <a:ext cx="550974" cy="91440"/>
        </a:xfrm>
        <a:custGeom>
          <a:avLst/>
          <a:gdLst/>
          <a:ahLst/>
          <a:cxnLst/>
          <a:rect l="0" t="0" r="0" b="0"/>
          <a:pathLst>
            <a:path>
              <a:moveTo>
                <a:pt x="0" y="45720"/>
              </a:moveTo>
              <a:lnTo>
                <a:pt x="550974"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904608" y="1160704"/>
        <a:ext cx="29078" cy="5815"/>
      </dsp:txXfrm>
    </dsp:sp>
    <dsp:sp modelId="{EE46F825-1370-4316-B208-C48BFB652619}">
      <dsp:nvSpPr>
        <dsp:cNvPr id="0" name=""/>
        <dsp:cNvSpPr/>
      </dsp:nvSpPr>
      <dsp:spPr>
        <a:xfrm>
          <a:off x="3116876" y="405037"/>
          <a:ext cx="2528584" cy="151715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3903" tIns="130058" rIns="123903" bIns="130058" numCol="1" spcCol="1270" anchor="ctr" anchorCtr="0">
          <a:noAutofit/>
        </a:bodyPr>
        <a:lstStyle/>
        <a:p>
          <a:pPr marL="0" lvl="0" indent="0" algn="ctr" defTabSz="977900">
            <a:lnSpc>
              <a:spcPct val="90000"/>
            </a:lnSpc>
            <a:spcBef>
              <a:spcPct val="0"/>
            </a:spcBef>
            <a:spcAft>
              <a:spcPct val="35000"/>
            </a:spcAft>
            <a:buNone/>
          </a:pPr>
          <a:r>
            <a:rPr lang="en-US" sz="2200" kern="1200" dirty="0"/>
            <a:t>Cultivate cultural sensitivity.</a:t>
          </a:r>
        </a:p>
      </dsp:txBody>
      <dsp:txXfrm>
        <a:off x="3116876" y="405037"/>
        <a:ext cx="2528584" cy="1517150"/>
      </dsp:txXfrm>
    </dsp:sp>
    <dsp:sp modelId="{2D7D5DE5-D0DA-4CCA-8F0C-A4C6DC11D316}">
      <dsp:nvSpPr>
        <dsp:cNvPr id="0" name=""/>
        <dsp:cNvSpPr/>
      </dsp:nvSpPr>
      <dsp:spPr>
        <a:xfrm>
          <a:off x="1271009" y="1920387"/>
          <a:ext cx="6220318" cy="550974"/>
        </a:xfrm>
        <a:custGeom>
          <a:avLst/>
          <a:gdLst/>
          <a:ahLst/>
          <a:cxnLst/>
          <a:rect l="0" t="0" r="0" b="0"/>
          <a:pathLst>
            <a:path>
              <a:moveTo>
                <a:pt x="6220318" y="0"/>
              </a:moveTo>
              <a:lnTo>
                <a:pt x="6220318" y="292587"/>
              </a:lnTo>
              <a:lnTo>
                <a:pt x="0" y="292587"/>
              </a:lnTo>
              <a:lnTo>
                <a:pt x="0" y="550974"/>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224982" y="2192967"/>
        <a:ext cx="312372" cy="5815"/>
      </dsp:txXfrm>
    </dsp:sp>
    <dsp:sp modelId="{7ABD1CAC-E8E0-4249-9C22-403489280AB2}">
      <dsp:nvSpPr>
        <dsp:cNvPr id="0" name=""/>
        <dsp:cNvSpPr/>
      </dsp:nvSpPr>
      <dsp:spPr>
        <a:xfrm>
          <a:off x="6227035" y="405037"/>
          <a:ext cx="2528584" cy="151715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3903" tIns="130058" rIns="123903" bIns="130058" numCol="1" spcCol="1270" anchor="ctr" anchorCtr="0">
          <a:noAutofit/>
        </a:bodyPr>
        <a:lstStyle/>
        <a:p>
          <a:pPr marL="0" lvl="0" indent="0" algn="ctr" defTabSz="977900">
            <a:lnSpc>
              <a:spcPct val="90000"/>
            </a:lnSpc>
            <a:spcBef>
              <a:spcPct val="0"/>
            </a:spcBef>
            <a:spcAft>
              <a:spcPct val="35000"/>
            </a:spcAft>
            <a:buNone/>
          </a:pPr>
          <a:r>
            <a:rPr lang="en-US" sz="2200" kern="1200" dirty="0"/>
            <a:t>Assess the client group’s culture.</a:t>
          </a:r>
        </a:p>
      </dsp:txBody>
      <dsp:txXfrm>
        <a:off x="6227035" y="405037"/>
        <a:ext cx="2528584" cy="1517150"/>
      </dsp:txXfrm>
    </dsp:sp>
    <dsp:sp modelId="{2570C40A-4F69-4413-B23F-8D395D7D5A7C}">
      <dsp:nvSpPr>
        <dsp:cNvPr id="0" name=""/>
        <dsp:cNvSpPr/>
      </dsp:nvSpPr>
      <dsp:spPr>
        <a:xfrm>
          <a:off x="2533501" y="3216617"/>
          <a:ext cx="550974" cy="91440"/>
        </a:xfrm>
        <a:custGeom>
          <a:avLst/>
          <a:gdLst/>
          <a:ahLst/>
          <a:cxnLst/>
          <a:rect l="0" t="0" r="0" b="0"/>
          <a:pathLst>
            <a:path>
              <a:moveTo>
                <a:pt x="0" y="45720"/>
              </a:moveTo>
              <a:lnTo>
                <a:pt x="550974"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794449" y="3259429"/>
        <a:ext cx="29078" cy="5815"/>
      </dsp:txXfrm>
    </dsp:sp>
    <dsp:sp modelId="{341139AD-D36A-4DF4-BA6F-DC49928ED555}">
      <dsp:nvSpPr>
        <dsp:cNvPr id="0" name=""/>
        <dsp:cNvSpPr/>
      </dsp:nvSpPr>
      <dsp:spPr>
        <a:xfrm>
          <a:off x="6717" y="2503762"/>
          <a:ext cx="2528584" cy="151715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3903" tIns="130058" rIns="123903" bIns="130058" numCol="1" spcCol="1270" anchor="ctr" anchorCtr="0">
          <a:noAutofit/>
        </a:bodyPr>
        <a:lstStyle/>
        <a:p>
          <a:pPr marL="0" lvl="0" indent="0" algn="ctr" defTabSz="977900">
            <a:lnSpc>
              <a:spcPct val="90000"/>
            </a:lnSpc>
            <a:spcBef>
              <a:spcPct val="0"/>
            </a:spcBef>
            <a:spcAft>
              <a:spcPct val="35000"/>
            </a:spcAft>
            <a:buNone/>
          </a:pPr>
          <a:r>
            <a:rPr lang="en-US" sz="2200" kern="1200" dirty="0"/>
            <a:t>Show respect and patience while learning about other cultures.</a:t>
          </a:r>
        </a:p>
      </dsp:txBody>
      <dsp:txXfrm>
        <a:off x="6717" y="2503762"/>
        <a:ext cx="2528584" cy="1517150"/>
      </dsp:txXfrm>
    </dsp:sp>
    <dsp:sp modelId="{E7CA11C2-0E28-488A-A1C4-B375AC4A3893}">
      <dsp:nvSpPr>
        <dsp:cNvPr id="0" name=""/>
        <dsp:cNvSpPr/>
      </dsp:nvSpPr>
      <dsp:spPr>
        <a:xfrm>
          <a:off x="3116876" y="2503762"/>
          <a:ext cx="2528584" cy="151715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3903" tIns="130058" rIns="123903" bIns="130058" numCol="1" spcCol="1270" anchor="ctr" anchorCtr="0">
          <a:noAutofit/>
        </a:bodyPr>
        <a:lstStyle/>
        <a:p>
          <a:pPr marL="0" lvl="0" indent="0" algn="ctr" defTabSz="977900">
            <a:lnSpc>
              <a:spcPct val="90000"/>
            </a:lnSpc>
            <a:spcBef>
              <a:spcPct val="0"/>
            </a:spcBef>
            <a:spcAft>
              <a:spcPct val="35000"/>
            </a:spcAft>
            <a:buNone/>
          </a:pPr>
          <a:r>
            <a:rPr lang="en-US" sz="2200" kern="1200" dirty="0"/>
            <a:t>Examine culturally derived health practices.</a:t>
          </a:r>
        </a:p>
      </dsp:txBody>
      <dsp:txXfrm>
        <a:off x="3116876" y="2503762"/>
        <a:ext cx="2528584" cy="1517150"/>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423306-7A56-40D1-AA63-F1F9E7FB1FEF}" type="datetimeFigureOut">
              <a:rPr lang="en-US" smtClean="0"/>
              <a:t>9/7/2026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CB0778-E33E-430E-86F6-0EC1FB86149A}" type="slidenum">
              <a:rPr lang="en-US" smtClean="0"/>
              <a:t>‹#›</a:t>
            </a:fld>
            <a:endParaRPr lang="en-US"/>
          </a:p>
        </p:txBody>
      </p:sp>
    </p:spTree>
    <p:extLst>
      <p:ext uri="{BB962C8B-B14F-4D97-AF65-F5344CB8AC3E}">
        <p14:creationId xmlns:p14="http://schemas.microsoft.com/office/powerpoint/2010/main" val="1132532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48F661-08D3-4BE0-AE1A-B5C393C6659E}" type="slidenum">
              <a:rPr lang="en-US" altLang="en-US" smtClean="0"/>
              <a:pPr/>
              <a:t>3</a:t>
            </a:fld>
            <a:endParaRPr lang="en-US" altLang="en-US" dirty="0"/>
          </a:p>
        </p:txBody>
      </p:sp>
    </p:spTree>
    <p:extLst>
      <p:ext uri="{BB962C8B-B14F-4D97-AF65-F5344CB8AC3E}">
        <p14:creationId xmlns:p14="http://schemas.microsoft.com/office/powerpoint/2010/main" val="25453669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48F661-08D3-4BE0-AE1A-B5C393C6659E}" type="slidenum">
              <a:rPr lang="en-US" altLang="en-US" smtClean="0"/>
              <a:pPr/>
              <a:t>4</a:t>
            </a:fld>
            <a:endParaRPr lang="en-US" altLang="en-US" dirty="0"/>
          </a:p>
        </p:txBody>
      </p:sp>
    </p:spTree>
    <p:extLst>
      <p:ext uri="{BB962C8B-B14F-4D97-AF65-F5344CB8AC3E}">
        <p14:creationId xmlns:p14="http://schemas.microsoft.com/office/powerpoint/2010/main" val="42383371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b="1" dirty="0"/>
          </a:p>
        </p:txBody>
      </p:sp>
      <p:sp>
        <p:nvSpPr>
          <p:cNvPr id="4" name="Slide Number Placeholder 3"/>
          <p:cNvSpPr>
            <a:spLocks noGrp="1"/>
          </p:cNvSpPr>
          <p:nvPr>
            <p:ph type="sldNum" sz="quarter" idx="5"/>
          </p:nvPr>
        </p:nvSpPr>
        <p:spPr/>
        <p:txBody>
          <a:bodyPr/>
          <a:lstStyle/>
          <a:p>
            <a:fld id="{CE48F661-08D3-4BE0-AE1A-B5C393C6659E}" type="slidenum">
              <a:rPr lang="en-US" altLang="en-US" smtClean="0"/>
              <a:pPr/>
              <a:t>6</a:t>
            </a:fld>
            <a:endParaRPr lang="en-US" altLang="en-US" dirty="0"/>
          </a:p>
        </p:txBody>
      </p:sp>
    </p:spTree>
    <p:extLst>
      <p:ext uri="{BB962C8B-B14F-4D97-AF65-F5344CB8AC3E}">
        <p14:creationId xmlns:p14="http://schemas.microsoft.com/office/powerpoint/2010/main" val="17411386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48F661-08D3-4BE0-AE1A-B5C393C6659E}" type="slidenum">
              <a:rPr lang="en-US" altLang="en-US" smtClean="0"/>
              <a:pPr/>
              <a:t>8</a:t>
            </a:fld>
            <a:endParaRPr lang="en-US" altLang="en-US" dirty="0"/>
          </a:p>
        </p:txBody>
      </p:sp>
    </p:spTree>
    <p:extLst>
      <p:ext uri="{BB962C8B-B14F-4D97-AF65-F5344CB8AC3E}">
        <p14:creationId xmlns:p14="http://schemas.microsoft.com/office/powerpoint/2010/main" val="2114944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E3CB0778-E33E-430E-86F6-0EC1FB86149A}" type="slidenum">
              <a:rPr lang="en-US" smtClean="0"/>
              <a:t>9</a:t>
            </a:fld>
            <a:endParaRPr lang="en-US"/>
          </a:p>
        </p:txBody>
      </p:sp>
    </p:spTree>
    <p:extLst>
      <p:ext uri="{BB962C8B-B14F-4D97-AF65-F5344CB8AC3E}">
        <p14:creationId xmlns:p14="http://schemas.microsoft.com/office/powerpoint/2010/main" val="1551297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CE48F661-08D3-4BE0-AE1A-B5C393C6659E}" type="slidenum">
              <a:rPr lang="en-US" altLang="en-US" smtClean="0"/>
              <a:pPr/>
              <a:t>10</a:t>
            </a:fld>
            <a:endParaRPr lang="en-US" altLang="en-US" dirty="0"/>
          </a:p>
        </p:txBody>
      </p:sp>
    </p:spTree>
    <p:extLst>
      <p:ext uri="{BB962C8B-B14F-4D97-AF65-F5344CB8AC3E}">
        <p14:creationId xmlns:p14="http://schemas.microsoft.com/office/powerpoint/2010/main" val="18297083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CE48F661-08D3-4BE0-AE1A-B5C393C6659E}" type="slidenum">
              <a:rPr lang="en-US" altLang="en-US" smtClean="0"/>
              <a:pPr/>
              <a:t>11</a:t>
            </a:fld>
            <a:endParaRPr lang="en-US" altLang="en-US" dirty="0"/>
          </a:p>
        </p:txBody>
      </p:sp>
    </p:spTree>
    <p:extLst>
      <p:ext uri="{BB962C8B-B14F-4D97-AF65-F5344CB8AC3E}">
        <p14:creationId xmlns:p14="http://schemas.microsoft.com/office/powerpoint/2010/main" val="28345455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48F661-08D3-4BE0-AE1A-B5C393C6659E}" type="slidenum">
              <a:rPr lang="en-US" altLang="en-US" smtClean="0"/>
              <a:pPr/>
              <a:t>12</a:t>
            </a:fld>
            <a:endParaRPr lang="en-US" altLang="en-US" dirty="0"/>
          </a:p>
        </p:txBody>
      </p:sp>
    </p:spTree>
    <p:extLst>
      <p:ext uri="{BB962C8B-B14F-4D97-AF65-F5344CB8AC3E}">
        <p14:creationId xmlns:p14="http://schemas.microsoft.com/office/powerpoint/2010/main" val="2876547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48F661-08D3-4BE0-AE1A-B5C393C6659E}" type="slidenum">
              <a:rPr lang="en-US" altLang="en-US" smtClean="0"/>
              <a:pPr/>
              <a:t>13</a:t>
            </a:fld>
            <a:endParaRPr lang="en-US" altLang="en-US" dirty="0"/>
          </a:p>
        </p:txBody>
      </p:sp>
    </p:spTree>
    <p:extLst>
      <p:ext uri="{BB962C8B-B14F-4D97-AF65-F5344CB8AC3E}">
        <p14:creationId xmlns:p14="http://schemas.microsoft.com/office/powerpoint/2010/main" val="22105566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CB0778-E33E-430E-86F6-0EC1FB86149A}" type="slidenum">
              <a:rPr lang="en-US" smtClean="0"/>
              <a:t>14</a:t>
            </a:fld>
            <a:endParaRPr lang="en-US"/>
          </a:p>
        </p:txBody>
      </p:sp>
    </p:spTree>
    <p:extLst>
      <p:ext uri="{BB962C8B-B14F-4D97-AF65-F5344CB8AC3E}">
        <p14:creationId xmlns:p14="http://schemas.microsoft.com/office/powerpoint/2010/main" val="18954764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CE48F661-08D3-4BE0-AE1A-B5C393C6659E}" type="slidenum">
              <a:rPr lang="en-US" altLang="en-US" smtClean="0"/>
              <a:pPr/>
              <a:t>15</a:t>
            </a:fld>
            <a:endParaRPr lang="en-US" altLang="en-US" dirty="0"/>
          </a:p>
        </p:txBody>
      </p:sp>
    </p:spTree>
    <p:extLst>
      <p:ext uri="{BB962C8B-B14F-4D97-AF65-F5344CB8AC3E}">
        <p14:creationId xmlns:p14="http://schemas.microsoft.com/office/powerpoint/2010/main" val="11703089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CE48F661-08D3-4BE0-AE1A-B5C393C6659E}" type="slidenum">
              <a:rPr lang="en-US" altLang="en-US" smtClean="0"/>
              <a:pPr/>
              <a:t>16</a:t>
            </a:fld>
            <a:endParaRPr lang="en-US" altLang="en-US" dirty="0"/>
          </a:p>
        </p:txBody>
      </p:sp>
    </p:spTree>
    <p:extLst>
      <p:ext uri="{BB962C8B-B14F-4D97-AF65-F5344CB8AC3E}">
        <p14:creationId xmlns:p14="http://schemas.microsoft.com/office/powerpoint/2010/main" val="39187701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48F661-08D3-4BE0-AE1A-B5C393C6659E}" type="slidenum">
              <a:rPr lang="en-US" altLang="en-US" smtClean="0"/>
              <a:pPr/>
              <a:t>17</a:t>
            </a:fld>
            <a:endParaRPr lang="en-US" altLang="en-US" dirty="0"/>
          </a:p>
        </p:txBody>
      </p:sp>
    </p:spTree>
    <p:extLst>
      <p:ext uri="{BB962C8B-B14F-4D97-AF65-F5344CB8AC3E}">
        <p14:creationId xmlns:p14="http://schemas.microsoft.com/office/powerpoint/2010/main" val="2534378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E3CB0778-E33E-430E-86F6-0EC1FB86149A}" type="slidenum">
              <a:rPr lang="en-US" smtClean="0"/>
              <a:t>19</a:t>
            </a:fld>
            <a:endParaRPr lang="en-US"/>
          </a:p>
        </p:txBody>
      </p:sp>
    </p:spTree>
    <p:extLst>
      <p:ext uri="{BB962C8B-B14F-4D97-AF65-F5344CB8AC3E}">
        <p14:creationId xmlns:p14="http://schemas.microsoft.com/office/powerpoint/2010/main" val="14875966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CE48F661-08D3-4BE0-AE1A-B5C393C6659E}" type="slidenum">
              <a:rPr lang="en-US" altLang="en-US" smtClean="0"/>
              <a:pPr/>
              <a:t>20</a:t>
            </a:fld>
            <a:endParaRPr lang="en-US" altLang="en-US" dirty="0"/>
          </a:p>
        </p:txBody>
      </p:sp>
    </p:spTree>
    <p:extLst>
      <p:ext uri="{BB962C8B-B14F-4D97-AF65-F5344CB8AC3E}">
        <p14:creationId xmlns:p14="http://schemas.microsoft.com/office/powerpoint/2010/main" val="41203035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E3CB0778-E33E-430E-86F6-0EC1FB86149A}" type="slidenum">
              <a:rPr lang="en-US" smtClean="0"/>
              <a:t>21</a:t>
            </a:fld>
            <a:endParaRPr lang="en-US"/>
          </a:p>
        </p:txBody>
      </p:sp>
    </p:spTree>
    <p:extLst>
      <p:ext uri="{BB962C8B-B14F-4D97-AF65-F5344CB8AC3E}">
        <p14:creationId xmlns:p14="http://schemas.microsoft.com/office/powerpoint/2010/main" val="5612279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CE48F661-08D3-4BE0-AE1A-B5C393C6659E}" type="slidenum">
              <a:rPr lang="en-US" altLang="en-US" smtClean="0"/>
              <a:pPr/>
              <a:t>22</a:t>
            </a:fld>
            <a:endParaRPr lang="en-US" altLang="en-US" dirty="0"/>
          </a:p>
        </p:txBody>
      </p:sp>
    </p:spTree>
    <p:extLst>
      <p:ext uri="{BB962C8B-B14F-4D97-AF65-F5344CB8AC3E}">
        <p14:creationId xmlns:p14="http://schemas.microsoft.com/office/powerpoint/2010/main" val="35767564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CE48F661-08D3-4BE0-AE1A-B5C393C6659E}" type="slidenum">
              <a:rPr lang="en-US" altLang="en-US" smtClean="0"/>
              <a:pPr/>
              <a:t>23</a:t>
            </a:fld>
            <a:endParaRPr lang="en-US" altLang="en-US" dirty="0"/>
          </a:p>
        </p:txBody>
      </p:sp>
    </p:spTree>
    <p:extLst>
      <p:ext uri="{BB962C8B-B14F-4D97-AF65-F5344CB8AC3E}">
        <p14:creationId xmlns:p14="http://schemas.microsoft.com/office/powerpoint/2010/main" val="24988534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CB0778-E33E-430E-86F6-0EC1FB86149A}" type="slidenum">
              <a:rPr lang="en-US" smtClean="0"/>
              <a:t>24</a:t>
            </a:fld>
            <a:endParaRPr lang="en-US"/>
          </a:p>
        </p:txBody>
      </p:sp>
    </p:spTree>
    <p:extLst>
      <p:ext uri="{BB962C8B-B14F-4D97-AF65-F5344CB8AC3E}">
        <p14:creationId xmlns:p14="http://schemas.microsoft.com/office/powerpoint/2010/main" val="28620255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48F661-08D3-4BE0-AE1A-B5C393C6659E}" type="slidenum">
              <a:rPr lang="en-US" altLang="en-US" smtClean="0"/>
              <a:pPr/>
              <a:t>25</a:t>
            </a:fld>
            <a:endParaRPr lang="en-US" altLang="en-US" dirty="0"/>
          </a:p>
        </p:txBody>
      </p:sp>
    </p:spTree>
    <p:extLst>
      <p:ext uri="{BB962C8B-B14F-4D97-AF65-F5344CB8AC3E}">
        <p14:creationId xmlns:p14="http://schemas.microsoft.com/office/powerpoint/2010/main" val="15885000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CB0778-E33E-430E-86F6-0EC1FB86149A}" type="slidenum">
              <a:rPr lang="en-US" smtClean="0"/>
              <a:t>34</a:t>
            </a:fld>
            <a:endParaRPr lang="en-US"/>
          </a:p>
        </p:txBody>
      </p:sp>
    </p:spTree>
    <p:extLst>
      <p:ext uri="{BB962C8B-B14F-4D97-AF65-F5344CB8AC3E}">
        <p14:creationId xmlns:p14="http://schemas.microsoft.com/office/powerpoint/2010/main" val="12607765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3CB0778-E33E-430E-86F6-0EC1FB86149A}" type="slidenum">
              <a:rPr lang="en-US" smtClean="0"/>
              <a:t>36</a:t>
            </a:fld>
            <a:endParaRPr lang="en-US"/>
          </a:p>
        </p:txBody>
      </p:sp>
    </p:spTree>
    <p:extLst>
      <p:ext uri="{BB962C8B-B14F-4D97-AF65-F5344CB8AC3E}">
        <p14:creationId xmlns:p14="http://schemas.microsoft.com/office/powerpoint/2010/main" val="27534276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GB" dirty="0"/>
          </a:p>
        </p:txBody>
      </p:sp>
      <p:sp>
        <p:nvSpPr>
          <p:cNvPr id="4" name="Slide Number Placeholder 3"/>
          <p:cNvSpPr>
            <a:spLocks noGrp="1"/>
          </p:cNvSpPr>
          <p:nvPr>
            <p:ph type="sldNum" sz="quarter" idx="5"/>
          </p:nvPr>
        </p:nvSpPr>
        <p:spPr/>
        <p:txBody>
          <a:bodyPr/>
          <a:lstStyle/>
          <a:p>
            <a:fld id="{E3CB0778-E33E-430E-86F6-0EC1FB86149A}" type="slidenum">
              <a:rPr lang="en-US" smtClean="0"/>
              <a:t>37</a:t>
            </a:fld>
            <a:endParaRPr lang="en-US"/>
          </a:p>
        </p:txBody>
      </p:sp>
    </p:spTree>
    <p:extLst>
      <p:ext uri="{BB962C8B-B14F-4D97-AF65-F5344CB8AC3E}">
        <p14:creationId xmlns:p14="http://schemas.microsoft.com/office/powerpoint/2010/main" val="5608383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48F661-08D3-4BE0-AE1A-B5C393C6659E}" type="slidenum">
              <a:rPr lang="en-US" altLang="en-US" smtClean="0"/>
              <a:pPr/>
              <a:t>38</a:t>
            </a:fld>
            <a:endParaRPr lang="en-US" altLang="en-US" dirty="0"/>
          </a:p>
        </p:txBody>
      </p:sp>
    </p:spTree>
    <p:extLst>
      <p:ext uri="{BB962C8B-B14F-4D97-AF65-F5344CB8AC3E}">
        <p14:creationId xmlns:p14="http://schemas.microsoft.com/office/powerpoint/2010/main" val="36043245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E3CB0778-E33E-430E-86F6-0EC1FB86149A}" type="slidenum">
              <a:rPr lang="en-US" smtClean="0"/>
              <a:t>40</a:t>
            </a:fld>
            <a:endParaRPr lang="en-US"/>
          </a:p>
        </p:txBody>
      </p:sp>
    </p:spTree>
    <p:extLst>
      <p:ext uri="{BB962C8B-B14F-4D97-AF65-F5344CB8AC3E}">
        <p14:creationId xmlns:p14="http://schemas.microsoft.com/office/powerpoint/2010/main" val="3501134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06FB9-631E-65A7-F93F-42CB8C4DD5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75C3631-D50A-4792-F207-5DA11A05B3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01286A8-DDA6-A854-DE70-B5A2A5576472}"/>
              </a:ext>
            </a:extLst>
          </p:cNvPr>
          <p:cNvSpPr>
            <a:spLocks noGrp="1"/>
          </p:cNvSpPr>
          <p:nvPr>
            <p:ph type="dt" sz="half" idx="10"/>
          </p:nvPr>
        </p:nvSpPr>
        <p:spPr/>
        <p:txBody>
          <a:bodyPr/>
          <a:lstStyle/>
          <a:p>
            <a:fld id="{C52A4312-82DE-4770-98CD-6977C9A3A8FE}" type="datetimeFigureOut">
              <a:rPr lang="en-US" smtClean="0"/>
              <a:t>9/7/2026</a:t>
            </a:fld>
            <a:endParaRPr lang="en-US"/>
          </a:p>
        </p:txBody>
      </p:sp>
      <p:sp>
        <p:nvSpPr>
          <p:cNvPr id="5" name="Footer Placeholder 4">
            <a:extLst>
              <a:ext uri="{FF2B5EF4-FFF2-40B4-BE49-F238E27FC236}">
                <a16:creationId xmlns:a16="http://schemas.microsoft.com/office/drawing/2014/main" id="{65847DB2-8B09-829F-23C0-F2B3C6EE3D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478228-5128-11E7-4DD1-7EE1B84146FC}"/>
              </a:ext>
            </a:extLst>
          </p:cNvPr>
          <p:cNvSpPr>
            <a:spLocks noGrp="1"/>
          </p:cNvSpPr>
          <p:nvPr>
            <p:ph type="sldNum" sz="quarter" idx="12"/>
          </p:nvPr>
        </p:nvSpPr>
        <p:spPr/>
        <p:txBody>
          <a:bodyPr/>
          <a:lstStyle/>
          <a:p>
            <a:fld id="{7A5AC3EF-778F-4756-B96F-DEE466ABF791}" type="slidenum">
              <a:rPr lang="en-US" smtClean="0"/>
              <a:t>‹#›</a:t>
            </a:fld>
            <a:endParaRPr lang="en-US"/>
          </a:p>
        </p:txBody>
      </p:sp>
    </p:spTree>
    <p:extLst>
      <p:ext uri="{BB962C8B-B14F-4D97-AF65-F5344CB8AC3E}">
        <p14:creationId xmlns:p14="http://schemas.microsoft.com/office/powerpoint/2010/main" val="2122970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65004-4E62-0CBE-A0A0-493B0956A4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894637-8C0D-EB18-FAB1-793C6CBBD2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5F9A2F-084C-9E7B-7E09-3C235CB7AEF7}"/>
              </a:ext>
            </a:extLst>
          </p:cNvPr>
          <p:cNvSpPr>
            <a:spLocks noGrp="1"/>
          </p:cNvSpPr>
          <p:nvPr>
            <p:ph type="dt" sz="half" idx="10"/>
          </p:nvPr>
        </p:nvSpPr>
        <p:spPr/>
        <p:txBody>
          <a:bodyPr/>
          <a:lstStyle/>
          <a:p>
            <a:fld id="{C52A4312-82DE-4770-98CD-6977C9A3A8FE}" type="datetimeFigureOut">
              <a:rPr lang="en-US" smtClean="0"/>
              <a:t>9/7/2026</a:t>
            </a:fld>
            <a:endParaRPr lang="en-US"/>
          </a:p>
        </p:txBody>
      </p:sp>
      <p:sp>
        <p:nvSpPr>
          <p:cNvPr id="5" name="Footer Placeholder 4">
            <a:extLst>
              <a:ext uri="{FF2B5EF4-FFF2-40B4-BE49-F238E27FC236}">
                <a16:creationId xmlns:a16="http://schemas.microsoft.com/office/drawing/2014/main" id="{B181022D-EB73-3DE0-911A-FC356183C4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895FFC-7D01-E98B-411B-183B1CD755FD}"/>
              </a:ext>
            </a:extLst>
          </p:cNvPr>
          <p:cNvSpPr>
            <a:spLocks noGrp="1"/>
          </p:cNvSpPr>
          <p:nvPr>
            <p:ph type="sldNum" sz="quarter" idx="12"/>
          </p:nvPr>
        </p:nvSpPr>
        <p:spPr/>
        <p:txBody>
          <a:bodyPr/>
          <a:lstStyle/>
          <a:p>
            <a:fld id="{7A5AC3EF-778F-4756-B96F-DEE466ABF791}" type="slidenum">
              <a:rPr lang="en-US" smtClean="0"/>
              <a:t>‹#›</a:t>
            </a:fld>
            <a:endParaRPr lang="en-US"/>
          </a:p>
        </p:txBody>
      </p:sp>
    </p:spTree>
    <p:extLst>
      <p:ext uri="{BB962C8B-B14F-4D97-AF65-F5344CB8AC3E}">
        <p14:creationId xmlns:p14="http://schemas.microsoft.com/office/powerpoint/2010/main" val="1947298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EFBC1-17FE-6760-F898-C5E64E54CA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EF713B7-8A94-66A0-3E6D-22D2EF9928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C0C240-B389-D3BB-10F6-1D6EA4BB2CCC}"/>
              </a:ext>
            </a:extLst>
          </p:cNvPr>
          <p:cNvSpPr>
            <a:spLocks noGrp="1"/>
          </p:cNvSpPr>
          <p:nvPr>
            <p:ph type="dt" sz="half" idx="10"/>
          </p:nvPr>
        </p:nvSpPr>
        <p:spPr/>
        <p:txBody>
          <a:bodyPr/>
          <a:lstStyle/>
          <a:p>
            <a:fld id="{C52A4312-82DE-4770-98CD-6977C9A3A8FE}" type="datetimeFigureOut">
              <a:rPr lang="en-US" smtClean="0"/>
              <a:t>9/7/2026</a:t>
            </a:fld>
            <a:endParaRPr lang="en-US"/>
          </a:p>
        </p:txBody>
      </p:sp>
      <p:sp>
        <p:nvSpPr>
          <p:cNvPr id="5" name="Footer Placeholder 4">
            <a:extLst>
              <a:ext uri="{FF2B5EF4-FFF2-40B4-BE49-F238E27FC236}">
                <a16:creationId xmlns:a16="http://schemas.microsoft.com/office/drawing/2014/main" id="{4B6793B7-7F58-9DC4-A42F-3C3453802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4B5C56-F922-FEAE-E75E-3F67F559FD22}"/>
              </a:ext>
            </a:extLst>
          </p:cNvPr>
          <p:cNvSpPr>
            <a:spLocks noGrp="1"/>
          </p:cNvSpPr>
          <p:nvPr>
            <p:ph type="sldNum" sz="quarter" idx="12"/>
          </p:nvPr>
        </p:nvSpPr>
        <p:spPr/>
        <p:txBody>
          <a:bodyPr/>
          <a:lstStyle/>
          <a:p>
            <a:fld id="{7A5AC3EF-778F-4756-B96F-DEE466ABF791}" type="slidenum">
              <a:rPr lang="en-US" smtClean="0"/>
              <a:t>‹#›</a:t>
            </a:fld>
            <a:endParaRPr lang="en-US"/>
          </a:p>
        </p:txBody>
      </p:sp>
    </p:spTree>
    <p:extLst>
      <p:ext uri="{BB962C8B-B14F-4D97-AF65-F5344CB8AC3E}">
        <p14:creationId xmlns:p14="http://schemas.microsoft.com/office/powerpoint/2010/main" val="2872074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E3E5D-D36B-2080-8EBB-AC472D5A8E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A22738-2D39-994F-1F12-02EEA64376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731F39-DB90-A511-1C2B-1A996C8F16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24ADBD8-9569-F351-4A9B-FCF84DEBF8F2}"/>
              </a:ext>
            </a:extLst>
          </p:cNvPr>
          <p:cNvSpPr>
            <a:spLocks noGrp="1"/>
          </p:cNvSpPr>
          <p:nvPr>
            <p:ph type="dt" sz="half" idx="10"/>
          </p:nvPr>
        </p:nvSpPr>
        <p:spPr/>
        <p:txBody>
          <a:bodyPr/>
          <a:lstStyle/>
          <a:p>
            <a:fld id="{C52A4312-82DE-4770-98CD-6977C9A3A8FE}" type="datetimeFigureOut">
              <a:rPr lang="en-US" smtClean="0"/>
              <a:t>9/7/2026</a:t>
            </a:fld>
            <a:endParaRPr lang="en-US"/>
          </a:p>
        </p:txBody>
      </p:sp>
      <p:sp>
        <p:nvSpPr>
          <p:cNvPr id="6" name="Footer Placeholder 5">
            <a:extLst>
              <a:ext uri="{FF2B5EF4-FFF2-40B4-BE49-F238E27FC236}">
                <a16:creationId xmlns:a16="http://schemas.microsoft.com/office/drawing/2014/main" id="{ED9186A9-5316-5B42-7183-ED11D4FDB9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D479E2-6CFF-AAF8-8ECD-E3553A914C57}"/>
              </a:ext>
            </a:extLst>
          </p:cNvPr>
          <p:cNvSpPr>
            <a:spLocks noGrp="1"/>
          </p:cNvSpPr>
          <p:nvPr>
            <p:ph type="sldNum" sz="quarter" idx="12"/>
          </p:nvPr>
        </p:nvSpPr>
        <p:spPr/>
        <p:txBody>
          <a:bodyPr/>
          <a:lstStyle/>
          <a:p>
            <a:fld id="{7A5AC3EF-778F-4756-B96F-DEE466ABF791}" type="slidenum">
              <a:rPr lang="en-US" smtClean="0"/>
              <a:t>‹#›</a:t>
            </a:fld>
            <a:endParaRPr lang="en-US"/>
          </a:p>
        </p:txBody>
      </p:sp>
    </p:spTree>
    <p:extLst>
      <p:ext uri="{BB962C8B-B14F-4D97-AF65-F5344CB8AC3E}">
        <p14:creationId xmlns:p14="http://schemas.microsoft.com/office/powerpoint/2010/main" val="2322682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8F8A7-E1C8-9C25-EDF1-6ADF81E79A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52ECF7E-D16B-74C5-0FEB-1E755901F4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C48AC2-0484-988A-6742-E76226B6FF5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350F7DA-FE9B-3E4D-1F2E-EB1091A4B1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2F0524-524F-91E7-B938-8466A6ED77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FBA2A8-18FE-40ED-0E17-D5FA4B24F8D5}"/>
              </a:ext>
            </a:extLst>
          </p:cNvPr>
          <p:cNvSpPr>
            <a:spLocks noGrp="1"/>
          </p:cNvSpPr>
          <p:nvPr>
            <p:ph type="dt" sz="half" idx="10"/>
          </p:nvPr>
        </p:nvSpPr>
        <p:spPr/>
        <p:txBody>
          <a:bodyPr/>
          <a:lstStyle/>
          <a:p>
            <a:fld id="{C52A4312-82DE-4770-98CD-6977C9A3A8FE}" type="datetimeFigureOut">
              <a:rPr lang="en-US" smtClean="0"/>
              <a:t>9/7/2026</a:t>
            </a:fld>
            <a:endParaRPr lang="en-US"/>
          </a:p>
        </p:txBody>
      </p:sp>
      <p:sp>
        <p:nvSpPr>
          <p:cNvPr id="8" name="Footer Placeholder 7">
            <a:extLst>
              <a:ext uri="{FF2B5EF4-FFF2-40B4-BE49-F238E27FC236}">
                <a16:creationId xmlns:a16="http://schemas.microsoft.com/office/drawing/2014/main" id="{755D32DA-A1C9-0D4D-72AC-A1D4DC34AA2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F3298DD-0A5C-B1AC-ED5A-B0219A0C5F11}"/>
              </a:ext>
            </a:extLst>
          </p:cNvPr>
          <p:cNvSpPr>
            <a:spLocks noGrp="1"/>
          </p:cNvSpPr>
          <p:nvPr>
            <p:ph type="sldNum" sz="quarter" idx="12"/>
          </p:nvPr>
        </p:nvSpPr>
        <p:spPr/>
        <p:txBody>
          <a:bodyPr/>
          <a:lstStyle/>
          <a:p>
            <a:fld id="{7A5AC3EF-778F-4756-B96F-DEE466ABF791}" type="slidenum">
              <a:rPr lang="en-US" smtClean="0"/>
              <a:t>‹#›</a:t>
            </a:fld>
            <a:endParaRPr lang="en-US"/>
          </a:p>
        </p:txBody>
      </p:sp>
    </p:spTree>
    <p:extLst>
      <p:ext uri="{BB962C8B-B14F-4D97-AF65-F5344CB8AC3E}">
        <p14:creationId xmlns:p14="http://schemas.microsoft.com/office/powerpoint/2010/main" val="38242738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BF9E9-8515-81A7-AEA6-7B042F2A85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C38E9FA-6B52-17F4-B5EE-3A5BF4B6EA5A}"/>
              </a:ext>
            </a:extLst>
          </p:cNvPr>
          <p:cNvSpPr>
            <a:spLocks noGrp="1"/>
          </p:cNvSpPr>
          <p:nvPr>
            <p:ph type="dt" sz="half" idx="10"/>
          </p:nvPr>
        </p:nvSpPr>
        <p:spPr/>
        <p:txBody>
          <a:bodyPr/>
          <a:lstStyle/>
          <a:p>
            <a:fld id="{C52A4312-82DE-4770-98CD-6977C9A3A8FE}" type="datetimeFigureOut">
              <a:rPr lang="en-US" smtClean="0"/>
              <a:t>9/7/2026</a:t>
            </a:fld>
            <a:endParaRPr lang="en-US"/>
          </a:p>
        </p:txBody>
      </p:sp>
      <p:sp>
        <p:nvSpPr>
          <p:cNvPr id="4" name="Footer Placeholder 3">
            <a:extLst>
              <a:ext uri="{FF2B5EF4-FFF2-40B4-BE49-F238E27FC236}">
                <a16:creationId xmlns:a16="http://schemas.microsoft.com/office/drawing/2014/main" id="{ACF27A4A-F61C-55E0-CC9D-C05390B09D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95187F9-4E1F-CA66-2DA2-EC2A78BD0996}"/>
              </a:ext>
            </a:extLst>
          </p:cNvPr>
          <p:cNvSpPr>
            <a:spLocks noGrp="1"/>
          </p:cNvSpPr>
          <p:nvPr>
            <p:ph type="sldNum" sz="quarter" idx="12"/>
          </p:nvPr>
        </p:nvSpPr>
        <p:spPr/>
        <p:txBody>
          <a:bodyPr/>
          <a:lstStyle/>
          <a:p>
            <a:fld id="{7A5AC3EF-778F-4756-B96F-DEE466ABF791}" type="slidenum">
              <a:rPr lang="en-US" smtClean="0"/>
              <a:t>‹#›</a:t>
            </a:fld>
            <a:endParaRPr lang="en-US"/>
          </a:p>
        </p:txBody>
      </p:sp>
    </p:spTree>
    <p:extLst>
      <p:ext uri="{BB962C8B-B14F-4D97-AF65-F5344CB8AC3E}">
        <p14:creationId xmlns:p14="http://schemas.microsoft.com/office/powerpoint/2010/main" val="2277075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A0D66A-3454-01B1-D2DA-2B3BA5DFC6A5}"/>
              </a:ext>
            </a:extLst>
          </p:cNvPr>
          <p:cNvSpPr>
            <a:spLocks noGrp="1"/>
          </p:cNvSpPr>
          <p:nvPr>
            <p:ph type="dt" sz="half" idx="10"/>
          </p:nvPr>
        </p:nvSpPr>
        <p:spPr/>
        <p:txBody>
          <a:bodyPr/>
          <a:lstStyle/>
          <a:p>
            <a:fld id="{C52A4312-82DE-4770-98CD-6977C9A3A8FE}" type="datetimeFigureOut">
              <a:rPr lang="en-US" smtClean="0"/>
              <a:t>9/7/2026</a:t>
            </a:fld>
            <a:endParaRPr lang="en-US"/>
          </a:p>
        </p:txBody>
      </p:sp>
      <p:sp>
        <p:nvSpPr>
          <p:cNvPr id="3" name="Footer Placeholder 2">
            <a:extLst>
              <a:ext uri="{FF2B5EF4-FFF2-40B4-BE49-F238E27FC236}">
                <a16:creationId xmlns:a16="http://schemas.microsoft.com/office/drawing/2014/main" id="{72706128-D024-CC3B-E9CB-F51A3F40317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B807E89-34B1-0DAC-DD9B-57604B321501}"/>
              </a:ext>
            </a:extLst>
          </p:cNvPr>
          <p:cNvSpPr>
            <a:spLocks noGrp="1"/>
          </p:cNvSpPr>
          <p:nvPr>
            <p:ph type="sldNum" sz="quarter" idx="12"/>
          </p:nvPr>
        </p:nvSpPr>
        <p:spPr/>
        <p:txBody>
          <a:bodyPr/>
          <a:lstStyle/>
          <a:p>
            <a:fld id="{7A5AC3EF-778F-4756-B96F-DEE466ABF791}" type="slidenum">
              <a:rPr lang="en-US" smtClean="0"/>
              <a:t>‹#›</a:t>
            </a:fld>
            <a:endParaRPr lang="en-US"/>
          </a:p>
        </p:txBody>
      </p:sp>
    </p:spTree>
    <p:extLst>
      <p:ext uri="{BB962C8B-B14F-4D97-AF65-F5344CB8AC3E}">
        <p14:creationId xmlns:p14="http://schemas.microsoft.com/office/powerpoint/2010/main" val="1454062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A8FB6-7432-A321-AE5A-3DF6C60E38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49B2D1-4414-E1FE-CFE5-CBBF342DD7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4502AD-860C-3C5F-25AE-8BC05B6A0A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D82EAD-3610-78FA-999A-E0A17607168E}"/>
              </a:ext>
            </a:extLst>
          </p:cNvPr>
          <p:cNvSpPr>
            <a:spLocks noGrp="1"/>
          </p:cNvSpPr>
          <p:nvPr>
            <p:ph type="dt" sz="half" idx="10"/>
          </p:nvPr>
        </p:nvSpPr>
        <p:spPr/>
        <p:txBody>
          <a:bodyPr/>
          <a:lstStyle/>
          <a:p>
            <a:fld id="{C52A4312-82DE-4770-98CD-6977C9A3A8FE}" type="datetimeFigureOut">
              <a:rPr lang="en-US" smtClean="0"/>
              <a:t>9/7/2026</a:t>
            </a:fld>
            <a:endParaRPr lang="en-US"/>
          </a:p>
        </p:txBody>
      </p:sp>
      <p:sp>
        <p:nvSpPr>
          <p:cNvPr id="6" name="Footer Placeholder 5">
            <a:extLst>
              <a:ext uri="{FF2B5EF4-FFF2-40B4-BE49-F238E27FC236}">
                <a16:creationId xmlns:a16="http://schemas.microsoft.com/office/drawing/2014/main" id="{FC0351A1-6C77-8488-F5C5-0A1B3EEF08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53966-78B6-B0A2-0422-56FDB3E43371}"/>
              </a:ext>
            </a:extLst>
          </p:cNvPr>
          <p:cNvSpPr>
            <a:spLocks noGrp="1"/>
          </p:cNvSpPr>
          <p:nvPr>
            <p:ph type="sldNum" sz="quarter" idx="12"/>
          </p:nvPr>
        </p:nvSpPr>
        <p:spPr/>
        <p:txBody>
          <a:bodyPr/>
          <a:lstStyle/>
          <a:p>
            <a:fld id="{7A5AC3EF-778F-4756-B96F-DEE466ABF791}" type="slidenum">
              <a:rPr lang="en-US" smtClean="0"/>
              <a:t>‹#›</a:t>
            </a:fld>
            <a:endParaRPr lang="en-US"/>
          </a:p>
        </p:txBody>
      </p:sp>
    </p:spTree>
    <p:extLst>
      <p:ext uri="{BB962C8B-B14F-4D97-AF65-F5344CB8AC3E}">
        <p14:creationId xmlns:p14="http://schemas.microsoft.com/office/powerpoint/2010/main" val="2330086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393D6-6265-2382-319E-6DA101D8CD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473579E-C16D-816A-CDB8-345616F6D3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C405066-EDC9-FDCF-C291-D34DE6AACF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604FF9-41B1-9AF2-7673-4963C124C47A}"/>
              </a:ext>
            </a:extLst>
          </p:cNvPr>
          <p:cNvSpPr>
            <a:spLocks noGrp="1"/>
          </p:cNvSpPr>
          <p:nvPr>
            <p:ph type="dt" sz="half" idx="10"/>
          </p:nvPr>
        </p:nvSpPr>
        <p:spPr/>
        <p:txBody>
          <a:bodyPr/>
          <a:lstStyle/>
          <a:p>
            <a:fld id="{C52A4312-82DE-4770-98CD-6977C9A3A8FE}" type="datetimeFigureOut">
              <a:rPr lang="en-US" smtClean="0"/>
              <a:t>9/7/2026</a:t>
            </a:fld>
            <a:endParaRPr lang="en-US"/>
          </a:p>
        </p:txBody>
      </p:sp>
      <p:sp>
        <p:nvSpPr>
          <p:cNvPr id="6" name="Footer Placeholder 5">
            <a:extLst>
              <a:ext uri="{FF2B5EF4-FFF2-40B4-BE49-F238E27FC236}">
                <a16:creationId xmlns:a16="http://schemas.microsoft.com/office/drawing/2014/main" id="{D0907E3D-67C3-8B31-A38E-C33CACA3F5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3F16DF-2FA2-8D42-6508-B566E42CE626}"/>
              </a:ext>
            </a:extLst>
          </p:cNvPr>
          <p:cNvSpPr>
            <a:spLocks noGrp="1"/>
          </p:cNvSpPr>
          <p:nvPr>
            <p:ph type="sldNum" sz="quarter" idx="12"/>
          </p:nvPr>
        </p:nvSpPr>
        <p:spPr/>
        <p:txBody>
          <a:bodyPr/>
          <a:lstStyle/>
          <a:p>
            <a:fld id="{7A5AC3EF-778F-4756-B96F-DEE466ABF791}" type="slidenum">
              <a:rPr lang="en-US" smtClean="0"/>
              <a:t>‹#›</a:t>
            </a:fld>
            <a:endParaRPr lang="en-US"/>
          </a:p>
        </p:txBody>
      </p:sp>
    </p:spTree>
    <p:extLst>
      <p:ext uri="{BB962C8B-B14F-4D97-AF65-F5344CB8AC3E}">
        <p14:creationId xmlns:p14="http://schemas.microsoft.com/office/powerpoint/2010/main" val="3184538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6AAFA-6040-C835-8DE0-B8248BD5FCA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06355A7-1382-1E40-4DE0-F92CD36A05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B45C92-58BA-439F-2FBE-F25CB0AF3BED}"/>
              </a:ext>
            </a:extLst>
          </p:cNvPr>
          <p:cNvSpPr>
            <a:spLocks noGrp="1"/>
          </p:cNvSpPr>
          <p:nvPr>
            <p:ph type="dt" sz="half" idx="10"/>
          </p:nvPr>
        </p:nvSpPr>
        <p:spPr/>
        <p:txBody>
          <a:bodyPr/>
          <a:lstStyle/>
          <a:p>
            <a:fld id="{C52A4312-82DE-4770-98CD-6977C9A3A8FE}" type="datetimeFigureOut">
              <a:rPr lang="en-US" smtClean="0"/>
              <a:t>9/7/2026</a:t>
            </a:fld>
            <a:endParaRPr lang="en-US"/>
          </a:p>
        </p:txBody>
      </p:sp>
      <p:sp>
        <p:nvSpPr>
          <p:cNvPr id="5" name="Footer Placeholder 4">
            <a:extLst>
              <a:ext uri="{FF2B5EF4-FFF2-40B4-BE49-F238E27FC236}">
                <a16:creationId xmlns:a16="http://schemas.microsoft.com/office/drawing/2014/main" id="{9FDBFB50-C750-8D07-EC4F-EDB76FE478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1E7FB5-D9CC-6675-2367-35F1644BEA80}"/>
              </a:ext>
            </a:extLst>
          </p:cNvPr>
          <p:cNvSpPr>
            <a:spLocks noGrp="1"/>
          </p:cNvSpPr>
          <p:nvPr>
            <p:ph type="sldNum" sz="quarter" idx="12"/>
          </p:nvPr>
        </p:nvSpPr>
        <p:spPr/>
        <p:txBody>
          <a:bodyPr/>
          <a:lstStyle/>
          <a:p>
            <a:fld id="{7A5AC3EF-778F-4756-B96F-DEE466ABF791}" type="slidenum">
              <a:rPr lang="en-US" smtClean="0"/>
              <a:t>‹#›</a:t>
            </a:fld>
            <a:endParaRPr lang="en-US"/>
          </a:p>
        </p:txBody>
      </p:sp>
    </p:spTree>
    <p:extLst>
      <p:ext uri="{BB962C8B-B14F-4D97-AF65-F5344CB8AC3E}">
        <p14:creationId xmlns:p14="http://schemas.microsoft.com/office/powerpoint/2010/main" val="2602846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317C20-5406-0929-438B-286C295451D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E3B212-FBA1-6787-5E31-8F50EE27C3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071ACA-6735-D9EE-B918-A91455E53DC6}"/>
              </a:ext>
            </a:extLst>
          </p:cNvPr>
          <p:cNvSpPr>
            <a:spLocks noGrp="1"/>
          </p:cNvSpPr>
          <p:nvPr>
            <p:ph type="dt" sz="half" idx="10"/>
          </p:nvPr>
        </p:nvSpPr>
        <p:spPr/>
        <p:txBody>
          <a:bodyPr/>
          <a:lstStyle/>
          <a:p>
            <a:fld id="{C52A4312-82DE-4770-98CD-6977C9A3A8FE}" type="datetimeFigureOut">
              <a:rPr lang="en-US" smtClean="0"/>
              <a:t>9/7/2026</a:t>
            </a:fld>
            <a:endParaRPr lang="en-US"/>
          </a:p>
        </p:txBody>
      </p:sp>
      <p:sp>
        <p:nvSpPr>
          <p:cNvPr id="5" name="Footer Placeholder 4">
            <a:extLst>
              <a:ext uri="{FF2B5EF4-FFF2-40B4-BE49-F238E27FC236}">
                <a16:creationId xmlns:a16="http://schemas.microsoft.com/office/drawing/2014/main" id="{2442E3B2-75C0-AE42-B3AF-53F20163B9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BF65B3-1D46-AD46-00DB-5AE3B4386135}"/>
              </a:ext>
            </a:extLst>
          </p:cNvPr>
          <p:cNvSpPr>
            <a:spLocks noGrp="1"/>
          </p:cNvSpPr>
          <p:nvPr>
            <p:ph type="sldNum" sz="quarter" idx="12"/>
          </p:nvPr>
        </p:nvSpPr>
        <p:spPr/>
        <p:txBody>
          <a:bodyPr/>
          <a:lstStyle/>
          <a:p>
            <a:fld id="{7A5AC3EF-778F-4756-B96F-DEE466ABF791}" type="slidenum">
              <a:rPr lang="en-US" smtClean="0"/>
              <a:t>‹#›</a:t>
            </a:fld>
            <a:endParaRPr lang="en-US"/>
          </a:p>
        </p:txBody>
      </p:sp>
    </p:spTree>
    <p:extLst>
      <p:ext uri="{BB962C8B-B14F-4D97-AF65-F5344CB8AC3E}">
        <p14:creationId xmlns:p14="http://schemas.microsoft.com/office/powerpoint/2010/main" val="3126633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6000"/>
            <a:lum/>
          </a:blip>
          <a:srcRect/>
          <a:stretch>
            <a:fillRect l="-6000" r="-6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6ADF3A-9C27-2595-D1E7-2A8A9F6ACF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1E67A14-E260-293E-25D5-4115953F44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714909-C1AC-1F83-6988-7984E652A1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2A4312-82DE-4770-98CD-6977C9A3A8FE}" type="datetimeFigureOut">
              <a:rPr lang="en-US" smtClean="0"/>
              <a:t>9/7/2026</a:t>
            </a:fld>
            <a:endParaRPr lang="en-US"/>
          </a:p>
        </p:txBody>
      </p:sp>
      <p:sp>
        <p:nvSpPr>
          <p:cNvPr id="5" name="Footer Placeholder 4">
            <a:extLst>
              <a:ext uri="{FF2B5EF4-FFF2-40B4-BE49-F238E27FC236}">
                <a16:creationId xmlns:a16="http://schemas.microsoft.com/office/drawing/2014/main" id="{0C4D30A0-D3AC-CA1D-FCD9-3814CF6886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971EC8B-77D0-8887-C08B-503B974FF8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5AC3EF-778F-4756-B96F-DEE466ABF791}" type="slidenum">
              <a:rPr lang="en-US" smtClean="0"/>
              <a:t>‹#›</a:t>
            </a:fld>
            <a:endParaRPr lang="en-US"/>
          </a:p>
        </p:txBody>
      </p:sp>
    </p:spTree>
    <p:extLst>
      <p:ext uri="{BB962C8B-B14F-4D97-AF65-F5344CB8AC3E}">
        <p14:creationId xmlns:p14="http://schemas.microsoft.com/office/powerpoint/2010/main" val="38500501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slideLayout" Target="../slideLayouts/slideLayout2.xml"/><Relationship Id="rId1" Type="http://schemas.openxmlformats.org/officeDocument/2006/relationships/video" Target="https://www.youtube.com/embed/g_NNJACwjiw?start=13&amp;feature=oembed" TargetMode="External"/></Relationships>
</file>

<file path=ppt/slides/_rels/slide3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43.png"/><Relationship Id="rId7" Type="http://schemas.openxmlformats.org/officeDocument/2006/relationships/diagramColors" Target="../diagrams/colors2.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37.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5.sv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B0DD64B2-9777-2726-1B2F-63EADAC62057}"/>
              </a:ext>
            </a:extLst>
          </p:cNvPr>
          <p:cNvPicPr>
            <a:picLocks noChangeAspect="1"/>
          </p:cNvPicPr>
          <p:nvPr/>
        </p:nvPicPr>
        <p:blipFill rotWithShape="1">
          <a:blip r:embed="rId2"/>
          <a:srcRect l="12545" t="6605" r="28429"/>
          <a:stretch/>
        </p:blipFill>
        <p:spPr>
          <a:xfrm>
            <a:off x="3523488" y="10"/>
            <a:ext cx="8668512" cy="6857990"/>
          </a:xfrm>
          <a:prstGeom prst="rect">
            <a:avLst/>
          </a:prstGeom>
        </p:spPr>
      </p:pic>
      <p:sp>
        <p:nvSpPr>
          <p:cNvPr id="13" name="Rectangle 1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81028" y="1886156"/>
            <a:ext cx="5991209" cy="3251696"/>
          </a:xfrm>
        </p:spPr>
        <p:txBody>
          <a:bodyPr anchor="b">
            <a:normAutofit fontScale="90000"/>
          </a:bodyPr>
          <a:lstStyle/>
          <a:p>
            <a:br>
              <a:rPr lang="en-US" sz="1900" dirty="0">
                <a:solidFill>
                  <a:schemeClr val="bg1"/>
                </a:solidFill>
                <a:effectLst>
                  <a:outerShdw blurRad="38100" dist="38100" dir="2700000" algn="tl">
                    <a:srgbClr val="000000">
                      <a:alpha val="43137"/>
                    </a:srgbClr>
                  </a:outerShdw>
                </a:effectLst>
              </a:rPr>
            </a:br>
            <a:br>
              <a:rPr lang="en-US" sz="2200" dirty="0">
                <a:solidFill>
                  <a:schemeClr val="bg1"/>
                </a:solidFill>
                <a:effectLst>
                  <a:outerShdw blurRad="38100" dist="38100" dir="2700000" algn="tl">
                    <a:srgbClr val="000000">
                      <a:alpha val="43137"/>
                    </a:srgbClr>
                  </a:outerShdw>
                </a:effectLst>
              </a:rPr>
            </a:br>
            <a:r>
              <a:rPr lang="en-US" sz="4000" b="1" dirty="0">
                <a:solidFill>
                  <a:srgbClr val="FFFF00"/>
                </a:solidFill>
                <a:effectLst>
                  <a:outerShdw blurRad="38100" dist="38100" dir="2700000" algn="tl">
                    <a:srgbClr val="000000">
                      <a:alpha val="43137"/>
                    </a:srgbClr>
                  </a:outerShdw>
                </a:effectLst>
                <a:latin typeface="Algerian" panose="04020705040A02060702" pitchFamily="82" charset="0"/>
              </a:rPr>
              <a:t>Transcultural Nursing</a:t>
            </a:r>
            <a:br>
              <a:rPr lang="en-US" sz="1900" dirty="0">
                <a:solidFill>
                  <a:schemeClr val="bg1"/>
                </a:solidFill>
                <a:effectLst>
                  <a:outerShdw blurRad="38100" dist="38100" dir="2700000" algn="tl">
                    <a:srgbClr val="000000">
                      <a:alpha val="43137"/>
                    </a:srgbClr>
                  </a:outerShdw>
                </a:effectLst>
              </a:rPr>
            </a:br>
            <a:br>
              <a:rPr lang="en-US" sz="1900" dirty="0">
                <a:solidFill>
                  <a:schemeClr val="bg1"/>
                </a:solidFill>
                <a:effectLst>
                  <a:outerShdw blurRad="38100" dist="38100" dir="2700000" algn="tl">
                    <a:srgbClr val="000000">
                      <a:alpha val="43137"/>
                    </a:srgbClr>
                  </a:outerShdw>
                </a:effectLst>
              </a:rPr>
            </a:br>
            <a:br>
              <a:rPr lang="en-US" sz="1900" dirty="0">
                <a:solidFill>
                  <a:schemeClr val="bg1"/>
                </a:solidFill>
                <a:effectLst>
                  <a:outerShdw blurRad="38100" dist="38100" dir="2700000" algn="tl">
                    <a:srgbClr val="000000">
                      <a:alpha val="43137"/>
                    </a:srgbClr>
                  </a:outerShdw>
                </a:effectLst>
              </a:rPr>
            </a:br>
            <a:br>
              <a:rPr lang="en-US" sz="1900" dirty="0">
                <a:solidFill>
                  <a:schemeClr val="bg1"/>
                </a:solidFill>
                <a:effectLst>
                  <a:outerShdw blurRad="38100" dist="38100" dir="2700000" algn="tl">
                    <a:srgbClr val="000000">
                      <a:alpha val="43137"/>
                    </a:srgbClr>
                  </a:outerShdw>
                </a:effectLst>
              </a:rPr>
            </a:br>
            <a:br>
              <a:rPr lang="en-US" sz="1900" dirty="0">
                <a:solidFill>
                  <a:schemeClr val="bg1"/>
                </a:solidFill>
                <a:effectLst>
                  <a:outerShdw blurRad="38100" dist="38100" dir="2700000" algn="tl">
                    <a:srgbClr val="000000">
                      <a:alpha val="43137"/>
                    </a:srgbClr>
                  </a:outerShdw>
                </a:effectLst>
              </a:rPr>
            </a:br>
            <a:r>
              <a:rPr lang="en-US" sz="2700" b="1" dirty="0">
                <a:solidFill>
                  <a:schemeClr val="bg1"/>
                </a:solidFill>
                <a:effectLst>
                  <a:outerShdw blurRad="38100" dist="38100" dir="2700000" algn="tl">
                    <a:srgbClr val="000000">
                      <a:alpha val="43137"/>
                    </a:srgbClr>
                  </a:outerShdw>
                </a:effectLst>
              </a:rPr>
              <a:t>2025-2026</a:t>
            </a:r>
            <a:br>
              <a:rPr lang="en-US" sz="1900" dirty="0">
                <a:solidFill>
                  <a:schemeClr val="bg1"/>
                </a:solidFill>
                <a:effectLst>
                  <a:outerShdw blurRad="38100" dist="38100" dir="2700000" algn="tl">
                    <a:srgbClr val="000000">
                      <a:alpha val="43137"/>
                    </a:srgbClr>
                  </a:outerShdw>
                </a:effectLst>
              </a:rPr>
            </a:br>
            <a:endParaRPr lang="en-US" sz="1900" dirty="0">
              <a:solidFill>
                <a:schemeClr val="bg1"/>
              </a:solidFill>
            </a:endParaRP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53CA9E-327C-0BFE-5D96-6A221CCFB6BE}"/>
              </a:ext>
            </a:extLst>
          </p:cNvPr>
          <p:cNvPicPr>
            <a:picLocks noChangeAspect="1"/>
          </p:cNvPicPr>
          <p:nvPr/>
        </p:nvPicPr>
        <p:blipFill>
          <a:blip r:embed="rId2"/>
          <a:stretch>
            <a:fillRect/>
          </a:stretch>
        </p:blipFill>
        <p:spPr>
          <a:xfrm rot="11645667">
            <a:off x="8640809" y="539280"/>
            <a:ext cx="2365777" cy="1712518"/>
          </a:xfrm>
          <a:prstGeom prst="rect">
            <a:avLst/>
          </a:prstGeom>
        </p:spPr>
      </p:pic>
      <p:sp>
        <p:nvSpPr>
          <p:cNvPr id="2" name="Title 1">
            <a:extLst>
              <a:ext uri="{FF2B5EF4-FFF2-40B4-BE49-F238E27FC236}">
                <a16:creationId xmlns:a16="http://schemas.microsoft.com/office/drawing/2014/main" id="{F1E66362-A882-48B8-90D1-11F9EB7AD15F}"/>
              </a:ext>
            </a:extLst>
          </p:cNvPr>
          <p:cNvSpPr>
            <a:spLocks noGrp="1"/>
          </p:cNvSpPr>
          <p:nvPr>
            <p:ph type="title"/>
          </p:nvPr>
        </p:nvSpPr>
        <p:spPr>
          <a:xfrm>
            <a:off x="1957387" y="841542"/>
            <a:ext cx="8524875" cy="553998"/>
          </a:xfrm>
        </p:spPr>
        <p:txBody>
          <a:bodyPr>
            <a:noAutofit/>
          </a:bodyPr>
          <a:lstStyle/>
          <a:p>
            <a:r>
              <a:rPr lang="en-US" sz="4000" b="1" dirty="0">
                <a:solidFill>
                  <a:srgbClr val="FF0000"/>
                </a:solidFill>
              </a:rPr>
              <a:t>Objectives </a:t>
            </a:r>
          </a:p>
        </p:txBody>
      </p:sp>
      <p:sp>
        <p:nvSpPr>
          <p:cNvPr id="3" name="Content Placeholder 2">
            <a:extLst>
              <a:ext uri="{FF2B5EF4-FFF2-40B4-BE49-F238E27FC236}">
                <a16:creationId xmlns:a16="http://schemas.microsoft.com/office/drawing/2014/main" id="{4D2F300B-CFD8-49DB-B8A6-E30088A2B27F}"/>
              </a:ext>
            </a:extLst>
          </p:cNvPr>
          <p:cNvSpPr>
            <a:spLocks noGrp="1"/>
          </p:cNvSpPr>
          <p:nvPr>
            <p:ph idx="1"/>
          </p:nvPr>
        </p:nvSpPr>
        <p:spPr>
          <a:xfrm>
            <a:off x="828339" y="1570616"/>
            <a:ext cx="9439377" cy="4754879"/>
          </a:xfrm>
        </p:spPr>
        <p:txBody>
          <a:bodyPr>
            <a:normAutofit/>
          </a:bodyPr>
          <a:lstStyle/>
          <a:p>
            <a:pPr marL="0" indent="0">
              <a:buNone/>
            </a:pPr>
            <a:r>
              <a:rPr lang="en-US" sz="2000" b="1" dirty="0">
                <a:solidFill>
                  <a:schemeClr val="accent2">
                    <a:lumMod val="50000"/>
                  </a:schemeClr>
                </a:solidFill>
              </a:rPr>
              <a:t>By the end of the session, the student will be able to:</a:t>
            </a:r>
          </a:p>
          <a:p>
            <a:pPr lvl="0"/>
            <a:r>
              <a:rPr lang="en-US" sz="2000" dirty="0"/>
              <a:t>Define the concept of culture</a:t>
            </a:r>
          </a:p>
          <a:p>
            <a:pPr lvl="0"/>
            <a:r>
              <a:rPr lang="en-US" sz="2000" dirty="0"/>
              <a:t>Discuss the meaning of cultural diversity, ethnocentrism, ethnorelativism and their effects on community health nursing practice.</a:t>
            </a:r>
          </a:p>
          <a:p>
            <a:pPr lvl="0"/>
            <a:r>
              <a:rPr lang="en-US" sz="2000" dirty="0"/>
              <a:t>Identify the five characteristics shared by all culture.</a:t>
            </a:r>
          </a:p>
          <a:p>
            <a:pPr lvl="0"/>
            <a:r>
              <a:rPr lang="en-US" sz="2000" dirty="0"/>
              <a:t>Discuss the major views in the world culture. </a:t>
            </a:r>
          </a:p>
          <a:p>
            <a:pPr lvl="0"/>
            <a:r>
              <a:rPr lang="en-US" sz="2000" dirty="0"/>
              <a:t>Discuss the health-related values, beliefs and practices of selected culturally diverse population (Activity). </a:t>
            </a:r>
          </a:p>
          <a:p>
            <a:pPr lvl="0"/>
            <a:r>
              <a:rPr lang="en-US" sz="2000" dirty="0"/>
              <a:t>Identify the guidelines for nurses working with all immigrant groups.</a:t>
            </a:r>
          </a:p>
          <a:p>
            <a:pPr lvl="0"/>
            <a:r>
              <a:rPr lang="en-US" sz="2000" dirty="0"/>
              <a:t>Apply principles of transcultural nursing in community health nursing principles.</a:t>
            </a:r>
          </a:p>
        </p:txBody>
      </p:sp>
    </p:spTree>
    <p:extLst>
      <p:ext uri="{BB962C8B-B14F-4D97-AF65-F5344CB8AC3E}">
        <p14:creationId xmlns:p14="http://schemas.microsoft.com/office/powerpoint/2010/main" val="502130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a:xfrm>
            <a:off x="1957389" y="611229"/>
            <a:ext cx="8524875" cy="553998"/>
          </a:xfrm>
        </p:spPr>
        <p:txBody>
          <a:bodyPr>
            <a:normAutofit fontScale="90000"/>
          </a:bodyPr>
          <a:lstStyle/>
          <a:p>
            <a:pPr eaLnBrk="1" hangingPunct="1">
              <a:defRPr/>
            </a:pPr>
            <a:r>
              <a:rPr lang="en-US" sz="4000" b="1" dirty="0">
                <a:solidFill>
                  <a:srgbClr val="FF0000"/>
                </a:solidFill>
              </a:rPr>
              <a:t>The Meaning of Culture</a:t>
            </a:r>
          </a:p>
        </p:txBody>
      </p:sp>
      <p:sp>
        <p:nvSpPr>
          <p:cNvPr id="4099" name="Rectangle 3"/>
          <p:cNvSpPr>
            <a:spLocks noGrp="1" noChangeArrowheads="1"/>
          </p:cNvSpPr>
          <p:nvPr>
            <p:ph idx="1"/>
          </p:nvPr>
        </p:nvSpPr>
        <p:spPr>
          <a:xfrm>
            <a:off x="975360" y="1838674"/>
            <a:ext cx="8721835" cy="3525806"/>
          </a:xfrm>
        </p:spPr>
        <p:txBody>
          <a:bodyPr>
            <a:normAutofit/>
          </a:bodyPr>
          <a:lstStyle/>
          <a:p>
            <a:pPr algn="just" eaLnBrk="1" hangingPunct="1">
              <a:lnSpc>
                <a:spcPct val="200000"/>
              </a:lnSpc>
            </a:pPr>
            <a:r>
              <a:rPr lang="en-US" altLang="en-US" sz="1800" b="1" dirty="0"/>
              <a:t>Culture: </a:t>
            </a:r>
            <a:r>
              <a:rPr lang="en-GB" altLang="en-US" sz="1800" dirty="0"/>
              <a:t>refers to the beliefs, values, and behaviours that are shared by members of a society and provide a template or “road map” for living</a:t>
            </a:r>
            <a:endParaRPr lang="en-US" altLang="en-US" sz="1800" dirty="0"/>
          </a:p>
          <a:p>
            <a:pPr algn="just" eaLnBrk="1" hangingPunct="1">
              <a:lnSpc>
                <a:spcPct val="200000"/>
              </a:lnSpc>
            </a:pPr>
            <a:r>
              <a:rPr lang="en-US" altLang="en-US" sz="1800" b="1" dirty="0"/>
              <a:t> </a:t>
            </a:r>
            <a:r>
              <a:rPr lang="en-US" altLang="en-US" sz="1800" dirty="0"/>
              <a:t>design for living; it provides a set of norms and values that offer stability and security for members of a society.</a:t>
            </a:r>
          </a:p>
          <a:p>
            <a:pPr algn="just" eaLnBrk="1" hangingPunct="1">
              <a:lnSpc>
                <a:spcPct val="200000"/>
              </a:lnSpc>
            </a:pPr>
            <a:r>
              <a:rPr lang="en-US" sz="1800" dirty="0"/>
              <a:t>It forms the basis for the definitions of male and female roles. </a:t>
            </a:r>
          </a:p>
        </p:txBody>
      </p:sp>
      <p:pic>
        <p:nvPicPr>
          <p:cNvPr id="2" name="Picture 1">
            <a:extLst>
              <a:ext uri="{FF2B5EF4-FFF2-40B4-BE49-F238E27FC236}">
                <a16:creationId xmlns:a16="http://schemas.microsoft.com/office/drawing/2014/main" id="{33D3CE4D-F974-496E-BBA3-7C1FCAC42E88}"/>
              </a:ext>
            </a:extLst>
          </p:cNvPr>
          <p:cNvPicPr>
            <a:picLocks noChangeAspect="1"/>
          </p:cNvPicPr>
          <p:nvPr/>
        </p:nvPicPr>
        <p:blipFill>
          <a:blip r:embed="rId3"/>
          <a:stretch>
            <a:fillRect/>
          </a:stretch>
        </p:blipFill>
        <p:spPr>
          <a:xfrm>
            <a:off x="8168353" y="3751964"/>
            <a:ext cx="2441131" cy="2240958"/>
          </a:xfrm>
          <a:prstGeom prst="ellipse">
            <a:avLst/>
          </a:prstGeom>
          <a:ln>
            <a:noFill/>
          </a:ln>
          <a:effectLst>
            <a:softEdge rad="11250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7389" y="604877"/>
            <a:ext cx="8524875" cy="553998"/>
          </a:xfrm>
        </p:spPr>
        <p:txBody>
          <a:bodyPr>
            <a:noAutofit/>
          </a:bodyPr>
          <a:lstStyle/>
          <a:p>
            <a:r>
              <a:rPr lang="en-US" b="1" dirty="0">
                <a:solidFill>
                  <a:srgbClr val="FF0000"/>
                </a:solidFill>
              </a:rPr>
              <a:t>Cultural Diversity</a:t>
            </a:r>
          </a:p>
        </p:txBody>
      </p:sp>
      <p:sp>
        <p:nvSpPr>
          <p:cNvPr id="3" name="Content Placeholder 2"/>
          <p:cNvSpPr>
            <a:spLocks noGrp="1"/>
          </p:cNvSpPr>
          <p:nvPr>
            <p:ph idx="1"/>
          </p:nvPr>
        </p:nvSpPr>
        <p:spPr>
          <a:xfrm>
            <a:off x="1948331" y="1526055"/>
            <a:ext cx="8152897" cy="2365225"/>
          </a:xfrm>
        </p:spPr>
        <p:txBody>
          <a:bodyPr/>
          <a:lstStyle/>
          <a:p>
            <a:pPr algn="just">
              <a:lnSpc>
                <a:spcPct val="150000"/>
              </a:lnSpc>
            </a:pPr>
            <a:r>
              <a:rPr lang="en-US" b="1" dirty="0"/>
              <a:t>Cultural diversity</a:t>
            </a:r>
            <a:r>
              <a:rPr lang="en-US" dirty="0"/>
              <a:t>, also called </a:t>
            </a:r>
            <a:r>
              <a:rPr lang="en-US" i="1" dirty="0"/>
              <a:t>cultural plurality</a:t>
            </a:r>
            <a:r>
              <a:rPr lang="en-US" dirty="0"/>
              <a:t>, means that a variety of cultural patterns coexist within a designated geographic area. </a:t>
            </a:r>
          </a:p>
        </p:txBody>
      </p:sp>
      <p:pic>
        <p:nvPicPr>
          <p:cNvPr id="4" name="Picture 3">
            <a:extLst>
              <a:ext uri="{FF2B5EF4-FFF2-40B4-BE49-F238E27FC236}">
                <a16:creationId xmlns:a16="http://schemas.microsoft.com/office/drawing/2014/main" id="{B07E56A1-19DE-DB91-4FBB-A99DE7AD027D}"/>
              </a:ext>
            </a:extLst>
          </p:cNvPr>
          <p:cNvPicPr>
            <a:picLocks noChangeAspect="1"/>
          </p:cNvPicPr>
          <p:nvPr/>
        </p:nvPicPr>
        <p:blipFill>
          <a:blip r:embed="rId3"/>
          <a:stretch>
            <a:fillRect/>
          </a:stretch>
        </p:blipFill>
        <p:spPr>
          <a:xfrm>
            <a:off x="7190983" y="3146897"/>
            <a:ext cx="3825991" cy="3106226"/>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81035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52563-A7B0-1777-6E01-F21F5A232D2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D4C056D-B4BD-39D6-3A54-638244AFFDE9}"/>
              </a:ext>
            </a:extLst>
          </p:cNvPr>
          <p:cNvSpPr>
            <a:spLocks noGrp="1"/>
          </p:cNvSpPr>
          <p:nvPr>
            <p:ph idx="1"/>
          </p:nvPr>
        </p:nvSpPr>
        <p:spPr/>
        <p:txBody>
          <a:bodyPr/>
          <a:lstStyle/>
          <a:p>
            <a:endParaRPr lang="en-US"/>
          </a:p>
        </p:txBody>
      </p:sp>
      <p:pic>
        <p:nvPicPr>
          <p:cNvPr id="1026" name="Picture 2" descr="Difference Between Race And Ethnicity? Know About Race vs Ethnicity">
            <a:extLst>
              <a:ext uri="{FF2B5EF4-FFF2-40B4-BE49-F238E27FC236}">
                <a16:creationId xmlns:a16="http://schemas.microsoft.com/office/drawing/2014/main" id="{15190675-28E2-B29E-08BC-CEC440FEFB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14313"/>
            <a:ext cx="11430000" cy="642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00310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64ADB-EED3-4B9D-806A-D0CFF5E20DBC}"/>
              </a:ext>
            </a:extLst>
          </p:cNvPr>
          <p:cNvSpPr>
            <a:spLocks noGrp="1"/>
          </p:cNvSpPr>
          <p:nvPr>
            <p:ph type="title"/>
          </p:nvPr>
        </p:nvSpPr>
        <p:spPr>
          <a:xfrm>
            <a:off x="1957389" y="604877"/>
            <a:ext cx="4545011" cy="553998"/>
          </a:xfrm>
        </p:spPr>
        <p:txBody>
          <a:bodyPr>
            <a:normAutofit fontScale="90000"/>
          </a:bodyPr>
          <a:lstStyle/>
          <a:p>
            <a:pPr eaLnBrk="1" hangingPunct="1">
              <a:defRPr/>
            </a:pPr>
            <a:r>
              <a:rPr lang="en-US" sz="4000" b="1" dirty="0">
                <a:solidFill>
                  <a:srgbClr val="FF0000"/>
                </a:solidFill>
              </a:rPr>
              <a:t>Cultural Diversity</a:t>
            </a:r>
          </a:p>
        </p:txBody>
      </p:sp>
      <p:sp>
        <p:nvSpPr>
          <p:cNvPr id="3" name="Content Placeholder 2">
            <a:extLst>
              <a:ext uri="{FF2B5EF4-FFF2-40B4-BE49-F238E27FC236}">
                <a16:creationId xmlns:a16="http://schemas.microsoft.com/office/drawing/2014/main" id="{9777D731-DCAB-48E6-B1F0-C7BCCB842B2B}"/>
              </a:ext>
            </a:extLst>
          </p:cNvPr>
          <p:cNvSpPr>
            <a:spLocks noGrp="1"/>
          </p:cNvSpPr>
          <p:nvPr>
            <p:ph idx="1"/>
          </p:nvPr>
        </p:nvSpPr>
        <p:spPr>
          <a:xfrm>
            <a:off x="1868489" y="1220153"/>
            <a:ext cx="8613775" cy="3686175"/>
          </a:xfrm>
        </p:spPr>
        <p:txBody>
          <a:bodyPr>
            <a:normAutofit lnSpcReduction="10000"/>
          </a:bodyPr>
          <a:lstStyle/>
          <a:p>
            <a:pPr>
              <a:lnSpc>
                <a:spcPct val="100000"/>
              </a:lnSpc>
            </a:pPr>
            <a:r>
              <a:rPr lang="en-US" altLang="en-US" b="1" dirty="0"/>
              <a:t>Race</a:t>
            </a:r>
            <a:r>
              <a:rPr lang="en-US" altLang="en-US" dirty="0"/>
              <a:t>: </a:t>
            </a:r>
          </a:p>
          <a:p>
            <a:pPr marL="0" indent="0">
              <a:lnSpc>
                <a:spcPct val="100000"/>
              </a:lnSpc>
              <a:buNone/>
            </a:pPr>
            <a:r>
              <a:rPr lang="en-US" altLang="en-US" dirty="0"/>
              <a:t>Biologically designated groups of people whose distinguishing features, such as skin color.</a:t>
            </a:r>
          </a:p>
          <a:p>
            <a:pPr>
              <a:lnSpc>
                <a:spcPct val="100000"/>
              </a:lnSpc>
            </a:pPr>
            <a:r>
              <a:rPr lang="en-US" altLang="en-US" b="1" dirty="0"/>
              <a:t>Ethnic group</a:t>
            </a:r>
            <a:r>
              <a:rPr lang="en-US" altLang="en-US" dirty="0"/>
              <a:t>: </a:t>
            </a:r>
          </a:p>
          <a:p>
            <a:pPr marL="0" indent="0">
              <a:lnSpc>
                <a:spcPct val="100000"/>
              </a:lnSpc>
              <a:buNone/>
            </a:pPr>
            <a:r>
              <a:rPr lang="en-US" altLang="en-US" dirty="0"/>
              <a:t>Collection of people who have common origins and a shared culture and identity; they may share a common geographic origin, race, language, religion, traditions, values, and food preferences (Spector, 2013).</a:t>
            </a:r>
          </a:p>
          <a:p>
            <a:endParaRPr lang="en-US" dirty="0"/>
          </a:p>
        </p:txBody>
      </p:sp>
      <p:pic>
        <p:nvPicPr>
          <p:cNvPr id="4" name="Picture 3">
            <a:extLst>
              <a:ext uri="{FF2B5EF4-FFF2-40B4-BE49-F238E27FC236}">
                <a16:creationId xmlns:a16="http://schemas.microsoft.com/office/drawing/2014/main" id="{9772025F-3D9F-9D98-7FAE-383FE3188084}"/>
              </a:ext>
            </a:extLst>
          </p:cNvPr>
          <p:cNvPicPr>
            <a:picLocks noChangeAspect="1"/>
          </p:cNvPicPr>
          <p:nvPr/>
        </p:nvPicPr>
        <p:blipFill>
          <a:blip r:embed="rId3"/>
          <a:stretch>
            <a:fillRect/>
          </a:stretch>
        </p:blipFill>
        <p:spPr>
          <a:xfrm>
            <a:off x="2215764" y="4906327"/>
            <a:ext cx="7569641" cy="1436038"/>
          </a:xfrm>
          <a:prstGeom prst="rect">
            <a:avLst/>
          </a:prstGeom>
          <a:ln>
            <a:noFill/>
          </a:ln>
          <a:effectLst>
            <a:softEdge rad="112500"/>
          </a:effectLst>
        </p:spPr>
      </p:pic>
    </p:spTree>
    <p:extLst>
      <p:ext uri="{BB962C8B-B14F-4D97-AF65-F5344CB8AC3E}">
        <p14:creationId xmlns:p14="http://schemas.microsoft.com/office/powerpoint/2010/main" val="54399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D9F5B15-68A4-F90E-8E2E-FE3515C2238C}"/>
              </a:ext>
            </a:extLst>
          </p:cNvPr>
          <p:cNvPicPr>
            <a:picLocks noChangeAspect="1"/>
          </p:cNvPicPr>
          <p:nvPr/>
        </p:nvPicPr>
        <p:blipFill>
          <a:blip r:embed="rId2"/>
          <a:stretch>
            <a:fillRect/>
          </a:stretch>
        </p:blipFill>
        <p:spPr>
          <a:xfrm>
            <a:off x="7881262" y="1160021"/>
            <a:ext cx="3508099" cy="4683493"/>
          </a:xfrm>
          <a:prstGeom prst="rect">
            <a:avLst/>
          </a:prstGeom>
        </p:spPr>
      </p:pic>
      <p:sp>
        <p:nvSpPr>
          <p:cNvPr id="290818" name="Rectangle 2"/>
          <p:cNvSpPr>
            <a:spLocks noGrp="1" noChangeArrowheads="1"/>
          </p:cNvSpPr>
          <p:nvPr>
            <p:ph type="title"/>
          </p:nvPr>
        </p:nvSpPr>
        <p:spPr>
          <a:xfrm>
            <a:off x="1957389" y="606023"/>
            <a:ext cx="8524875" cy="553998"/>
          </a:xfrm>
        </p:spPr>
        <p:txBody>
          <a:bodyPr>
            <a:normAutofit fontScale="90000"/>
          </a:bodyPr>
          <a:lstStyle/>
          <a:p>
            <a:pPr eaLnBrk="1" hangingPunct="1">
              <a:defRPr/>
            </a:pPr>
            <a:r>
              <a:rPr lang="en-US" sz="4000"/>
              <a:t>Question #1</a:t>
            </a:r>
            <a:endParaRPr lang="en-US" sz="4000" dirty="0"/>
          </a:p>
        </p:txBody>
      </p:sp>
      <p:sp>
        <p:nvSpPr>
          <p:cNvPr id="7171" name="Rectangle 3"/>
          <p:cNvSpPr>
            <a:spLocks noGrp="1" noChangeArrowheads="1"/>
          </p:cNvSpPr>
          <p:nvPr>
            <p:ph idx="1"/>
          </p:nvPr>
        </p:nvSpPr>
        <p:spPr>
          <a:xfrm>
            <a:off x="562061" y="2460181"/>
            <a:ext cx="6541546" cy="3686175"/>
          </a:xfrm>
        </p:spPr>
        <p:txBody>
          <a:bodyPr/>
          <a:lstStyle/>
          <a:p>
            <a:pPr marL="0" indent="0">
              <a:lnSpc>
                <a:spcPct val="100000"/>
              </a:lnSpc>
              <a:buNone/>
            </a:pPr>
            <a:r>
              <a:rPr lang="en-US" altLang="en-US" b="1" dirty="0">
                <a:solidFill>
                  <a:srgbClr val="FF0000"/>
                </a:solidFill>
              </a:rPr>
              <a:t>Is the following statement true or false?</a:t>
            </a:r>
          </a:p>
          <a:p>
            <a:pPr eaLnBrk="1" hangingPunct="1">
              <a:lnSpc>
                <a:spcPct val="100000"/>
              </a:lnSpc>
            </a:pPr>
            <a:endParaRPr lang="en-US" altLang="en-US" dirty="0"/>
          </a:p>
          <a:p>
            <a:pPr marL="0" indent="0" algn="ctr">
              <a:lnSpc>
                <a:spcPct val="100000"/>
              </a:lnSpc>
              <a:buNone/>
            </a:pPr>
            <a:r>
              <a:rPr lang="en-US" altLang="en-US" sz="2400" b="1" dirty="0"/>
              <a:t>“Race and ethnicity are interchangeable terms”.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p:cNvSpPr>
            <a:spLocks noGrp="1" noChangeArrowheads="1"/>
          </p:cNvSpPr>
          <p:nvPr>
            <p:ph type="title"/>
          </p:nvPr>
        </p:nvSpPr>
        <p:spPr>
          <a:xfrm>
            <a:off x="1859280" y="160337"/>
            <a:ext cx="8229600" cy="1143000"/>
          </a:xfrm>
        </p:spPr>
        <p:txBody>
          <a:bodyPr wrap="square" anchor="b">
            <a:normAutofit/>
          </a:bodyPr>
          <a:lstStyle/>
          <a:p>
            <a:pPr eaLnBrk="1" hangingPunct="1">
              <a:defRPr/>
            </a:pPr>
            <a:r>
              <a:rPr lang="en-US" dirty="0"/>
              <a:t>Answer to Question #1</a:t>
            </a:r>
          </a:p>
        </p:txBody>
      </p:sp>
      <p:pic>
        <p:nvPicPr>
          <p:cNvPr id="2" name="Picture 1">
            <a:extLst>
              <a:ext uri="{FF2B5EF4-FFF2-40B4-BE49-F238E27FC236}">
                <a16:creationId xmlns:a16="http://schemas.microsoft.com/office/drawing/2014/main" id="{FABB2090-284A-E3BC-8556-0253665E09D3}"/>
              </a:ext>
            </a:extLst>
          </p:cNvPr>
          <p:cNvPicPr>
            <a:picLocks noChangeAspect="1"/>
          </p:cNvPicPr>
          <p:nvPr/>
        </p:nvPicPr>
        <p:blipFill>
          <a:blip r:embed="rId3"/>
          <a:stretch>
            <a:fillRect/>
          </a:stretch>
        </p:blipFill>
        <p:spPr>
          <a:xfrm>
            <a:off x="948561" y="1834736"/>
            <a:ext cx="3694453" cy="3951288"/>
          </a:xfrm>
          <a:prstGeom prst="rect">
            <a:avLst/>
          </a:prstGeom>
          <a:ln>
            <a:noFill/>
          </a:ln>
          <a:effectLst>
            <a:softEdge rad="112500"/>
          </a:effectLst>
        </p:spPr>
      </p:pic>
      <p:sp>
        <p:nvSpPr>
          <p:cNvPr id="8195" name="Rectangle 3"/>
          <p:cNvSpPr>
            <a:spLocks noGrp="1" noChangeArrowheads="1"/>
          </p:cNvSpPr>
          <p:nvPr>
            <p:ph sz="quarter" idx="4"/>
          </p:nvPr>
        </p:nvSpPr>
        <p:spPr>
          <a:xfrm>
            <a:off x="5666631" y="2174875"/>
            <a:ext cx="4544170" cy="3951288"/>
          </a:xfrm>
        </p:spPr>
        <p:txBody>
          <a:bodyPr wrap="square" anchor="t">
            <a:normAutofit/>
          </a:bodyPr>
          <a:lstStyle/>
          <a:p>
            <a:pPr marL="0" indent="0" algn="ctr">
              <a:buNone/>
            </a:pPr>
            <a:r>
              <a:rPr lang="en-US" altLang="en-US" sz="1900" b="1" dirty="0"/>
              <a:t>False</a:t>
            </a:r>
          </a:p>
          <a:p>
            <a:pPr algn="ctr" eaLnBrk="1" hangingPunct="1"/>
            <a:endParaRPr lang="en-US" altLang="en-US" sz="1900" dirty="0"/>
          </a:p>
          <a:p>
            <a:pPr marL="0" indent="0" algn="ctr">
              <a:buNone/>
            </a:pPr>
            <a:r>
              <a:rPr lang="en-US" altLang="en-US" sz="1900" b="1" dirty="0"/>
              <a:t>Rationale: </a:t>
            </a:r>
            <a:r>
              <a:rPr lang="en-US" altLang="en-US" sz="1900" dirty="0"/>
              <a:t>Race refers to biologically designated groups of people whose distinguishing features are inherited. Ethnicity refers to a group of qualities that mark a person’s association with a particular ethnic group or who share cultural and/or physical characteristics.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7389" y="769939"/>
            <a:ext cx="8524875" cy="388937"/>
          </a:xfrm>
        </p:spPr>
        <p:txBody>
          <a:bodyPr wrap="square" anchor="b">
            <a:noAutofit/>
          </a:bodyPr>
          <a:lstStyle/>
          <a:p>
            <a:r>
              <a:rPr lang="en-US" sz="4000" dirty="0"/>
              <a:t>Ethnocentrism</a:t>
            </a:r>
          </a:p>
        </p:txBody>
      </p:sp>
      <p:sp>
        <p:nvSpPr>
          <p:cNvPr id="3" name="Content Placeholder 2"/>
          <p:cNvSpPr>
            <a:spLocks noGrp="1"/>
          </p:cNvSpPr>
          <p:nvPr>
            <p:ph sz="half" idx="1"/>
          </p:nvPr>
        </p:nvSpPr>
        <p:spPr>
          <a:xfrm>
            <a:off x="1591807" y="1437240"/>
            <a:ext cx="4230688" cy="4650823"/>
          </a:xfrm>
        </p:spPr>
        <p:txBody>
          <a:bodyPr wrap="square" anchor="t">
            <a:normAutofit lnSpcReduction="10000"/>
          </a:bodyPr>
          <a:lstStyle/>
          <a:p>
            <a:pPr>
              <a:lnSpc>
                <a:spcPct val="150000"/>
              </a:lnSpc>
            </a:pPr>
            <a:r>
              <a:rPr lang="en-US" altLang="en-US" sz="2400" b="1" dirty="0"/>
              <a:t>Ethnocentrism:</a:t>
            </a:r>
            <a:r>
              <a:rPr lang="en-US" altLang="en-US" sz="2400" dirty="0"/>
              <a:t> </a:t>
            </a:r>
          </a:p>
          <a:p>
            <a:pPr marL="0" indent="0">
              <a:lnSpc>
                <a:spcPct val="150000"/>
              </a:lnSpc>
              <a:buNone/>
            </a:pPr>
            <a:r>
              <a:rPr lang="en-US" altLang="en-US" sz="1800" dirty="0"/>
              <a:t>Bias that </a:t>
            </a:r>
            <a:r>
              <a:rPr lang="en-US" altLang="en-US" sz="1800" b="1" dirty="0"/>
              <a:t>person’s own culture is best</a:t>
            </a:r>
            <a:r>
              <a:rPr lang="en-US" altLang="en-US" sz="1800" dirty="0"/>
              <a:t>, and </a:t>
            </a:r>
            <a:r>
              <a:rPr lang="en-US" altLang="en-US" sz="1800" b="1" dirty="0"/>
              <a:t>others are wrong or inferior</a:t>
            </a:r>
          </a:p>
          <a:p>
            <a:pPr>
              <a:lnSpc>
                <a:spcPct val="150000"/>
              </a:lnSpc>
              <a:buFont typeface="Wingdings" panose="05000000000000000000" pitchFamily="2" charset="2"/>
              <a:buChar char="ü"/>
            </a:pPr>
            <a:r>
              <a:rPr lang="en-US" sz="1800" dirty="0"/>
              <a:t>Can </a:t>
            </a:r>
            <a:r>
              <a:rPr lang="en-US" sz="1800" b="1" dirty="0"/>
              <a:t>block effective communication </a:t>
            </a:r>
            <a:r>
              <a:rPr lang="en-US" sz="1800" dirty="0"/>
              <a:t>by creating biases and misconceptions about human behavior. </a:t>
            </a:r>
          </a:p>
          <a:p>
            <a:pPr>
              <a:lnSpc>
                <a:spcPct val="150000"/>
              </a:lnSpc>
              <a:buFont typeface="Wingdings" panose="05000000000000000000" pitchFamily="2" charset="2"/>
              <a:buChar char="ü"/>
            </a:pPr>
            <a:r>
              <a:rPr lang="en-US" sz="1800" dirty="0"/>
              <a:t>This can cause </a:t>
            </a:r>
            <a:r>
              <a:rPr lang="en-US" sz="1800" b="1" dirty="0"/>
              <a:t>serious damage to interpersonal relationships </a:t>
            </a:r>
            <a:r>
              <a:rPr lang="en-US" sz="1800" dirty="0"/>
              <a:t>and interfere with the effectiveness of nursing interventions </a:t>
            </a:r>
            <a:endParaRPr lang="en-US" altLang="en-US" sz="1800" dirty="0"/>
          </a:p>
          <a:p>
            <a:endParaRPr lang="en-US" sz="1500" dirty="0"/>
          </a:p>
        </p:txBody>
      </p:sp>
      <p:pic>
        <p:nvPicPr>
          <p:cNvPr id="4" name="Picture 3">
            <a:extLst>
              <a:ext uri="{FF2B5EF4-FFF2-40B4-BE49-F238E27FC236}">
                <a16:creationId xmlns:a16="http://schemas.microsoft.com/office/drawing/2014/main" id="{BBA34045-62D4-7115-EE4E-42244E80E623}"/>
              </a:ext>
            </a:extLst>
          </p:cNvPr>
          <p:cNvPicPr>
            <a:picLocks noChangeAspect="1"/>
          </p:cNvPicPr>
          <p:nvPr/>
        </p:nvPicPr>
        <p:blipFill>
          <a:blip r:embed="rId3"/>
          <a:stretch>
            <a:fillRect/>
          </a:stretch>
        </p:blipFill>
        <p:spPr>
          <a:xfrm>
            <a:off x="6084889" y="1486894"/>
            <a:ext cx="4230687" cy="4134678"/>
          </a:xfrm>
          <a:prstGeom prst="rect">
            <a:avLst/>
          </a:prstGeom>
          <a:ln>
            <a:noFill/>
          </a:ln>
          <a:effectLst>
            <a:softEdge rad="112500"/>
          </a:effectLst>
        </p:spPr>
      </p:pic>
    </p:spTree>
    <p:extLst>
      <p:ext uri="{BB962C8B-B14F-4D97-AF65-F5344CB8AC3E}">
        <p14:creationId xmlns:p14="http://schemas.microsoft.com/office/powerpoint/2010/main" val="3075544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73A1B-42CF-41AD-B81B-3B7A37B9F93D}"/>
              </a:ext>
            </a:extLst>
          </p:cNvPr>
          <p:cNvSpPr>
            <a:spLocks noGrp="1"/>
          </p:cNvSpPr>
          <p:nvPr>
            <p:ph type="title"/>
          </p:nvPr>
        </p:nvSpPr>
        <p:spPr>
          <a:xfrm>
            <a:off x="2146376" y="604877"/>
            <a:ext cx="8524875" cy="553998"/>
          </a:xfrm>
        </p:spPr>
        <p:txBody>
          <a:bodyPr>
            <a:noAutofit/>
          </a:bodyPr>
          <a:lstStyle/>
          <a:p>
            <a:r>
              <a:rPr lang="en-US" b="1" dirty="0"/>
              <a:t>Ethnorelativism</a:t>
            </a:r>
          </a:p>
        </p:txBody>
      </p:sp>
      <p:sp>
        <p:nvSpPr>
          <p:cNvPr id="3" name="Content Placeholder 2">
            <a:extLst>
              <a:ext uri="{FF2B5EF4-FFF2-40B4-BE49-F238E27FC236}">
                <a16:creationId xmlns:a16="http://schemas.microsoft.com/office/drawing/2014/main" id="{4ABC7350-C9E4-423A-872E-79FB7956FA45}"/>
              </a:ext>
            </a:extLst>
          </p:cNvPr>
          <p:cNvSpPr>
            <a:spLocks noGrp="1"/>
          </p:cNvSpPr>
          <p:nvPr>
            <p:ph idx="1"/>
          </p:nvPr>
        </p:nvSpPr>
        <p:spPr/>
        <p:txBody>
          <a:bodyPr/>
          <a:lstStyle/>
          <a:p>
            <a:r>
              <a:rPr lang="en-US" dirty="0"/>
              <a:t>Seeing all behavior in a cultural context.</a:t>
            </a:r>
          </a:p>
        </p:txBody>
      </p:sp>
      <p:pic>
        <p:nvPicPr>
          <p:cNvPr id="4" name="Picture 3">
            <a:extLst>
              <a:ext uri="{FF2B5EF4-FFF2-40B4-BE49-F238E27FC236}">
                <a16:creationId xmlns:a16="http://schemas.microsoft.com/office/drawing/2014/main" id="{49FB29D0-0481-44F4-2C8E-E9C0D18D6001}"/>
              </a:ext>
            </a:extLst>
          </p:cNvPr>
          <p:cNvPicPr>
            <a:picLocks noChangeAspect="1"/>
          </p:cNvPicPr>
          <p:nvPr/>
        </p:nvPicPr>
        <p:blipFill>
          <a:blip r:embed="rId3"/>
          <a:stretch>
            <a:fillRect/>
          </a:stretch>
        </p:blipFill>
        <p:spPr>
          <a:xfrm>
            <a:off x="2807556" y="2433598"/>
            <a:ext cx="5734050" cy="3819525"/>
          </a:xfrm>
          <a:prstGeom prst="rect">
            <a:avLst/>
          </a:prstGeom>
          <a:ln>
            <a:noFill/>
          </a:ln>
          <a:effectLst>
            <a:softEdge rad="112500"/>
          </a:effectLst>
        </p:spPr>
      </p:pic>
    </p:spTree>
    <p:extLst>
      <p:ext uri="{BB962C8B-B14F-4D97-AF65-F5344CB8AC3E}">
        <p14:creationId xmlns:p14="http://schemas.microsoft.com/office/powerpoint/2010/main" val="3660619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2135" y="524665"/>
            <a:ext cx="8524875" cy="388937"/>
          </a:xfrm>
        </p:spPr>
        <p:txBody>
          <a:bodyPr>
            <a:normAutofit fontScale="90000"/>
          </a:bodyPr>
          <a:lstStyle/>
          <a:p>
            <a:pPr algn="ctr"/>
            <a:r>
              <a:rPr lang="en-US" b="1" dirty="0">
                <a:solidFill>
                  <a:srgbClr val="FF0000"/>
                </a:solidFill>
              </a:rPr>
              <a:t>Cultural Sensitivity Continuum</a:t>
            </a:r>
          </a:p>
        </p:txBody>
      </p:sp>
      <p:pic>
        <p:nvPicPr>
          <p:cNvPr id="5" name="Picture 2" descr="This image describes about the Cultural Sensitivity Continuum"/>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523046" y="1387400"/>
            <a:ext cx="6907367" cy="3054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a:extLst>
              <a:ext uri="{FF2B5EF4-FFF2-40B4-BE49-F238E27FC236}">
                <a16:creationId xmlns:a16="http://schemas.microsoft.com/office/drawing/2014/main" id="{9078A866-3A1F-4DCD-BF93-45022F21890D}"/>
              </a:ext>
            </a:extLst>
          </p:cNvPr>
          <p:cNvSpPr/>
          <p:nvPr/>
        </p:nvSpPr>
        <p:spPr>
          <a:xfrm>
            <a:off x="1833561" y="4724711"/>
            <a:ext cx="8524875" cy="1692771"/>
          </a:xfrm>
          <a:prstGeom prst="rect">
            <a:avLst/>
          </a:prstGeom>
        </p:spPr>
        <p:txBody>
          <a:bodyPr wrap="square">
            <a:spAutoFit/>
          </a:bodyPr>
          <a:lstStyle/>
          <a:p>
            <a:r>
              <a:rPr lang="en-US" dirty="0">
                <a:solidFill>
                  <a:srgbClr val="000000"/>
                </a:solidFill>
                <a:latin typeface="Times New Roman" panose="02020603050405020304" pitchFamily="18" charset="0"/>
              </a:rPr>
              <a:t> </a:t>
            </a:r>
            <a:r>
              <a:rPr lang="en-US" sz="2000" i="1" dirty="0">
                <a:solidFill>
                  <a:srgbClr val="000000"/>
                </a:solidFill>
                <a:latin typeface="Times New Roman" panose="02020603050405020304" pitchFamily="18" charset="0"/>
              </a:rPr>
              <a:t>Cross-cultural sensitivity continuum. Being extremely ethnocentric (</a:t>
            </a:r>
            <a:r>
              <a:rPr lang="en-US" sz="2000" b="1" i="1" dirty="0">
                <a:solidFill>
                  <a:srgbClr val="000000"/>
                </a:solidFill>
                <a:latin typeface="Times New Roman" panose="02020603050405020304" pitchFamily="18" charset="0"/>
              </a:rPr>
              <a:t>left of midpoint</a:t>
            </a:r>
            <a:r>
              <a:rPr lang="en-US" sz="2000" i="1" dirty="0">
                <a:solidFill>
                  <a:srgbClr val="000000"/>
                </a:solidFill>
                <a:latin typeface="Times New Roman" panose="02020603050405020304" pitchFamily="18" charset="0"/>
              </a:rPr>
              <a:t>) and totally </a:t>
            </a:r>
            <a:r>
              <a:rPr lang="en-US" sz="2000" i="1" dirty="0" err="1">
                <a:solidFill>
                  <a:srgbClr val="000000"/>
                </a:solidFill>
                <a:latin typeface="Times New Roman" panose="02020603050405020304" pitchFamily="18" charset="0"/>
              </a:rPr>
              <a:t>ethnorelative</a:t>
            </a:r>
            <a:r>
              <a:rPr lang="en-US" sz="2000" i="1" dirty="0">
                <a:solidFill>
                  <a:srgbClr val="000000"/>
                </a:solidFill>
                <a:latin typeface="Times New Roman" panose="02020603050405020304" pitchFamily="18" charset="0"/>
              </a:rPr>
              <a:t> (</a:t>
            </a:r>
            <a:r>
              <a:rPr lang="en-US" sz="2000" b="1" i="1" dirty="0">
                <a:solidFill>
                  <a:srgbClr val="000000"/>
                </a:solidFill>
                <a:latin typeface="Times New Roman" panose="02020603050405020304" pitchFamily="18" charset="0"/>
              </a:rPr>
              <a:t>far right</a:t>
            </a:r>
            <a:r>
              <a:rPr lang="en-US" sz="2000" i="1" dirty="0">
                <a:solidFill>
                  <a:srgbClr val="000000"/>
                </a:solidFill>
                <a:latin typeface="Times New Roman" panose="02020603050405020304" pitchFamily="18" charset="0"/>
              </a:rPr>
              <a:t>) are reflected in the diagram. </a:t>
            </a:r>
          </a:p>
          <a:p>
            <a:r>
              <a:rPr lang="en-US" sz="2000" i="1" dirty="0">
                <a:solidFill>
                  <a:srgbClr val="000000"/>
                </a:solidFill>
                <a:latin typeface="Times New Roman" panose="02020603050405020304" pitchFamily="18" charset="0"/>
              </a:rPr>
              <a:t>The steps toward ethnorelativism begin at the most ethnocentric view, with refusal and resistance. Neutrality is midpoint, and adjustment and incorporation bring the person to an </a:t>
            </a:r>
            <a:r>
              <a:rPr lang="en-US" sz="2000" i="1" dirty="0" err="1">
                <a:solidFill>
                  <a:srgbClr val="000000"/>
                </a:solidFill>
                <a:latin typeface="Times New Roman" panose="02020603050405020304" pitchFamily="18" charset="0"/>
              </a:rPr>
              <a:t>ethnorelative</a:t>
            </a:r>
            <a:r>
              <a:rPr lang="en-US" sz="2000" i="1" dirty="0">
                <a:solidFill>
                  <a:srgbClr val="000000"/>
                </a:solidFill>
                <a:latin typeface="Times New Roman" panose="02020603050405020304" pitchFamily="18" charset="0"/>
              </a:rPr>
              <a:t> perspective.</a:t>
            </a:r>
            <a:endParaRPr lang="en-US" sz="2000" i="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p:cNvSpPr>
            <a:spLocks noGrp="1" noChangeArrowheads="1"/>
          </p:cNvSpPr>
          <p:nvPr>
            <p:ph type="title"/>
          </p:nvPr>
        </p:nvSpPr>
        <p:spPr>
          <a:xfrm>
            <a:off x="1957389" y="604785"/>
            <a:ext cx="8524875" cy="553998"/>
          </a:xfrm>
        </p:spPr>
        <p:txBody>
          <a:bodyPr>
            <a:normAutofit fontScale="90000"/>
          </a:bodyPr>
          <a:lstStyle/>
          <a:p>
            <a:pPr eaLnBrk="1" hangingPunct="1">
              <a:defRPr/>
            </a:pPr>
            <a:r>
              <a:rPr lang="en-US" sz="4000" b="1" dirty="0">
                <a:solidFill>
                  <a:srgbClr val="FF0000"/>
                </a:solidFill>
                <a:latin typeface="Algerian" panose="04020705040A02060702" pitchFamily="82" charset="0"/>
              </a:rPr>
              <a:t>Characteristics of Culture</a:t>
            </a:r>
          </a:p>
        </p:txBody>
      </p:sp>
      <p:sp>
        <p:nvSpPr>
          <p:cNvPr id="10243" name="Rectangle 3"/>
          <p:cNvSpPr>
            <a:spLocks noGrp="1" noChangeArrowheads="1"/>
          </p:cNvSpPr>
          <p:nvPr>
            <p:ph idx="1"/>
          </p:nvPr>
        </p:nvSpPr>
        <p:spPr>
          <a:xfrm>
            <a:off x="934720" y="1374732"/>
            <a:ext cx="8859880" cy="4681029"/>
          </a:xfrm>
        </p:spPr>
        <p:txBody>
          <a:bodyPr>
            <a:normAutofit/>
          </a:bodyPr>
          <a:lstStyle/>
          <a:p>
            <a:pPr marL="0" indent="0">
              <a:lnSpc>
                <a:spcPct val="150000"/>
              </a:lnSpc>
              <a:buNone/>
            </a:pPr>
            <a:r>
              <a:rPr lang="en-US" altLang="en-US" b="1" u="sng" dirty="0"/>
              <a:t>1. Culture is Learned </a:t>
            </a:r>
          </a:p>
          <a:p>
            <a:pPr eaLnBrk="1" hangingPunct="1">
              <a:lnSpc>
                <a:spcPct val="150000"/>
              </a:lnSpc>
            </a:pPr>
            <a:r>
              <a:rPr lang="en-US" dirty="0"/>
              <a:t>Patterns of cultural behavior are acquired, not inherited or genetically determined. </a:t>
            </a:r>
          </a:p>
          <a:p>
            <a:pPr eaLnBrk="1" hangingPunct="1">
              <a:lnSpc>
                <a:spcPct val="150000"/>
              </a:lnSpc>
            </a:pPr>
            <a:r>
              <a:rPr lang="en-US" dirty="0"/>
              <a:t>Each person learns about culture through socialization with the family or significant group, a process called </a:t>
            </a:r>
            <a:r>
              <a:rPr lang="en-US" b="1" i="1" dirty="0"/>
              <a:t>enculturation</a:t>
            </a:r>
            <a:r>
              <a:rPr lang="en-US" i="1" dirty="0"/>
              <a:t>. </a:t>
            </a:r>
          </a:p>
        </p:txBody>
      </p:sp>
      <p:pic>
        <p:nvPicPr>
          <p:cNvPr id="2" name="Picture 1">
            <a:extLst>
              <a:ext uri="{FF2B5EF4-FFF2-40B4-BE49-F238E27FC236}">
                <a16:creationId xmlns:a16="http://schemas.microsoft.com/office/drawing/2014/main" id="{F82D21B5-CADE-05E0-E668-B847AF771630}"/>
              </a:ext>
            </a:extLst>
          </p:cNvPr>
          <p:cNvPicPr>
            <a:picLocks noChangeAspect="1"/>
          </p:cNvPicPr>
          <p:nvPr/>
        </p:nvPicPr>
        <p:blipFill>
          <a:blip r:embed="rId3"/>
          <a:stretch>
            <a:fillRect/>
          </a:stretch>
        </p:blipFill>
        <p:spPr>
          <a:xfrm>
            <a:off x="9428480" y="4310172"/>
            <a:ext cx="2269047" cy="226904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486B5-5EFC-48DE-A7D2-9D7B08EED989}"/>
              </a:ext>
            </a:extLst>
          </p:cNvPr>
          <p:cNvSpPr>
            <a:spLocks noGrp="1"/>
          </p:cNvSpPr>
          <p:nvPr>
            <p:ph type="title"/>
          </p:nvPr>
        </p:nvSpPr>
        <p:spPr>
          <a:xfrm>
            <a:off x="1957389" y="604877"/>
            <a:ext cx="8524875" cy="553998"/>
          </a:xfrm>
        </p:spPr>
        <p:txBody>
          <a:bodyPr>
            <a:normAutofit fontScale="90000"/>
          </a:bodyPr>
          <a:lstStyle/>
          <a:p>
            <a:r>
              <a:rPr lang="en-US" sz="4000" b="1">
                <a:solidFill>
                  <a:srgbClr val="FF0000"/>
                </a:solidFill>
                <a:latin typeface="Algerian" panose="04020705040A02060702" pitchFamily="82" charset="0"/>
              </a:rPr>
              <a:t>Characteristics of Culture</a:t>
            </a:r>
            <a:endParaRPr lang="en-US" sz="4000" b="1" dirty="0"/>
          </a:p>
        </p:txBody>
      </p:sp>
      <p:sp>
        <p:nvSpPr>
          <p:cNvPr id="3" name="Content Placeholder 2">
            <a:extLst>
              <a:ext uri="{FF2B5EF4-FFF2-40B4-BE49-F238E27FC236}">
                <a16:creationId xmlns:a16="http://schemas.microsoft.com/office/drawing/2014/main" id="{7C17294B-5021-402A-86C8-81D3EF08E147}"/>
              </a:ext>
            </a:extLst>
          </p:cNvPr>
          <p:cNvSpPr>
            <a:spLocks noGrp="1"/>
          </p:cNvSpPr>
          <p:nvPr>
            <p:ph idx="1"/>
          </p:nvPr>
        </p:nvSpPr>
        <p:spPr>
          <a:xfrm>
            <a:off x="1709738" y="1236054"/>
            <a:ext cx="8613775" cy="4862596"/>
          </a:xfrm>
        </p:spPr>
        <p:txBody>
          <a:bodyPr>
            <a:normAutofit fontScale="92500" lnSpcReduction="10000"/>
          </a:bodyPr>
          <a:lstStyle/>
          <a:p>
            <a:pPr marL="0" indent="0">
              <a:lnSpc>
                <a:spcPct val="150000"/>
              </a:lnSpc>
              <a:buNone/>
            </a:pPr>
            <a:r>
              <a:rPr lang="en-US" altLang="en-US" b="1" u="sng" dirty="0"/>
              <a:t>2. </a:t>
            </a:r>
            <a:r>
              <a:rPr lang="en-US" altLang="en-US" sz="2000" b="1" u="sng" dirty="0"/>
              <a:t>Culture is integrated </a:t>
            </a:r>
          </a:p>
          <a:p>
            <a:pPr eaLnBrk="1" hangingPunct="1">
              <a:lnSpc>
                <a:spcPct val="150000"/>
              </a:lnSpc>
            </a:pPr>
            <a:r>
              <a:rPr lang="en-US" sz="2000" dirty="0"/>
              <a:t>All parts of a culture are interrelated and interdependent.</a:t>
            </a:r>
          </a:p>
          <a:p>
            <a:pPr eaLnBrk="1" hangingPunct="1">
              <a:lnSpc>
                <a:spcPct val="150000"/>
              </a:lnSpc>
            </a:pPr>
            <a:r>
              <a:rPr lang="en-US" sz="2000" dirty="0"/>
              <a:t>The various components of a culture (social mores or religious beliefs), perform separate functions but come into relative harmony with each other to form an operating and cohesive whole. </a:t>
            </a:r>
          </a:p>
          <a:p>
            <a:pPr marL="0" indent="0">
              <a:lnSpc>
                <a:spcPct val="150000"/>
              </a:lnSpc>
              <a:buNone/>
            </a:pPr>
            <a:r>
              <a:rPr lang="en-US" b="1" dirty="0">
                <a:solidFill>
                  <a:srgbClr val="FF0000"/>
                </a:solidFill>
              </a:rPr>
              <a:t>Any examples?? </a:t>
            </a:r>
          </a:p>
          <a:p>
            <a:pPr marL="0" indent="0" algn="ctr">
              <a:lnSpc>
                <a:spcPct val="150000"/>
              </a:lnSpc>
              <a:buNone/>
            </a:pPr>
            <a:r>
              <a:rPr lang="en-US" sz="1800" i="1" dirty="0"/>
              <a:t>Parents who are Jehavo’s Witnesses may refuse a blood transfusion for their child. This choice represents behavior consistent with their cultural values and standards. The single behavior of refusing blood transfusions, when viewed in context, is seen to be part of a larger religious belief system and a basic component of the parents’ culture.</a:t>
            </a:r>
            <a:endParaRPr lang="en-US" altLang="en-US" sz="1800" i="1" dirty="0"/>
          </a:p>
          <a:p>
            <a:pPr eaLnBrk="1" hangingPunct="1">
              <a:lnSpc>
                <a:spcPct val="80000"/>
              </a:lnSpc>
            </a:pPr>
            <a:endParaRPr lang="en-US" altLang="en-US" dirty="0"/>
          </a:p>
          <a:p>
            <a:endParaRPr lang="en-US" dirty="0"/>
          </a:p>
        </p:txBody>
      </p:sp>
      <p:pic>
        <p:nvPicPr>
          <p:cNvPr id="4" name="Picture 3">
            <a:extLst>
              <a:ext uri="{FF2B5EF4-FFF2-40B4-BE49-F238E27FC236}">
                <a16:creationId xmlns:a16="http://schemas.microsoft.com/office/drawing/2014/main" id="{A282B66E-9BF8-00C1-9A05-F226A2361C27}"/>
              </a:ext>
            </a:extLst>
          </p:cNvPr>
          <p:cNvPicPr>
            <a:picLocks noChangeAspect="1"/>
          </p:cNvPicPr>
          <p:nvPr/>
        </p:nvPicPr>
        <p:blipFill>
          <a:blip r:embed="rId3"/>
          <a:stretch>
            <a:fillRect/>
          </a:stretch>
        </p:blipFill>
        <p:spPr>
          <a:xfrm>
            <a:off x="9011581" y="330200"/>
            <a:ext cx="2941361" cy="1657350"/>
          </a:xfrm>
          <a:prstGeom prst="ellipse">
            <a:avLst/>
          </a:prstGeom>
          <a:ln>
            <a:noFill/>
          </a:ln>
          <a:effectLst>
            <a:softEdge rad="112500"/>
          </a:effectLst>
        </p:spPr>
      </p:pic>
    </p:spTree>
    <p:extLst>
      <p:ext uri="{BB962C8B-B14F-4D97-AF65-F5344CB8AC3E}">
        <p14:creationId xmlns:p14="http://schemas.microsoft.com/office/powerpoint/2010/main" val="3651158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B0D31D4-7F43-E82A-CFD5-8A418F9E2A72}"/>
              </a:ext>
            </a:extLst>
          </p:cNvPr>
          <p:cNvPicPr>
            <a:picLocks noChangeAspect="1"/>
          </p:cNvPicPr>
          <p:nvPr/>
        </p:nvPicPr>
        <p:blipFill>
          <a:blip r:embed="rId3"/>
          <a:stretch>
            <a:fillRect/>
          </a:stretch>
        </p:blipFill>
        <p:spPr>
          <a:xfrm>
            <a:off x="8118723" y="4202934"/>
            <a:ext cx="3328740" cy="2216941"/>
          </a:xfrm>
          <a:prstGeom prst="rect">
            <a:avLst/>
          </a:prstGeom>
        </p:spPr>
      </p:pic>
      <p:sp>
        <p:nvSpPr>
          <p:cNvPr id="2" name="Title 1">
            <a:extLst>
              <a:ext uri="{FF2B5EF4-FFF2-40B4-BE49-F238E27FC236}">
                <a16:creationId xmlns:a16="http://schemas.microsoft.com/office/drawing/2014/main" id="{52383C79-A11D-44FC-B25E-EABD5C8E53A5}"/>
              </a:ext>
            </a:extLst>
          </p:cNvPr>
          <p:cNvSpPr>
            <a:spLocks noGrp="1"/>
          </p:cNvSpPr>
          <p:nvPr>
            <p:ph type="title"/>
          </p:nvPr>
        </p:nvSpPr>
        <p:spPr>
          <a:xfrm>
            <a:off x="1957389" y="604877"/>
            <a:ext cx="8524875" cy="553998"/>
          </a:xfrm>
        </p:spPr>
        <p:txBody>
          <a:bodyPr>
            <a:normAutofit fontScale="90000"/>
          </a:bodyPr>
          <a:lstStyle/>
          <a:p>
            <a:r>
              <a:rPr lang="en-US" sz="4000" b="1">
                <a:solidFill>
                  <a:srgbClr val="FF0000"/>
                </a:solidFill>
                <a:latin typeface="Algerian" panose="04020705040A02060702" pitchFamily="82" charset="0"/>
              </a:rPr>
              <a:t>Characteristics of Culture</a:t>
            </a:r>
            <a:endParaRPr lang="en-US" sz="4000" dirty="0"/>
          </a:p>
        </p:txBody>
      </p:sp>
      <p:sp>
        <p:nvSpPr>
          <p:cNvPr id="3" name="Content Placeholder 2">
            <a:extLst>
              <a:ext uri="{FF2B5EF4-FFF2-40B4-BE49-F238E27FC236}">
                <a16:creationId xmlns:a16="http://schemas.microsoft.com/office/drawing/2014/main" id="{12C4F09B-5E1A-4FFF-B72E-6889EB3A0D31}"/>
              </a:ext>
            </a:extLst>
          </p:cNvPr>
          <p:cNvSpPr>
            <a:spLocks noGrp="1"/>
          </p:cNvSpPr>
          <p:nvPr>
            <p:ph idx="1"/>
          </p:nvPr>
        </p:nvSpPr>
        <p:spPr>
          <a:xfrm>
            <a:off x="1789113" y="1434838"/>
            <a:ext cx="8613775" cy="3686175"/>
          </a:xfrm>
        </p:spPr>
        <p:txBody>
          <a:bodyPr/>
          <a:lstStyle/>
          <a:p>
            <a:pPr marL="0" indent="0">
              <a:lnSpc>
                <a:spcPct val="150000"/>
              </a:lnSpc>
              <a:buNone/>
            </a:pPr>
            <a:r>
              <a:rPr lang="en-US" altLang="en-US" b="1" u="sng" dirty="0">
                <a:solidFill>
                  <a:srgbClr val="000000"/>
                </a:solidFill>
              </a:rPr>
              <a:t>3. Culture is Shared</a:t>
            </a:r>
          </a:p>
          <a:p>
            <a:pPr lvl="0" eaLnBrk="1" hangingPunct="1">
              <a:lnSpc>
                <a:spcPct val="150000"/>
              </a:lnSpc>
            </a:pPr>
            <a:r>
              <a:rPr lang="en-US" dirty="0"/>
              <a:t>Individuals practice a culture, phenomena shared by all members of the group and is </a:t>
            </a:r>
            <a:r>
              <a:rPr lang="en-US" b="1" dirty="0"/>
              <a:t>transmitted from generation to generation.</a:t>
            </a:r>
          </a:p>
        </p:txBody>
      </p:sp>
    </p:spTree>
    <p:extLst>
      <p:ext uri="{BB962C8B-B14F-4D97-AF65-F5344CB8AC3E}">
        <p14:creationId xmlns:p14="http://schemas.microsoft.com/office/powerpoint/2010/main" val="1730984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0CA21-D925-4E77-88FC-D72E933286F9}"/>
              </a:ext>
            </a:extLst>
          </p:cNvPr>
          <p:cNvSpPr>
            <a:spLocks noGrp="1"/>
          </p:cNvSpPr>
          <p:nvPr>
            <p:ph type="title"/>
          </p:nvPr>
        </p:nvSpPr>
        <p:spPr>
          <a:xfrm>
            <a:off x="589280" y="722884"/>
            <a:ext cx="8818880" cy="387798"/>
          </a:xfrm>
        </p:spPr>
        <p:txBody>
          <a:bodyPr>
            <a:normAutofit fontScale="90000"/>
          </a:bodyPr>
          <a:lstStyle/>
          <a:p>
            <a:r>
              <a:rPr lang="en-US" sz="4400" b="1" dirty="0">
                <a:solidFill>
                  <a:srgbClr val="FF0000"/>
                </a:solidFill>
                <a:latin typeface="Algerian" panose="04020705040A02060702" pitchFamily="82" charset="0"/>
              </a:rPr>
              <a:t>Characteristics of Culture</a:t>
            </a:r>
            <a:endParaRPr lang="en-US" dirty="0"/>
          </a:p>
        </p:txBody>
      </p:sp>
      <p:sp>
        <p:nvSpPr>
          <p:cNvPr id="3" name="Content Placeholder 2">
            <a:extLst>
              <a:ext uri="{FF2B5EF4-FFF2-40B4-BE49-F238E27FC236}">
                <a16:creationId xmlns:a16="http://schemas.microsoft.com/office/drawing/2014/main" id="{281CADB4-88CE-48A2-BC07-1600922C061D}"/>
              </a:ext>
            </a:extLst>
          </p:cNvPr>
          <p:cNvSpPr>
            <a:spLocks noGrp="1"/>
          </p:cNvSpPr>
          <p:nvPr>
            <p:ph idx="1"/>
          </p:nvPr>
        </p:nvSpPr>
        <p:spPr>
          <a:xfrm>
            <a:off x="411108" y="1863477"/>
            <a:ext cx="8687545" cy="4847665"/>
          </a:xfrm>
        </p:spPr>
        <p:txBody>
          <a:bodyPr/>
          <a:lstStyle/>
          <a:p>
            <a:pPr marL="0" indent="0">
              <a:lnSpc>
                <a:spcPct val="80000"/>
              </a:lnSpc>
              <a:buNone/>
            </a:pPr>
            <a:r>
              <a:rPr lang="en-US" altLang="en-US" b="1" u="sng" dirty="0">
                <a:solidFill>
                  <a:srgbClr val="000000"/>
                </a:solidFill>
              </a:rPr>
              <a:t>4. Culture is Generally Tacit </a:t>
            </a:r>
          </a:p>
          <a:p>
            <a:pPr lvl="0" eaLnBrk="1" hangingPunct="1">
              <a:lnSpc>
                <a:spcPct val="80000"/>
              </a:lnSpc>
            </a:pPr>
            <a:r>
              <a:rPr lang="en-US" dirty="0"/>
              <a:t>Culture provides a guide for human interaction that is </a:t>
            </a:r>
            <a:r>
              <a:rPr lang="en-US" b="1" dirty="0"/>
              <a:t>tacit</a:t>
            </a:r>
            <a:r>
              <a:rPr lang="en-US" dirty="0"/>
              <a:t>—unexpressed and at the </a:t>
            </a:r>
            <a:r>
              <a:rPr lang="en-US" b="1" dirty="0"/>
              <a:t>unconscious level</a:t>
            </a:r>
            <a:r>
              <a:rPr lang="en-US" dirty="0"/>
              <a:t>.</a:t>
            </a:r>
          </a:p>
          <a:p>
            <a:pPr lvl="0" eaLnBrk="1" hangingPunct="1">
              <a:lnSpc>
                <a:spcPct val="80000"/>
              </a:lnSpc>
            </a:pPr>
            <a:r>
              <a:rPr lang="en-US" dirty="0"/>
              <a:t>Culture provides an </a:t>
            </a:r>
            <a:r>
              <a:rPr lang="en-US" b="1" dirty="0"/>
              <a:t>implicit set of cues </a:t>
            </a:r>
            <a:r>
              <a:rPr lang="en-US" dirty="0"/>
              <a:t>for behavior, not a </a:t>
            </a:r>
            <a:r>
              <a:rPr lang="en-US" b="1" dirty="0"/>
              <a:t>written set of rules</a:t>
            </a:r>
            <a:r>
              <a:rPr lang="en-US" dirty="0"/>
              <a:t>.</a:t>
            </a:r>
            <a:endParaRPr lang="en-US" altLang="en-US" dirty="0">
              <a:solidFill>
                <a:srgbClr val="000000"/>
              </a:solidFill>
            </a:endParaRPr>
          </a:p>
          <a:p>
            <a:pPr lvl="0" eaLnBrk="1" hangingPunct="1">
              <a:lnSpc>
                <a:spcPct val="80000"/>
              </a:lnSpc>
            </a:pPr>
            <a:r>
              <a:rPr lang="en-US" dirty="0"/>
              <a:t>It is like </a:t>
            </a:r>
            <a:r>
              <a:rPr lang="en-US" b="1" dirty="0"/>
              <a:t>a memory bank </a:t>
            </a:r>
            <a:r>
              <a:rPr lang="en-US" dirty="0"/>
              <a:t>in which </a:t>
            </a:r>
            <a:r>
              <a:rPr lang="en-US" b="1" dirty="0"/>
              <a:t>knowledge is stored </a:t>
            </a:r>
            <a:r>
              <a:rPr lang="en-US" dirty="0"/>
              <a:t>for recall when the situation requires it.</a:t>
            </a:r>
          </a:p>
          <a:p>
            <a:pPr marL="0" indent="0" algn="ctr">
              <a:lnSpc>
                <a:spcPct val="80000"/>
              </a:lnSpc>
              <a:buNone/>
            </a:pPr>
            <a:r>
              <a:rPr lang="en-US" b="1" dirty="0">
                <a:solidFill>
                  <a:srgbClr val="FF0000"/>
                </a:solidFill>
              </a:rPr>
              <a:t>Any examples?? </a:t>
            </a:r>
          </a:p>
          <a:p>
            <a:pPr marL="0" indent="0" algn="ctr">
              <a:lnSpc>
                <a:spcPct val="80000"/>
              </a:lnSpc>
              <a:buNone/>
            </a:pPr>
            <a:r>
              <a:rPr lang="en-US" b="1" i="1" dirty="0"/>
              <a:t>Culture teaches </a:t>
            </a:r>
          </a:p>
          <a:p>
            <a:pPr lvl="0" algn="ctr" eaLnBrk="1" hangingPunct="1">
              <a:lnSpc>
                <a:spcPct val="80000"/>
              </a:lnSpc>
              <a:buFont typeface="Wingdings" panose="05000000000000000000" pitchFamily="2" charset="2"/>
              <a:buChar char="ü"/>
            </a:pPr>
            <a:r>
              <a:rPr lang="en-US" sz="2000" i="1" dirty="0"/>
              <a:t>how close to stand when talking with someone</a:t>
            </a:r>
          </a:p>
          <a:p>
            <a:pPr lvl="0" algn="ctr" eaLnBrk="1" hangingPunct="1">
              <a:lnSpc>
                <a:spcPct val="80000"/>
              </a:lnSpc>
              <a:buFont typeface="Wingdings" panose="05000000000000000000" pitchFamily="2" charset="2"/>
              <a:buChar char="ü"/>
            </a:pPr>
            <a:r>
              <a:rPr lang="en-US" sz="2000" i="1" dirty="0"/>
              <a:t>how one should appropriately respond to older adults. </a:t>
            </a:r>
          </a:p>
        </p:txBody>
      </p:sp>
      <p:pic>
        <p:nvPicPr>
          <p:cNvPr id="4" name="Picture 3">
            <a:extLst>
              <a:ext uri="{FF2B5EF4-FFF2-40B4-BE49-F238E27FC236}">
                <a16:creationId xmlns:a16="http://schemas.microsoft.com/office/drawing/2014/main" id="{3F016746-B28A-B23E-F88E-00584621AAC0}"/>
              </a:ext>
            </a:extLst>
          </p:cNvPr>
          <p:cNvPicPr>
            <a:picLocks noChangeAspect="1"/>
          </p:cNvPicPr>
          <p:nvPr/>
        </p:nvPicPr>
        <p:blipFill>
          <a:blip r:embed="rId3"/>
          <a:stretch>
            <a:fillRect/>
          </a:stretch>
        </p:blipFill>
        <p:spPr>
          <a:xfrm>
            <a:off x="9098653" y="526261"/>
            <a:ext cx="2847354" cy="1168842"/>
          </a:xfrm>
          <a:prstGeom prst="rect">
            <a:avLst/>
          </a:prstGeom>
        </p:spPr>
      </p:pic>
    </p:spTree>
    <p:extLst>
      <p:ext uri="{BB962C8B-B14F-4D97-AF65-F5344CB8AC3E}">
        <p14:creationId xmlns:p14="http://schemas.microsoft.com/office/powerpoint/2010/main" val="20929458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B97B7-E4FC-4BDA-9EF5-7B6C8E74D77E}"/>
              </a:ext>
            </a:extLst>
          </p:cNvPr>
          <p:cNvSpPr>
            <a:spLocks noGrp="1"/>
          </p:cNvSpPr>
          <p:nvPr>
            <p:ph type="title"/>
          </p:nvPr>
        </p:nvSpPr>
        <p:spPr>
          <a:xfrm>
            <a:off x="1957389" y="604877"/>
            <a:ext cx="8524875" cy="553998"/>
          </a:xfrm>
        </p:spPr>
        <p:txBody>
          <a:bodyPr>
            <a:normAutofit fontScale="90000"/>
          </a:bodyPr>
          <a:lstStyle/>
          <a:p>
            <a:r>
              <a:rPr lang="en-US" sz="4000" b="1">
                <a:solidFill>
                  <a:srgbClr val="FF0000"/>
                </a:solidFill>
                <a:latin typeface="Algerian" panose="04020705040A02060702" pitchFamily="82" charset="0"/>
              </a:rPr>
              <a:t>Characteristics of Culture</a:t>
            </a:r>
            <a:endParaRPr lang="en-US" sz="4000" dirty="0"/>
          </a:p>
        </p:txBody>
      </p:sp>
      <p:sp>
        <p:nvSpPr>
          <p:cNvPr id="3" name="Content Placeholder 2">
            <a:extLst>
              <a:ext uri="{FF2B5EF4-FFF2-40B4-BE49-F238E27FC236}">
                <a16:creationId xmlns:a16="http://schemas.microsoft.com/office/drawing/2014/main" id="{51201AF6-907B-4D26-BFC7-BD54401490AF}"/>
              </a:ext>
            </a:extLst>
          </p:cNvPr>
          <p:cNvSpPr>
            <a:spLocks noGrp="1"/>
          </p:cNvSpPr>
          <p:nvPr>
            <p:ph idx="1"/>
          </p:nvPr>
        </p:nvSpPr>
        <p:spPr>
          <a:xfrm>
            <a:off x="1868489" y="1461937"/>
            <a:ext cx="8613775" cy="5000252"/>
          </a:xfrm>
        </p:spPr>
        <p:txBody>
          <a:bodyPr>
            <a:normAutofit fontScale="85000" lnSpcReduction="10000"/>
          </a:bodyPr>
          <a:lstStyle/>
          <a:p>
            <a:pPr marL="0" indent="0">
              <a:lnSpc>
                <a:spcPct val="150000"/>
              </a:lnSpc>
              <a:buNone/>
            </a:pPr>
            <a:r>
              <a:rPr lang="en-US" altLang="en-US" b="1" u="sng" dirty="0">
                <a:solidFill>
                  <a:srgbClr val="000000"/>
                </a:solidFill>
              </a:rPr>
              <a:t>5. Culture is Dynamic</a:t>
            </a:r>
          </a:p>
          <a:p>
            <a:pPr>
              <a:lnSpc>
                <a:spcPct val="150000"/>
              </a:lnSpc>
            </a:pPr>
            <a:r>
              <a:rPr lang="en-US" dirty="0"/>
              <a:t>Culture undergoes change; none is entirely static.</a:t>
            </a:r>
          </a:p>
          <a:p>
            <a:pPr>
              <a:lnSpc>
                <a:spcPct val="150000"/>
              </a:lnSpc>
            </a:pPr>
            <a:r>
              <a:rPr lang="en-US" dirty="0"/>
              <a:t>Some members </a:t>
            </a:r>
            <a:r>
              <a:rPr lang="en-US" b="1" dirty="0"/>
              <a:t>generate innovations</a:t>
            </a:r>
            <a:r>
              <a:rPr lang="en-US" dirty="0"/>
              <a:t>, see advantages in doing things differently and are willing to adopt new practices. </a:t>
            </a:r>
          </a:p>
          <a:p>
            <a:pPr>
              <a:lnSpc>
                <a:spcPct val="150000"/>
              </a:lnSpc>
            </a:pPr>
            <a:r>
              <a:rPr lang="en-US" dirty="0"/>
              <a:t>When this adaptation does not occur, the cultural group may face serious difficulty. </a:t>
            </a:r>
          </a:p>
          <a:p>
            <a:pPr>
              <a:lnSpc>
                <a:spcPct val="150000"/>
              </a:lnSpc>
            </a:pPr>
            <a:r>
              <a:rPr lang="en-US" dirty="0"/>
              <a:t>The lack of familiarity can result in conflicting feeling that have been termed</a:t>
            </a:r>
            <a:r>
              <a:rPr lang="en-US" sz="3800" dirty="0"/>
              <a:t> </a:t>
            </a:r>
            <a:r>
              <a:rPr lang="en-US" sz="3800" b="1" u="sng" dirty="0"/>
              <a:t>Culture shock </a:t>
            </a:r>
          </a:p>
          <a:p>
            <a:pPr marL="0" indent="0">
              <a:buNone/>
            </a:pPr>
            <a:endParaRPr lang="en-US" dirty="0"/>
          </a:p>
        </p:txBody>
      </p:sp>
      <p:pic>
        <p:nvPicPr>
          <p:cNvPr id="4" name="Picture 3">
            <a:extLst>
              <a:ext uri="{FF2B5EF4-FFF2-40B4-BE49-F238E27FC236}">
                <a16:creationId xmlns:a16="http://schemas.microsoft.com/office/drawing/2014/main" id="{7BF412AC-B932-3F62-5DCC-2C5E1CA18981}"/>
              </a:ext>
            </a:extLst>
          </p:cNvPr>
          <p:cNvPicPr>
            <a:picLocks noChangeAspect="1"/>
          </p:cNvPicPr>
          <p:nvPr/>
        </p:nvPicPr>
        <p:blipFill>
          <a:blip r:embed="rId3"/>
          <a:stretch>
            <a:fillRect/>
          </a:stretch>
        </p:blipFill>
        <p:spPr>
          <a:xfrm>
            <a:off x="10028071" y="395811"/>
            <a:ext cx="1768270" cy="1768270"/>
          </a:xfrm>
          <a:prstGeom prst="rect">
            <a:avLst/>
          </a:prstGeom>
        </p:spPr>
      </p:pic>
    </p:spTree>
    <p:extLst>
      <p:ext uri="{BB962C8B-B14F-4D97-AF65-F5344CB8AC3E}">
        <p14:creationId xmlns:p14="http://schemas.microsoft.com/office/powerpoint/2010/main" val="23687973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C660E-B29A-4531-AC62-82B32267B07A}"/>
              </a:ext>
            </a:extLst>
          </p:cNvPr>
          <p:cNvSpPr>
            <a:spLocks noGrp="1"/>
          </p:cNvSpPr>
          <p:nvPr>
            <p:ph type="title"/>
          </p:nvPr>
        </p:nvSpPr>
        <p:spPr>
          <a:xfrm>
            <a:off x="1940719" y="653624"/>
            <a:ext cx="8524875" cy="775597"/>
          </a:xfrm>
        </p:spPr>
        <p:txBody>
          <a:bodyPr>
            <a:normAutofit fontScale="90000"/>
          </a:bodyPr>
          <a:lstStyle/>
          <a:p>
            <a:r>
              <a:rPr lang="en-US" altLang="en-US" sz="4900" b="1" dirty="0">
                <a:solidFill>
                  <a:srgbClr val="FF0000"/>
                </a:solidFill>
              </a:rPr>
              <a:t>World community</a:t>
            </a:r>
            <a:br>
              <a:rPr lang="en-US" altLang="en-US" dirty="0"/>
            </a:br>
            <a:endParaRPr lang="en-US" dirty="0"/>
          </a:p>
        </p:txBody>
      </p:sp>
      <p:sp>
        <p:nvSpPr>
          <p:cNvPr id="3" name="Content Placeholder 2">
            <a:extLst>
              <a:ext uri="{FF2B5EF4-FFF2-40B4-BE49-F238E27FC236}">
                <a16:creationId xmlns:a16="http://schemas.microsoft.com/office/drawing/2014/main" id="{25C8C90A-B870-47E8-9580-419744EEABCD}"/>
              </a:ext>
            </a:extLst>
          </p:cNvPr>
          <p:cNvSpPr>
            <a:spLocks noGrp="1"/>
          </p:cNvSpPr>
          <p:nvPr>
            <p:ph idx="1"/>
          </p:nvPr>
        </p:nvSpPr>
        <p:spPr>
          <a:xfrm>
            <a:off x="1270953" y="1429221"/>
            <a:ext cx="9701847" cy="4514379"/>
          </a:xfrm>
        </p:spPr>
        <p:txBody>
          <a:bodyPr>
            <a:normAutofit fontScale="77500" lnSpcReduction="20000"/>
          </a:bodyPr>
          <a:lstStyle/>
          <a:p>
            <a:pPr>
              <a:lnSpc>
                <a:spcPct val="160000"/>
              </a:lnSpc>
            </a:pPr>
            <a:r>
              <a:rPr lang="en-US" dirty="0"/>
              <a:t>Beliefs about the causes and effects of illness, health practices, and health-seeking behaviors are all influenced by a person’s, a group’s, or a community’s perception of what causes illness and injury and what actions can best treat or cure the health problem. </a:t>
            </a:r>
          </a:p>
          <a:p>
            <a:pPr marL="0" indent="0">
              <a:lnSpc>
                <a:spcPct val="160000"/>
              </a:lnSpc>
              <a:buNone/>
            </a:pPr>
            <a:r>
              <a:rPr lang="en-US" b="1" u="sng" dirty="0"/>
              <a:t>The three major views in the world community are:</a:t>
            </a:r>
          </a:p>
          <a:p>
            <a:pPr>
              <a:lnSpc>
                <a:spcPct val="160000"/>
              </a:lnSpc>
            </a:pPr>
            <a:r>
              <a:rPr lang="en-US" dirty="0"/>
              <a:t> Biomedical. </a:t>
            </a:r>
          </a:p>
          <a:p>
            <a:pPr>
              <a:lnSpc>
                <a:spcPct val="160000"/>
              </a:lnSpc>
            </a:pPr>
            <a:r>
              <a:rPr lang="en-US" dirty="0"/>
              <a:t>Magicoreligious. </a:t>
            </a:r>
          </a:p>
          <a:p>
            <a:pPr>
              <a:lnSpc>
                <a:spcPct val="160000"/>
              </a:lnSpc>
            </a:pPr>
            <a:r>
              <a:rPr lang="en-US" dirty="0"/>
              <a:t>Holistic health beliefs</a:t>
            </a:r>
          </a:p>
        </p:txBody>
      </p:sp>
      <p:pic>
        <p:nvPicPr>
          <p:cNvPr id="4" name="Picture 3">
            <a:extLst>
              <a:ext uri="{FF2B5EF4-FFF2-40B4-BE49-F238E27FC236}">
                <a16:creationId xmlns:a16="http://schemas.microsoft.com/office/drawing/2014/main" id="{DE8DB40B-49C2-6D73-1248-C66C44D48FBA}"/>
              </a:ext>
            </a:extLst>
          </p:cNvPr>
          <p:cNvPicPr>
            <a:picLocks noChangeAspect="1"/>
          </p:cNvPicPr>
          <p:nvPr/>
        </p:nvPicPr>
        <p:blipFill>
          <a:blip r:embed="rId3"/>
          <a:stretch>
            <a:fillRect/>
          </a:stretch>
        </p:blipFill>
        <p:spPr>
          <a:xfrm>
            <a:off x="9741886" y="4415580"/>
            <a:ext cx="2065131" cy="223034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5" name="Picture 4">
            <a:extLst>
              <a:ext uri="{FF2B5EF4-FFF2-40B4-BE49-F238E27FC236}">
                <a16:creationId xmlns:a16="http://schemas.microsoft.com/office/drawing/2014/main" id="{629940E7-6696-8C4B-3888-4060AC35DD8E}"/>
              </a:ext>
            </a:extLst>
          </p:cNvPr>
          <p:cNvPicPr>
            <a:picLocks noChangeAspect="1"/>
          </p:cNvPicPr>
          <p:nvPr/>
        </p:nvPicPr>
        <p:blipFill>
          <a:blip r:embed="rId4"/>
          <a:stretch>
            <a:fillRect/>
          </a:stretch>
        </p:blipFill>
        <p:spPr>
          <a:xfrm>
            <a:off x="7512700" y="4369002"/>
            <a:ext cx="2229186" cy="232349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6873488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Grp="1" noChangeArrowheads="1"/>
          </p:cNvSpPr>
          <p:nvPr>
            <p:ph type="title"/>
          </p:nvPr>
        </p:nvSpPr>
        <p:spPr>
          <a:xfrm>
            <a:off x="2013049" y="492979"/>
            <a:ext cx="8524875" cy="1107996"/>
          </a:xfrm>
        </p:spPr>
        <p:txBody>
          <a:bodyPr>
            <a:normAutofit fontScale="90000"/>
          </a:bodyPr>
          <a:lstStyle/>
          <a:p>
            <a:pPr eaLnBrk="1" hangingPunct="1">
              <a:defRPr/>
            </a:pPr>
            <a:r>
              <a:rPr lang="en-US" altLang="en-US" sz="4000" b="1" dirty="0">
                <a:solidFill>
                  <a:srgbClr val="FF0000"/>
                </a:solidFill>
              </a:rPr>
              <a:t>World community</a:t>
            </a:r>
            <a:br>
              <a:rPr lang="en-US" altLang="en-US" sz="4000" dirty="0"/>
            </a:br>
            <a:endParaRPr lang="en-US" sz="4000" dirty="0"/>
          </a:p>
        </p:txBody>
      </p:sp>
      <p:sp>
        <p:nvSpPr>
          <p:cNvPr id="11267" name="Rectangle 3"/>
          <p:cNvSpPr>
            <a:spLocks noGrp="1" noChangeArrowheads="1"/>
          </p:cNvSpPr>
          <p:nvPr>
            <p:ph idx="1"/>
          </p:nvPr>
        </p:nvSpPr>
        <p:spPr>
          <a:xfrm>
            <a:off x="1524001" y="1515240"/>
            <a:ext cx="5017273" cy="4215000"/>
          </a:xfrm>
        </p:spPr>
        <p:txBody>
          <a:bodyPr/>
          <a:lstStyle/>
          <a:p>
            <a:pPr marL="457200" lvl="1" indent="0">
              <a:lnSpc>
                <a:spcPct val="150000"/>
              </a:lnSpc>
              <a:buNone/>
            </a:pPr>
            <a:r>
              <a:rPr lang="en-US" altLang="en-US" b="1" u="sng" dirty="0">
                <a:solidFill>
                  <a:schemeClr val="accent1">
                    <a:lumMod val="75000"/>
                  </a:schemeClr>
                </a:solidFill>
              </a:rPr>
              <a:t>Other views</a:t>
            </a:r>
          </a:p>
          <a:p>
            <a:pPr lvl="1" eaLnBrk="1" hangingPunct="1">
              <a:lnSpc>
                <a:spcPct val="150000"/>
              </a:lnSpc>
              <a:buFont typeface="Wingdings" panose="05000000000000000000" pitchFamily="2" charset="2"/>
              <a:buChar char="v"/>
            </a:pPr>
            <a:r>
              <a:rPr lang="en-US" altLang="en-US" dirty="0"/>
              <a:t>Folk medicine and home remedies</a:t>
            </a:r>
          </a:p>
          <a:p>
            <a:pPr lvl="1" eaLnBrk="1" hangingPunct="1">
              <a:lnSpc>
                <a:spcPct val="150000"/>
              </a:lnSpc>
              <a:buFont typeface="Wingdings" panose="05000000000000000000" pitchFamily="2" charset="2"/>
              <a:buChar char="v"/>
            </a:pPr>
            <a:r>
              <a:rPr lang="en-US" altLang="en-US" dirty="0"/>
              <a:t>Herbalism</a:t>
            </a:r>
          </a:p>
          <a:p>
            <a:pPr lvl="1" eaLnBrk="1" hangingPunct="1">
              <a:lnSpc>
                <a:spcPct val="150000"/>
              </a:lnSpc>
              <a:buFont typeface="Wingdings" panose="05000000000000000000" pitchFamily="2" charset="2"/>
              <a:buChar char="v"/>
            </a:pPr>
            <a:r>
              <a:rPr lang="en-US" altLang="en-US" dirty="0"/>
              <a:t>Prescription and over-the-counter drugs</a:t>
            </a:r>
          </a:p>
        </p:txBody>
      </p:sp>
      <p:pic>
        <p:nvPicPr>
          <p:cNvPr id="2" name="Picture 1">
            <a:extLst>
              <a:ext uri="{FF2B5EF4-FFF2-40B4-BE49-F238E27FC236}">
                <a16:creationId xmlns:a16="http://schemas.microsoft.com/office/drawing/2014/main" id="{4B5F44D6-E905-FF19-55A0-A2696943D3DC}"/>
              </a:ext>
            </a:extLst>
          </p:cNvPr>
          <p:cNvPicPr>
            <a:picLocks noChangeAspect="1"/>
          </p:cNvPicPr>
          <p:nvPr/>
        </p:nvPicPr>
        <p:blipFill>
          <a:blip r:embed="rId2"/>
          <a:stretch>
            <a:fillRect/>
          </a:stretch>
        </p:blipFill>
        <p:spPr>
          <a:xfrm rot="20881598">
            <a:off x="6641354" y="4091742"/>
            <a:ext cx="2912331" cy="1992867"/>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3" name="Picture 2">
            <a:extLst>
              <a:ext uri="{FF2B5EF4-FFF2-40B4-BE49-F238E27FC236}">
                <a16:creationId xmlns:a16="http://schemas.microsoft.com/office/drawing/2014/main" id="{DE95EDD2-86DE-0A8E-A471-CEF20C963EA4}"/>
              </a:ext>
            </a:extLst>
          </p:cNvPr>
          <p:cNvPicPr>
            <a:picLocks noChangeAspect="1"/>
          </p:cNvPicPr>
          <p:nvPr/>
        </p:nvPicPr>
        <p:blipFill>
          <a:blip r:embed="rId3"/>
          <a:stretch>
            <a:fillRect/>
          </a:stretch>
        </p:blipFill>
        <p:spPr>
          <a:xfrm rot="787609">
            <a:off x="7221481" y="2036203"/>
            <a:ext cx="2992479" cy="199897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7" name="Rectangle 1046">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ECB5316A-A699-405E-8D2A-3C369002C38D}"/>
              </a:ext>
            </a:extLst>
          </p:cNvPr>
          <p:cNvSpPr>
            <a:spLocks noGrp="1"/>
          </p:cNvSpPr>
          <p:nvPr>
            <p:ph type="title"/>
          </p:nvPr>
        </p:nvSpPr>
        <p:spPr>
          <a:xfrm>
            <a:off x="838200" y="365125"/>
            <a:ext cx="5393361" cy="1325563"/>
          </a:xfrm>
        </p:spPr>
        <p:txBody>
          <a:bodyPr>
            <a:normAutofit/>
          </a:bodyPr>
          <a:lstStyle/>
          <a:p>
            <a:r>
              <a:rPr lang="en-US" b="1"/>
              <a:t>Biomedical</a:t>
            </a:r>
          </a:p>
        </p:txBody>
      </p:sp>
      <p:sp>
        <p:nvSpPr>
          <p:cNvPr id="3" name="Content Placeholder 2">
            <a:extLst>
              <a:ext uri="{FF2B5EF4-FFF2-40B4-BE49-F238E27FC236}">
                <a16:creationId xmlns:a16="http://schemas.microsoft.com/office/drawing/2014/main" id="{44410C71-2D64-432D-9BA2-939565D218FD}"/>
              </a:ext>
            </a:extLst>
          </p:cNvPr>
          <p:cNvSpPr>
            <a:spLocks noGrp="1"/>
          </p:cNvSpPr>
          <p:nvPr>
            <p:ph idx="1"/>
          </p:nvPr>
        </p:nvSpPr>
        <p:spPr>
          <a:xfrm>
            <a:off x="838200" y="1825625"/>
            <a:ext cx="5393361" cy="4351338"/>
          </a:xfrm>
        </p:spPr>
        <p:txBody>
          <a:bodyPr>
            <a:normAutofit lnSpcReduction="10000"/>
          </a:bodyPr>
          <a:lstStyle/>
          <a:p>
            <a:r>
              <a:rPr lang="en-US" dirty="0"/>
              <a:t>Relies </a:t>
            </a:r>
            <a:r>
              <a:rPr lang="en-US" b="1" dirty="0"/>
              <a:t>on scientific principles and sees diseases and injuries as life events controlled by physical and biochemical processes</a:t>
            </a:r>
            <a:r>
              <a:rPr lang="en-US" dirty="0"/>
              <a:t> that can be manipulated through medication, surgery, and other treatments. </a:t>
            </a:r>
          </a:p>
          <a:p>
            <a:endParaRPr lang="en-US" dirty="0"/>
          </a:p>
          <a:p>
            <a:r>
              <a:rPr lang="en-US" dirty="0"/>
              <a:t>Ex. </a:t>
            </a:r>
            <a:r>
              <a:rPr lang="en-GB" dirty="0"/>
              <a:t>Disease causes illness, which has a specific cause and a set of treatment requirements.</a:t>
            </a:r>
            <a:endParaRPr lang="en-US" dirty="0"/>
          </a:p>
        </p:txBody>
      </p:sp>
      <p:pic>
        <p:nvPicPr>
          <p:cNvPr id="1026" name="Picture 2" descr="Top 5/10 mistakes people make with prescription medication - Mount Sinai  Medical Center">
            <a:extLst>
              <a:ext uri="{FF2B5EF4-FFF2-40B4-BE49-F238E27FC236}">
                <a16:creationId xmlns:a16="http://schemas.microsoft.com/office/drawing/2014/main" id="{84784817-7D4D-4AB0-4CCB-622D451934C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0445" r="5306" b="1"/>
          <a:stretch/>
        </p:blipFill>
        <p:spPr bwMode="auto">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a:extLst>
            <a:ext uri="{909E8E84-426E-40DD-AFC4-6F175D3DCCD1}">
              <a14:hiddenFill xmlns:a14="http://schemas.microsoft.com/office/drawing/2010/main">
                <a:solidFill>
                  <a:srgbClr val="FFFFFF"/>
                </a:solidFill>
              </a14:hiddenFill>
            </a:ext>
          </a:extLst>
        </p:spPr>
      </p:pic>
      <p:sp>
        <p:nvSpPr>
          <p:cNvPr id="1049"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051"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6513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6EEF3497-22FC-42CA-8E16-485835006BDA}"/>
              </a:ext>
            </a:extLst>
          </p:cNvPr>
          <p:cNvSpPr>
            <a:spLocks noGrp="1"/>
          </p:cNvSpPr>
          <p:nvPr>
            <p:ph type="title"/>
          </p:nvPr>
        </p:nvSpPr>
        <p:spPr>
          <a:xfrm>
            <a:off x="838200" y="365125"/>
            <a:ext cx="5393361" cy="1325563"/>
          </a:xfrm>
        </p:spPr>
        <p:txBody>
          <a:bodyPr>
            <a:normAutofit/>
          </a:bodyPr>
          <a:lstStyle/>
          <a:p>
            <a:r>
              <a:rPr lang="en-US" altLang="en-US" b="1"/>
              <a:t>Magicoreligious</a:t>
            </a:r>
            <a:endParaRPr lang="en-US" b="1"/>
          </a:p>
        </p:txBody>
      </p:sp>
      <p:sp>
        <p:nvSpPr>
          <p:cNvPr id="3" name="Content Placeholder 2">
            <a:extLst>
              <a:ext uri="{FF2B5EF4-FFF2-40B4-BE49-F238E27FC236}">
                <a16:creationId xmlns:a16="http://schemas.microsoft.com/office/drawing/2014/main" id="{5D64D905-F577-4EE7-B68A-E8EDE437159B}"/>
              </a:ext>
            </a:extLst>
          </p:cNvPr>
          <p:cNvSpPr>
            <a:spLocks noGrp="1"/>
          </p:cNvSpPr>
          <p:nvPr>
            <p:ph idx="1"/>
          </p:nvPr>
        </p:nvSpPr>
        <p:spPr>
          <a:xfrm>
            <a:off x="838200" y="1825625"/>
            <a:ext cx="5393361" cy="4351338"/>
          </a:xfrm>
        </p:spPr>
        <p:txBody>
          <a:bodyPr>
            <a:normAutofit/>
          </a:bodyPr>
          <a:lstStyle/>
          <a:p>
            <a:r>
              <a:rPr lang="en-US" sz="2600" dirty="0" err="1"/>
              <a:t>Magicoreligious</a:t>
            </a:r>
            <a:r>
              <a:rPr lang="en-US" sz="2600" dirty="0"/>
              <a:t> focus on the control of health and illness by supernatural forces.</a:t>
            </a:r>
          </a:p>
          <a:p>
            <a:r>
              <a:rPr lang="en-US" sz="2600" dirty="0"/>
              <a:t> Diseases occur as a result of “committing sins” or “going against God’s will.”</a:t>
            </a:r>
          </a:p>
          <a:p>
            <a:r>
              <a:rPr lang="en-US" sz="2600" dirty="0"/>
              <a:t> Good health is a gift from God, and illness is a form of punishment that affords an opportunity to be forgiven and to realign oneself with God.</a:t>
            </a:r>
          </a:p>
        </p:txBody>
      </p:sp>
      <p:pic>
        <p:nvPicPr>
          <p:cNvPr id="4" name="Picture 3">
            <a:extLst>
              <a:ext uri="{FF2B5EF4-FFF2-40B4-BE49-F238E27FC236}">
                <a16:creationId xmlns:a16="http://schemas.microsoft.com/office/drawing/2014/main" id="{ABC593DD-6F41-3D63-8AA3-FC91924285F8}"/>
              </a:ext>
            </a:extLst>
          </p:cNvPr>
          <p:cNvPicPr>
            <a:picLocks noChangeAspect="1"/>
          </p:cNvPicPr>
          <p:nvPr/>
        </p:nvPicPr>
        <p:blipFill rotWithShape="1">
          <a:blip r:embed="rId3"/>
          <a:srcRect l="20673" r="12575" b="-2"/>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35"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7"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05753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CB6E2F43-29E9-49D9-91FC-E5FEFAAA70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FCA1ECC4-B942-9358-885E-8F52446612C4}"/>
              </a:ext>
            </a:extLst>
          </p:cNvPr>
          <p:cNvPicPr>
            <a:picLocks noChangeAspect="1"/>
          </p:cNvPicPr>
          <p:nvPr/>
        </p:nvPicPr>
        <p:blipFill>
          <a:blip r:embed="rId3"/>
          <a:stretch>
            <a:fillRect/>
          </a:stretch>
        </p:blipFill>
        <p:spPr>
          <a:xfrm>
            <a:off x="7069760" y="5071328"/>
            <a:ext cx="5122239" cy="1786673"/>
          </a:xfrm>
          <a:custGeom>
            <a:avLst/>
            <a:gdLst/>
            <a:ahLst/>
            <a:cxnLst/>
            <a:rect l="l" t="t" r="r" b="b"/>
            <a:pathLst>
              <a:path w="5580942" h="5519103">
                <a:moveTo>
                  <a:pt x="169765" y="0"/>
                </a:moveTo>
                <a:lnTo>
                  <a:pt x="5580942" y="0"/>
                </a:lnTo>
                <a:lnTo>
                  <a:pt x="5580942" y="5519103"/>
                </a:lnTo>
                <a:lnTo>
                  <a:pt x="9100" y="5519103"/>
                </a:lnTo>
                <a:lnTo>
                  <a:pt x="0" y="5474029"/>
                </a:lnTo>
                <a:lnTo>
                  <a:pt x="0" y="169765"/>
                </a:lnTo>
                <a:cubicBezTo>
                  <a:pt x="0" y="76006"/>
                  <a:pt x="76006" y="0"/>
                  <a:pt x="169765" y="0"/>
                </a:cubicBezTo>
                <a:close/>
              </a:path>
            </a:pathLst>
          </a:custGeom>
        </p:spPr>
      </p:pic>
      <p:sp>
        <p:nvSpPr>
          <p:cNvPr id="33" name="Arc 32">
            <a:extLst>
              <a:ext uri="{FF2B5EF4-FFF2-40B4-BE49-F238E27FC236}">
                <a16:creationId xmlns:a16="http://schemas.microsoft.com/office/drawing/2014/main" id="{3BA62E19-CD42-4C09-B825-844B4943D4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87212" y="587516"/>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FE2AFB1-6E58-40B8-9697-03A217B5F501}"/>
              </a:ext>
            </a:extLst>
          </p:cNvPr>
          <p:cNvSpPr>
            <a:spLocks noGrp="1"/>
          </p:cNvSpPr>
          <p:nvPr>
            <p:ph type="title"/>
          </p:nvPr>
        </p:nvSpPr>
        <p:spPr>
          <a:xfrm>
            <a:off x="838200" y="365125"/>
            <a:ext cx="10515599" cy="1325563"/>
          </a:xfrm>
        </p:spPr>
        <p:txBody>
          <a:bodyPr>
            <a:normAutofit/>
          </a:bodyPr>
          <a:lstStyle/>
          <a:p>
            <a:r>
              <a:rPr lang="en-US" altLang="en-US" b="1" dirty="0"/>
              <a:t>Holistic</a:t>
            </a:r>
            <a:endParaRPr lang="en-US" b="1" dirty="0"/>
          </a:p>
        </p:txBody>
      </p:sp>
      <p:sp>
        <p:nvSpPr>
          <p:cNvPr id="3" name="Content Placeholder 2">
            <a:extLst>
              <a:ext uri="{FF2B5EF4-FFF2-40B4-BE49-F238E27FC236}">
                <a16:creationId xmlns:a16="http://schemas.microsoft.com/office/drawing/2014/main" id="{CA4CD161-1C40-453B-AFB6-9064510BAAAA}"/>
              </a:ext>
            </a:extLst>
          </p:cNvPr>
          <p:cNvSpPr>
            <a:spLocks noGrp="1"/>
          </p:cNvSpPr>
          <p:nvPr>
            <p:ph idx="1"/>
          </p:nvPr>
        </p:nvSpPr>
        <p:spPr>
          <a:xfrm>
            <a:off x="838200" y="1825625"/>
            <a:ext cx="5393361" cy="4351338"/>
          </a:xfrm>
        </p:spPr>
        <p:txBody>
          <a:bodyPr>
            <a:normAutofit fontScale="85000" lnSpcReduction="10000"/>
          </a:bodyPr>
          <a:lstStyle/>
          <a:p>
            <a:r>
              <a:rPr lang="en-US" dirty="0"/>
              <a:t>View the world as being in harmonious balance. </a:t>
            </a:r>
            <a:r>
              <a:rPr lang="en-GB" dirty="0"/>
              <a:t>imbalance of natural forces can create chaos and disease.</a:t>
            </a:r>
            <a:endParaRPr lang="en-US" dirty="0"/>
          </a:p>
          <a:p>
            <a:r>
              <a:rPr lang="en-US" dirty="0"/>
              <a:t>For an individual to be healthy, all facets of the individual’s nature—physical, mental, emotional, and spiritual—must be in balance.</a:t>
            </a:r>
          </a:p>
          <a:p>
            <a:endParaRPr lang="en-US" dirty="0"/>
          </a:p>
          <a:p>
            <a:r>
              <a:rPr lang="en-US" dirty="0"/>
              <a:t>Ex. </a:t>
            </a:r>
            <a:r>
              <a:rPr lang="en-GB" dirty="0"/>
              <a:t>Considering that infectious disease such as tuberculosis is not only caused by an organism but also by the environment, malnutrition, and poverty</a:t>
            </a:r>
            <a:endParaRPr lang="en-US" dirty="0"/>
          </a:p>
        </p:txBody>
      </p:sp>
      <p:sp>
        <p:nvSpPr>
          <p:cNvPr id="35" name="Oval 34">
            <a:extLst>
              <a:ext uri="{FF2B5EF4-FFF2-40B4-BE49-F238E27FC236}">
                <a16:creationId xmlns:a16="http://schemas.microsoft.com/office/drawing/2014/main" id="{8E63CC27-1C86-4653-8866-79C24C5C5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95924" y="1656147"/>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58841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87" name="Rectangle 2086">
            <a:extLst>
              <a:ext uri="{FF2B5EF4-FFF2-40B4-BE49-F238E27FC236}">
                <a16:creationId xmlns:a16="http://schemas.microsoft.com/office/drawing/2014/main" id="{99F1FFA9-D672-408C-9220-ADEEC6ABD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BFC0DF-288D-4251-B94F-DAEF34CBD244}"/>
              </a:ext>
            </a:extLst>
          </p:cNvPr>
          <p:cNvSpPr>
            <a:spLocks noGrp="1"/>
          </p:cNvSpPr>
          <p:nvPr>
            <p:ph type="title"/>
          </p:nvPr>
        </p:nvSpPr>
        <p:spPr>
          <a:xfrm>
            <a:off x="838201" y="365125"/>
            <a:ext cx="3816095" cy="1938076"/>
          </a:xfrm>
        </p:spPr>
        <p:txBody>
          <a:bodyPr>
            <a:normAutofit/>
          </a:bodyPr>
          <a:lstStyle/>
          <a:p>
            <a:r>
              <a:rPr lang="en-US" altLang="en-US" sz="3700" b="1" dirty="0"/>
              <a:t>Folk medicine and home remedies</a:t>
            </a:r>
            <a:br>
              <a:rPr lang="en-US" altLang="en-US" sz="3700" dirty="0"/>
            </a:br>
            <a:endParaRPr lang="en-US" sz="3700" dirty="0"/>
          </a:p>
        </p:txBody>
      </p:sp>
      <p:sp>
        <p:nvSpPr>
          <p:cNvPr id="3" name="Content Placeholder 2">
            <a:extLst>
              <a:ext uri="{FF2B5EF4-FFF2-40B4-BE49-F238E27FC236}">
                <a16:creationId xmlns:a16="http://schemas.microsoft.com/office/drawing/2014/main" id="{14F04521-7B48-4F39-AABD-862088202A50}"/>
              </a:ext>
            </a:extLst>
          </p:cNvPr>
          <p:cNvSpPr>
            <a:spLocks noGrp="1"/>
          </p:cNvSpPr>
          <p:nvPr>
            <p:ph idx="1"/>
          </p:nvPr>
        </p:nvSpPr>
        <p:spPr>
          <a:xfrm>
            <a:off x="838201" y="2482589"/>
            <a:ext cx="3816096" cy="3694373"/>
          </a:xfrm>
        </p:spPr>
        <p:txBody>
          <a:bodyPr>
            <a:normAutofit/>
          </a:bodyPr>
          <a:lstStyle/>
          <a:p>
            <a:r>
              <a:rPr lang="en-US" sz="2000" b="1" dirty="0"/>
              <a:t>Folk medicine</a:t>
            </a:r>
            <a:r>
              <a:rPr lang="en-US" sz="2000" dirty="0"/>
              <a:t> is a body of preserved treatment practices that has been handed down verbally from generation to generation.</a:t>
            </a:r>
          </a:p>
          <a:p>
            <a:r>
              <a:rPr lang="en-US" sz="2000" dirty="0"/>
              <a:t>Exists as a first line of treatment.</a:t>
            </a:r>
          </a:p>
          <a:p>
            <a:pPr marL="0" indent="0">
              <a:buNone/>
            </a:pPr>
            <a:endParaRPr lang="en-US" sz="2000" b="1" dirty="0"/>
          </a:p>
          <a:p>
            <a:pPr marL="0" indent="0">
              <a:buNone/>
            </a:pPr>
            <a:r>
              <a:rPr lang="en-US" sz="2000" b="1" dirty="0"/>
              <a:t>Any examples??</a:t>
            </a:r>
          </a:p>
          <a:p>
            <a:pPr marL="0" indent="0">
              <a:buNone/>
            </a:pPr>
            <a:r>
              <a:rPr lang="en-US" sz="2000" i="1" dirty="0"/>
              <a:t>“Taping coins over a newborn’s umbilical area to prevent hernias”</a:t>
            </a:r>
          </a:p>
        </p:txBody>
      </p:sp>
      <p:pic>
        <p:nvPicPr>
          <p:cNvPr id="4" name="Picture 3" descr="A mortar and pestle with herbs and spices&#10;&#10;Description automatically generated">
            <a:extLst>
              <a:ext uri="{FF2B5EF4-FFF2-40B4-BE49-F238E27FC236}">
                <a16:creationId xmlns:a16="http://schemas.microsoft.com/office/drawing/2014/main" id="{AC6959A4-9DFA-EFA4-1D56-6B00A0316ED7}"/>
              </a:ext>
            </a:extLst>
          </p:cNvPr>
          <p:cNvPicPr>
            <a:picLocks noChangeAspect="1"/>
          </p:cNvPicPr>
          <p:nvPr/>
        </p:nvPicPr>
        <p:blipFill rotWithShape="1">
          <a:blip r:embed="rId3"/>
          <a:srcRect t="16029" r="2" b="16032"/>
          <a:stretch/>
        </p:blipFill>
        <p:spPr>
          <a:xfrm>
            <a:off x="4904316" y="-4"/>
            <a:ext cx="7287684" cy="3694372"/>
          </a:xfrm>
          <a:custGeom>
            <a:avLst/>
            <a:gdLst/>
            <a:ahLst/>
            <a:cxnLst/>
            <a:rect l="l" t="t" r="r" b="b"/>
            <a:pathLst>
              <a:path w="7287684" h="3694372">
                <a:moveTo>
                  <a:pt x="1047969" y="0"/>
                </a:moveTo>
                <a:lnTo>
                  <a:pt x="7287684" y="0"/>
                </a:lnTo>
                <a:lnTo>
                  <a:pt x="7287684" y="814388"/>
                </a:lnTo>
                <a:lnTo>
                  <a:pt x="7287684" y="3694372"/>
                </a:lnTo>
                <a:lnTo>
                  <a:pt x="471411" y="3694372"/>
                </a:lnTo>
                <a:lnTo>
                  <a:pt x="470992" y="3686621"/>
                </a:lnTo>
                <a:cubicBezTo>
                  <a:pt x="458999" y="3642419"/>
                  <a:pt x="427907" y="3602236"/>
                  <a:pt x="376383" y="3554015"/>
                </a:cubicBezTo>
                <a:cubicBezTo>
                  <a:pt x="315976" y="3500438"/>
                  <a:pt x="255568" y="3454003"/>
                  <a:pt x="170288" y="3407569"/>
                </a:cubicBezTo>
                <a:cubicBezTo>
                  <a:pt x="365723" y="3382565"/>
                  <a:pt x="163181" y="3296841"/>
                  <a:pt x="230695" y="3243263"/>
                </a:cubicBezTo>
                <a:cubicBezTo>
                  <a:pt x="369276" y="3221831"/>
                  <a:pt x="479431" y="3393282"/>
                  <a:pt x="667759" y="3343275"/>
                </a:cubicBezTo>
                <a:cubicBezTo>
                  <a:pt x="440344" y="3196828"/>
                  <a:pt x="184501" y="3150393"/>
                  <a:pt x="17493" y="2953940"/>
                </a:cubicBezTo>
                <a:cubicBezTo>
                  <a:pt x="56580" y="2911078"/>
                  <a:pt x="95667" y="2953940"/>
                  <a:pt x="127647" y="2936081"/>
                </a:cubicBezTo>
                <a:cubicBezTo>
                  <a:pt x="127647" y="2925365"/>
                  <a:pt x="500751" y="2993232"/>
                  <a:pt x="522071" y="2714625"/>
                </a:cubicBezTo>
                <a:cubicBezTo>
                  <a:pt x="529178" y="2714625"/>
                  <a:pt x="536285" y="2714625"/>
                  <a:pt x="543391" y="2703909"/>
                </a:cubicBezTo>
                <a:cubicBezTo>
                  <a:pt x="582478" y="2664619"/>
                  <a:pt x="546945" y="2571750"/>
                  <a:pt x="610905" y="2564606"/>
                </a:cubicBezTo>
                <a:cubicBezTo>
                  <a:pt x="681973" y="2557462"/>
                  <a:pt x="749487" y="2525315"/>
                  <a:pt x="824107" y="2543175"/>
                </a:cubicBezTo>
                <a:cubicBezTo>
                  <a:pt x="880961" y="2557462"/>
                  <a:pt x="941368" y="2575322"/>
                  <a:pt x="1001776" y="2575322"/>
                </a:cubicBezTo>
                <a:cubicBezTo>
                  <a:pt x="1065736" y="2575322"/>
                  <a:pt x="1154570" y="2696766"/>
                  <a:pt x="1193658" y="2536031"/>
                </a:cubicBezTo>
                <a:cubicBezTo>
                  <a:pt x="1193658" y="2528888"/>
                  <a:pt x="1303812" y="2546747"/>
                  <a:pt x="1364219" y="2553891"/>
                </a:cubicBezTo>
                <a:cubicBezTo>
                  <a:pt x="1413966" y="2561035"/>
                  <a:pt x="1474374" y="2593181"/>
                  <a:pt x="1509907" y="2528888"/>
                </a:cubicBezTo>
                <a:cubicBezTo>
                  <a:pt x="1527674" y="2489596"/>
                  <a:pt x="1442393" y="2418159"/>
                  <a:pt x="1367772" y="2411015"/>
                </a:cubicBezTo>
                <a:cubicBezTo>
                  <a:pt x="1300259" y="2403872"/>
                  <a:pt x="1232745" y="2396728"/>
                  <a:pt x="1168784" y="2411015"/>
                </a:cubicBezTo>
                <a:cubicBezTo>
                  <a:pt x="1090610" y="2428875"/>
                  <a:pt x="1047969" y="2400300"/>
                  <a:pt x="1026649" y="2336007"/>
                </a:cubicBezTo>
                <a:cubicBezTo>
                  <a:pt x="1001776" y="2268141"/>
                  <a:pt x="955582" y="2232422"/>
                  <a:pt x="891621" y="2200275"/>
                </a:cubicBezTo>
                <a:cubicBezTo>
                  <a:pt x="735273" y="2121694"/>
                  <a:pt x="586032" y="2028825"/>
                  <a:pt x="415470" y="1982390"/>
                </a:cubicBezTo>
                <a:cubicBezTo>
                  <a:pt x="383490" y="1975246"/>
                  <a:pt x="344403" y="1960959"/>
                  <a:pt x="330189" y="1900238"/>
                </a:cubicBezTo>
                <a:cubicBezTo>
                  <a:pt x="792127" y="1993106"/>
                  <a:pt x="1211424" y="2232422"/>
                  <a:pt x="1687576" y="2218135"/>
                </a:cubicBezTo>
                <a:cubicBezTo>
                  <a:pt x="1559654" y="2143125"/>
                  <a:pt x="1406860" y="2139554"/>
                  <a:pt x="1268278" y="2085975"/>
                </a:cubicBezTo>
                <a:cubicBezTo>
                  <a:pt x="1367772" y="2046685"/>
                  <a:pt x="1460160" y="2089547"/>
                  <a:pt x="1552548" y="2110978"/>
                </a:cubicBezTo>
                <a:cubicBezTo>
                  <a:pt x="1630722" y="2128837"/>
                  <a:pt x="1701789" y="2132410"/>
                  <a:pt x="1708896" y="2021681"/>
                </a:cubicBezTo>
                <a:cubicBezTo>
                  <a:pt x="1708896" y="2010965"/>
                  <a:pt x="1708896" y="2003821"/>
                  <a:pt x="1708896" y="1993106"/>
                </a:cubicBezTo>
                <a:cubicBezTo>
                  <a:pt x="1680469" y="1946672"/>
                  <a:pt x="1641382" y="1925240"/>
                  <a:pt x="1591635" y="1910953"/>
                </a:cubicBezTo>
                <a:cubicBezTo>
                  <a:pt x="1563208" y="1903809"/>
                  <a:pt x="1524121" y="1889522"/>
                  <a:pt x="1524121" y="1857375"/>
                </a:cubicBezTo>
                <a:cubicBezTo>
                  <a:pt x="1527674" y="1735931"/>
                  <a:pt x="1431733" y="1700212"/>
                  <a:pt x="1339346" y="1664493"/>
                </a:cubicBezTo>
                <a:cubicBezTo>
                  <a:pt x="1389093" y="1603772"/>
                  <a:pt x="1431733" y="1646635"/>
                  <a:pt x="1470820" y="1643062"/>
                </a:cubicBezTo>
                <a:cubicBezTo>
                  <a:pt x="1495694" y="1639491"/>
                  <a:pt x="1520567" y="1635919"/>
                  <a:pt x="1520567" y="1603772"/>
                </a:cubicBezTo>
                <a:cubicBezTo>
                  <a:pt x="1520567" y="1578769"/>
                  <a:pt x="1509907" y="1546622"/>
                  <a:pt x="1485034" y="1546622"/>
                </a:cubicBezTo>
                <a:cubicBezTo>
                  <a:pt x="1328686" y="1543050"/>
                  <a:pt x="1239851" y="1371600"/>
                  <a:pt x="1076396" y="1371600"/>
                </a:cubicBezTo>
                <a:cubicBezTo>
                  <a:pt x="976902" y="1371600"/>
                  <a:pt x="1126144" y="1275159"/>
                  <a:pt x="1044416" y="1235869"/>
                </a:cubicBezTo>
                <a:cubicBezTo>
                  <a:pt x="1026649" y="1225153"/>
                  <a:pt x="1094163" y="1210866"/>
                  <a:pt x="1122590" y="1214437"/>
                </a:cubicBezTo>
                <a:cubicBezTo>
                  <a:pt x="1151017" y="1218009"/>
                  <a:pt x="1175891" y="1243013"/>
                  <a:pt x="1211424" y="1225153"/>
                </a:cubicBezTo>
                <a:cubicBezTo>
                  <a:pt x="1229191" y="1160860"/>
                  <a:pt x="1182997" y="1135856"/>
                  <a:pt x="1140357" y="1117997"/>
                </a:cubicBezTo>
                <a:cubicBezTo>
                  <a:pt x="1047969" y="1075135"/>
                  <a:pt x="955582" y="1025129"/>
                  <a:pt x="852534" y="1010841"/>
                </a:cubicBezTo>
                <a:cubicBezTo>
                  <a:pt x="817001" y="1007269"/>
                  <a:pt x="795680" y="989409"/>
                  <a:pt x="799234" y="953690"/>
                </a:cubicBezTo>
                <a:cubicBezTo>
                  <a:pt x="806340" y="907256"/>
                  <a:pt x="841874" y="921544"/>
                  <a:pt x="870301" y="925115"/>
                </a:cubicBezTo>
                <a:cubicBezTo>
                  <a:pt x="888068" y="928688"/>
                  <a:pt x="905835" y="939403"/>
                  <a:pt x="923602" y="914400"/>
                </a:cubicBezTo>
                <a:cubicBezTo>
                  <a:pt x="611794" y="724198"/>
                  <a:pt x="409919" y="684684"/>
                  <a:pt x="132090" y="589415"/>
                </a:cubicBezTo>
                <a:lnTo>
                  <a:pt x="31922" y="552917"/>
                </a:lnTo>
                <a:lnTo>
                  <a:pt x="26859" y="541335"/>
                </a:lnTo>
                <a:cubicBezTo>
                  <a:pt x="20137" y="534929"/>
                  <a:pt x="8953" y="532232"/>
                  <a:pt x="0" y="527681"/>
                </a:cubicBezTo>
                <a:cubicBezTo>
                  <a:pt x="5969" y="516305"/>
                  <a:pt x="7617" y="502963"/>
                  <a:pt x="17905" y="493550"/>
                </a:cubicBezTo>
                <a:cubicBezTo>
                  <a:pt x="23947" y="488022"/>
                  <a:pt x="35344" y="487159"/>
                  <a:pt x="44763" y="486724"/>
                </a:cubicBezTo>
                <a:lnTo>
                  <a:pt x="165722" y="483650"/>
                </a:lnTo>
                <a:lnTo>
                  <a:pt x="193385" y="498723"/>
                </a:lnTo>
                <a:cubicBezTo>
                  <a:pt x="210263" y="511671"/>
                  <a:pt x="227142" y="525066"/>
                  <a:pt x="315976" y="535781"/>
                </a:cubicBezTo>
                <a:cubicBezTo>
                  <a:pt x="401257" y="546497"/>
                  <a:pt x="479431" y="582216"/>
                  <a:pt x="575372" y="525066"/>
                </a:cubicBezTo>
                <a:cubicBezTo>
                  <a:pt x="639332" y="485775"/>
                  <a:pt x="742380" y="528637"/>
                  <a:pt x="820554" y="560785"/>
                </a:cubicBezTo>
                <a:cubicBezTo>
                  <a:pt x="884515" y="589360"/>
                  <a:pt x="948475" y="596503"/>
                  <a:pt x="1033756" y="560785"/>
                </a:cubicBezTo>
                <a:cubicBezTo>
                  <a:pt x="955582" y="539354"/>
                  <a:pt x="895175" y="521494"/>
                  <a:pt x="834767" y="507206"/>
                </a:cubicBezTo>
                <a:cubicBezTo>
                  <a:pt x="785020" y="496491"/>
                  <a:pt x="756593" y="471488"/>
                  <a:pt x="760147" y="417909"/>
                </a:cubicBezTo>
                <a:cubicBezTo>
                  <a:pt x="760147" y="389334"/>
                  <a:pt x="749487" y="350044"/>
                  <a:pt x="785020" y="335757"/>
                </a:cubicBezTo>
                <a:cubicBezTo>
                  <a:pt x="813447" y="321469"/>
                  <a:pt x="852534" y="335757"/>
                  <a:pt x="866748" y="360759"/>
                </a:cubicBezTo>
                <a:cubicBezTo>
                  <a:pt x="884515" y="407194"/>
                  <a:pt x="902281" y="450056"/>
                  <a:pt x="962689" y="453629"/>
                </a:cubicBezTo>
                <a:cubicBezTo>
                  <a:pt x="1044416" y="460771"/>
                  <a:pt x="998222" y="432197"/>
                  <a:pt x="984009" y="396478"/>
                </a:cubicBezTo>
                <a:cubicBezTo>
                  <a:pt x="969795" y="357188"/>
                  <a:pt x="1012436" y="346472"/>
                  <a:pt x="1040863" y="353615"/>
                </a:cubicBezTo>
                <a:cubicBezTo>
                  <a:pt x="1147464" y="385763"/>
                  <a:pt x="1257618" y="328613"/>
                  <a:pt x="1367772" y="375047"/>
                </a:cubicBezTo>
                <a:cubicBezTo>
                  <a:pt x="1339346" y="260747"/>
                  <a:pt x="1278938" y="210741"/>
                  <a:pt x="1151017" y="192881"/>
                </a:cubicBezTo>
                <a:cubicBezTo>
                  <a:pt x="1104823" y="189310"/>
                  <a:pt x="1055076" y="196453"/>
                  <a:pt x="1012436" y="164306"/>
                </a:cubicBezTo>
                <a:cubicBezTo>
                  <a:pt x="987562" y="146447"/>
                  <a:pt x="962689" y="125016"/>
                  <a:pt x="980456" y="89297"/>
                </a:cubicBezTo>
                <a:cubicBezTo>
                  <a:pt x="991116" y="64294"/>
                  <a:pt x="1019542" y="64294"/>
                  <a:pt x="1044416" y="71437"/>
                </a:cubicBezTo>
                <a:cubicBezTo>
                  <a:pt x="1147464" y="110728"/>
                  <a:pt x="1257618" y="121444"/>
                  <a:pt x="1364219" y="135731"/>
                </a:cubicBezTo>
                <a:cubicBezTo>
                  <a:pt x="1381986" y="139303"/>
                  <a:pt x="1399753" y="146447"/>
                  <a:pt x="1417520" y="110728"/>
                </a:cubicBezTo>
                <a:cubicBezTo>
                  <a:pt x="1293152" y="78581"/>
                  <a:pt x="1172337" y="35719"/>
                  <a:pt x="1047969" y="0"/>
                </a:cubicBezTo>
                <a:close/>
              </a:path>
            </a:pathLst>
          </a:custGeom>
        </p:spPr>
      </p:pic>
      <p:pic>
        <p:nvPicPr>
          <p:cNvPr id="2052" name="Picture 4" descr="Aspetar Sports Medicine Journal - Folk medicine in the Arabian Gulf">
            <a:extLst>
              <a:ext uri="{FF2B5EF4-FFF2-40B4-BE49-F238E27FC236}">
                <a16:creationId xmlns:a16="http://schemas.microsoft.com/office/drawing/2014/main" id="{BC4C54C6-7AD8-0F27-1945-9D68A990091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882" b="1"/>
          <a:stretch/>
        </p:blipFill>
        <p:spPr bwMode="auto">
          <a:xfrm>
            <a:off x="4726728" y="3802961"/>
            <a:ext cx="7472381" cy="3055043"/>
          </a:xfrm>
          <a:custGeom>
            <a:avLst/>
            <a:gdLst/>
            <a:ahLst/>
            <a:cxnLst/>
            <a:rect l="l" t="t" r="r" b="b"/>
            <a:pathLst>
              <a:path w="7472381" h="3055043">
                <a:moveTo>
                  <a:pt x="638975" y="0"/>
                </a:moveTo>
                <a:lnTo>
                  <a:pt x="7472381" y="0"/>
                </a:lnTo>
                <a:lnTo>
                  <a:pt x="7472381" y="2579984"/>
                </a:lnTo>
                <a:lnTo>
                  <a:pt x="7472381" y="3055043"/>
                </a:lnTo>
                <a:lnTo>
                  <a:pt x="6992676" y="3055043"/>
                </a:lnTo>
                <a:lnTo>
                  <a:pt x="1946893" y="3055043"/>
                </a:lnTo>
                <a:cubicBezTo>
                  <a:pt x="1801205" y="2983605"/>
                  <a:pt x="1662624" y="2897880"/>
                  <a:pt x="1506276" y="2855018"/>
                </a:cubicBezTo>
                <a:cubicBezTo>
                  <a:pt x="1399675" y="2826443"/>
                  <a:pt x="1296627" y="2776437"/>
                  <a:pt x="1314394" y="2626417"/>
                </a:cubicBezTo>
                <a:cubicBezTo>
                  <a:pt x="1317947" y="2583555"/>
                  <a:pt x="1289520" y="2551409"/>
                  <a:pt x="1246880" y="2562124"/>
                </a:cubicBezTo>
                <a:cubicBezTo>
                  <a:pt x="1165153" y="2583555"/>
                  <a:pt x="1126065" y="2522833"/>
                  <a:pt x="1079872" y="2476399"/>
                </a:cubicBezTo>
                <a:cubicBezTo>
                  <a:pt x="998144" y="2394247"/>
                  <a:pt x="919970" y="2308520"/>
                  <a:pt x="788495" y="2294233"/>
                </a:cubicBezTo>
                <a:cubicBezTo>
                  <a:pt x="813369" y="2229939"/>
                  <a:pt x="856009" y="2237083"/>
                  <a:pt x="895097" y="2251371"/>
                </a:cubicBezTo>
                <a:cubicBezTo>
                  <a:pt x="998144" y="2287090"/>
                  <a:pt x="1101192" y="2326380"/>
                  <a:pt x="1204239" y="2362099"/>
                </a:cubicBezTo>
                <a:cubicBezTo>
                  <a:pt x="1271754" y="2383530"/>
                  <a:pt x="1339267" y="2415677"/>
                  <a:pt x="1428102" y="2390674"/>
                </a:cubicBezTo>
                <a:cubicBezTo>
                  <a:pt x="1349928" y="2262087"/>
                  <a:pt x="1218453" y="2237083"/>
                  <a:pt x="1111852" y="2197793"/>
                </a:cubicBezTo>
                <a:cubicBezTo>
                  <a:pt x="980377" y="2147787"/>
                  <a:pt x="902203" y="2054918"/>
                  <a:pt x="806262" y="1947762"/>
                </a:cubicBezTo>
                <a:cubicBezTo>
                  <a:pt x="902203" y="1919187"/>
                  <a:pt x="962610" y="1997768"/>
                  <a:pt x="1040785" y="1994196"/>
                </a:cubicBezTo>
                <a:cubicBezTo>
                  <a:pt x="1044338" y="1983480"/>
                  <a:pt x="1051445" y="1962049"/>
                  <a:pt x="1051445" y="1962049"/>
                </a:cubicBezTo>
                <a:cubicBezTo>
                  <a:pt x="923523" y="1904899"/>
                  <a:pt x="866670" y="1797743"/>
                  <a:pt x="845349" y="1665583"/>
                </a:cubicBezTo>
                <a:cubicBezTo>
                  <a:pt x="838243" y="1597718"/>
                  <a:pt x="792049" y="1576287"/>
                  <a:pt x="745855" y="1544140"/>
                </a:cubicBezTo>
                <a:cubicBezTo>
                  <a:pt x="589507" y="1433411"/>
                  <a:pt x="422499" y="1333399"/>
                  <a:pt x="291024" y="1183381"/>
                </a:cubicBezTo>
                <a:cubicBezTo>
                  <a:pt x="443819" y="1201239"/>
                  <a:pt x="564633" y="1301252"/>
                  <a:pt x="724535" y="1344115"/>
                </a:cubicBezTo>
                <a:cubicBezTo>
                  <a:pt x="596614" y="1179808"/>
                  <a:pt x="429605" y="1094083"/>
                  <a:pt x="276811" y="994071"/>
                </a:cubicBezTo>
                <a:cubicBezTo>
                  <a:pt x="205743" y="947637"/>
                  <a:pt x="141783" y="890486"/>
                  <a:pt x="60055" y="865484"/>
                </a:cubicBezTo>
                <a:cubicBezTo>
                  <a:pt x="31628" y="858340"/>
                  <a:pt x="-18119" y="840481"/>
                  <a:pt x="6755" y="790474"/>
                </a:cubicBezTo>
                <a:cubicBezTo>
                  <a:pt x="28075" y="747612"/>
                  <a:pt x="67162" y="761900"/>
                  <a:pt x="102696" y="772614"/>
                </a:cubicBezTo>
                <a:cubicBezTo>
                  <a:pt x="187976" y="801190"/>
                  <a:pt x="280364" y="801190"/>
                  <a:pt x="397625" y="801190"/>
                </a:cubicBezTo>
                <a:cubicBezTo>
                  <a:pt x="298131" y="665458"/>
                  <a:pt x="116909" y="708321"/>
                  <a:pt x="31628" y="565446"/>
                </a:cubicBezTo>
                <a:cubicBezTo>
                  <a:pt x="138229" y="540444"/>
                  <a:pt x="219957" y="590450"/>
                  <a:pt x="305237" y="601165"/>
                </a:cubicBezTo>
                <a:cubicBezTo>
                  <a:pt x="383412" y="611881"/>
                  <a:pt x="401178" y="586877"/>
                  <a:pt x="383412" y="508296"/>
                </a:cubicBezTo>
                <a:cubicBezTo>
                  <a:pt x="354985" y="386853"/>
                  <a:pt x="397625" y="326130"/>
                  <a:pt x="511333" y="358278"/>
                </a:cubicBezTo>
                <a:cubicBezTo>
                  <a:pt x="617934" y="390424"/>
                  <a:pt x="628594" y="343990"/>
                  <a:pt x="600167" y="276124"/>
                </a:cubicBezTo>
                <a:cubicBezTo>
                  <a:pt x="557527" y="176112"/>
                  <a:pt x="603720" y="97531"/>
                  <a:pt x="635701" y="11805"/>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1503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63A12D-F8D6-475A-9A90-AF536698834F}"/>
              </a:ext>
            </a:extLst>
          </p:cNvPr>
          <p:cNvSpPr>
            <a:spLocks noGrp="1"/>
          </p:cNvSpPr>
          <p:nvPr>
            <p:ph type="title"/>
          </p:nvPr>
        </p:nvSpPr>
        <p:spPr>
          <a:xfrm>
            <a:off x="838201" y="365125"/>
            <a:ext cx="5251316" cy="1807305"/>
          </a:xfrm>
        </p:spPr>
        <p:txBody>
          <a:bodyPr>
            <a:normAutofit/>
          </a:bodyPr>
          <a:lstStyle/>
          <a:p>
            <a:r>
              <a:rPr lang="en-US" altLang="en-US" b="1" dirty="0"/>
              <a:t>Herbalism</a:t>
            </a:r>
            <a:endParaRPr lang="en-US" b="1" dirty="0"/>
          </a:p>
        </p:txBody>
      </p:sp>
      <p:sp>
        <p:nvSpPr>
          <p:cNvPr id="3" name="Content Placeholder 2">
            <a:extLst>
              <a:ext uri="{FF2B5EF4-FFF2-40B4-BE49-F238E27FC236}">
                <a16:creationId xmlns:a16="http://schemas.microsoft.com/office/drawing/2014/main" id="{D8AC29EF-D2FB-4FE5-ADC1-D9F204D5DE24}"/>
              </a:ext>
            </a:extLst>
          </p:cNvPr>
          <p:cNvSpPr>
            <a:spLocks noGrp="1"/>
          </p:cNvSpPr>
          <p:nvPr>
            <p:ph idx="1"/>
          </p:nvPr>
        </p:nvSpPr>
        <p:spPr>
          <a:xfrm>
            <a:off x="838200" y="2333297"/>
            <a:ext cx="4619621" cy="3843666"/>
          </a:xfrm>
        </p:spPr>
        <p:txBody>
          <a:bodyPr>
            <a:normAutofit/>
          </a:bodyPr>
          <a:lstStyle/>
          <a:p>
            <a:r>
              <a:rPr lang="en-US" sz="2000" dirty="0"/>
              <a:t>Herbs are not regulated as drugs and are not risk free.</a:t>
            </a:r>
          </a:p>
          <a:p>
            <a:r>
              <a:rPr lang="en-US" sz="2000" dirty="0"/>
              <a:t>Dosages are not standardized and are left to the individual.</a:t>
            </a:r>
          </a:p>
          <a:p>
            <a:r>
              <a:rPr lang="en-US" sz="2000" dirty="0"/>
              <a:t>Quality of the product may be suspect.</a:t>
            </a:r>
          </a:p>
          <a:p>
            <a:r>
              <a:rPr lang="en-US" sz="2000" dirty="0"/>
              <a:t>Herbs must be used only in moderation and with caution, preferably with guidance by a health care practitioner.</a:t>
            </a:r>
          </a:p>
          <a:p>
            <a:endParaRPr lang="en-US" sz="2000" dirty="0"/>
          </a:p>
        </p:txBody>
      </p:sp>
      <p:pic>
        <p:nvPicPr>
          <p:cNvPr id="4" name="Picture 3">
            <a:extLst>
              <a:ext uri="{FF2B5EF4-FFF2-40B4-BE49-F238E27FC236}">
                <a16:creationId xmlns:a16="http://schemas.microsoft.com/office/drawing/2014/main" id="{DF7AFA0E-1711-49BC-90F3-4216BD707D99}"/>
              </a:ext>
            </a:extLst>
          </p:cNvPr>
          <p:cNvPicPr>
            <a:picLocks noChangeAspect="1"/>
          </p:cNvPicPr>
          <p:nvPr/>
        </p:nvPicPr>
        <p:blipFill>
          <a:blip r:embed="rId3"/>
          <a:srcRect t="13740"/>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7636472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le of pills and capsules&#10;&#10;Description automatically generated">
            <a:extLst>
              <a:ext uri="{FF2B5EF4-FFF2-40B4-BE49-F238E27FC236}">
                <a16:creationId xmlns:a16="http://schemas.microsoft.com/office/drawing/2014/main" id="{C225A239-2DFD-0B56-E5B4-0D76DF63752B}"/>
              </a:ext>
            </a:extLst>
          </p:cNvPr>
          <p:cNvPicPr>
            <a:picLocks noChangeAspect="1"/>
          </p:cNvPicPr>
          <p:nvPr/>
        </p:nvPicPr>
        <p:blipFill rotWithShape="1">
          <a:blip r:embed="rId3"/>
          <a:srcRect l="435" r="7564" b="1"/>
          <a:stretch/>
        </p:blipFill>
        <p:spPr>
          <a:xfrm>
            <a:off x="2522356" y="10"/>
            <a:ext cx="9669642" cy="6857990"/>
          </a:xfrm>
          <a:prstGeom prst="rect">
            <a:avLst/>
          </a:prstGeom>
        </p:spPr>
      </p:pic>
      <p:sp>
        <p:nvSpPr>
          <p:cNvPr id="27" name="Rectangle 26">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A2C61FA-5D65-4768-BA9C-4D8B74E36E7A}"/>
              </a:ext>
            </a:extLst>
          </p:cNvPr>
          <p:cNvSpPr>
            <a:spLocks noGrp="1"/>
          </p:cNvSpPr>
          <p:nvPr>
            <p:ph type="title"/>
          </p:nvPr>
        </p:nvSpPr>
        <p:spPr>
          <a:xfrm>
            <a:off x="838200" y="365125"/>
            <a:ext cx="3822189" cy="1899912"/>
          </a:xfrm>
        </p:spPr>
        <p:txBody>
          <a:bodyPr>
            <a:normAutofit/>
          </a:bodyPr>
          <a:lstStyle/>
          <a:p>
            <a:r>
              <a:rPr lang="en-US" altLang="en-US" sz="3100" b="1" dirty="0"/>
              <a:t>Prescription and over-the-counter drugs</a:t>
            </a:r>
            <a:br>
              <a:rPr lang="en-US" altLang="en-US" sz="3100" b="1" dirty="0"/>
            </a:br>
            <a:endParaRPr lang="en-US" sz="3100" b="1" dirty="0"/>
          </a:p>
        </p:txBody>
      </p:sp>
      <p:sp>
        <p:nvSpPr>
          <p:cNvPr id="3" name="Content Placeholder 2">
            <a:extLst>
              <a:ext uri="{FF2B5EF4-FFF2-40B4-BE49-F238E27FC236}">
                <a16:creationId xmlns:a16="http://schemas.microsoft.com/office/drawing/2014/main" id="{DA454B19-0BF7-44E5-847C-3A092B775C73}"/>
              </a:ext>
            </a:extLst>
          </p:cNvPr>
          <p:cNvSpPr>
            <a:spLocks noGrp="1"/>
          </p:cNvSpPr>
          <p:nvPr>
            <p:ph idx="1"/>
          </p:nvPr>
        </p:nvSpPr>
        <p:spPr>
          <a:xfrm>
            <a:off x="838200" y="2434201"/>
            <a:ext cx="3822189" cy="3742762"/>
          </a:xfrm>
        </p:spPr>
        <p:txBody>
          <a:bodyPr>
            <a:normAutofit/>
          </a:bodyPr>
          <a:lstStyle/>
          <a:p>
            <a:r>
              <a:rPr lang="en-US" sz="2000" dirty="0"/>
              <a:t>OTC are not risk free. </a:t>
            </a:r>
          </a:p>
          <a:p>
            <a:r>
              <a:rPr lang="en-US" sz="2000" dirty="0"/>
              <a:t>The safety and efficacy of medications must be assessed. </a:t>
            </a:r>
          </a:p>
        </p:txBody>
      </p:sp>
    </p:spTree>
    <p:extLst>
      <p:ext uri="{BB962C8B-B14F-4D97-AF65-F5344CB8AC3E}">
        <p14:creationId xmlns:p14="http://schemas.microsoft.com/office/powerpoint/2010/main" val="32500453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noChangeArrowheads="1"/>
          </p:cNvSpPr>
          <p:nvPr>
            <p:ph type="title"/>
          </p:nvPr>
        </p:nvSpPr>
        <p:spPr>
          <a:xfrm>
            <a:off x="876693" y="741391"/>
            <a:ext cx="4355265" cy="1616203"/>
          </a:xfrm>
        </p:spPr>
        <p:txBody>
          <a:bodyPr anchor="b">
            <a:normAutofit/>
          </a:bodyPr>
          <a:lstStyle/>
          <a:p>
            <a:pPr eaLnBrk="1" hangingPunct="1">
              <a:defRPr/>
            </a:pPr>
            <a:r>
              <a:rPr lang="en-US" sz="3200" b="1" dirty="0"/>
              <a:t>Question #2</a:t>
            </a:r>
          </a:p>
        </p:txBody>
      </p:sp>
      <p:sp>
        <p:nvSpPr>
          <p:cNvPr id="14339" name="Rectangle 3"/>
          <p:cNvSpPr>
            <a:spLocks noGrp="1" noChangeArrowheads="1"/>
          </p:cNvSpPr>
          <p:nvPr>
            <p:ph idx="1"/>
          </p:nvPr>
        </p:nvSpPr>
        <p:spPr>
          <a:xfrm>
            <a:off x="876692" y="2533476"/>
            <a:ext cx="4355265" cy="3447832"/>
          </a:xfrm>
        </p:spPr>
        <p:txBody>
          <a:bodyPr anchor="t">
            <a:normAutofit/>
          </a:bodyPr>
          <a:lstStyle/>
          <a:p>
            <a:pPr marL="419100" indent="-419100"/>
            <a:r>
              <a:rPr lang="en-US" altLang="en-US" sz="2000" dirty="0"/>
              <a:t>Which would characterize a culture?</a:t>
            </a:r>
          </a:p>
          <a:p>
            <a:pPr marL="914400" lvl="1" indent="-457200">
              <a:buFont typeface="+mj-lt"/>
              <a:buAutoNum type="alphaUcPeriod"/>
            </a:pPr>
            <a:r>
              <a:rPr lang="en-US" altLang="en-US" sz="2000" dirty="0"/>
              <a:t>Inherited </a:t>
            </a:r>
          </a:p>
          <a:p>
            <a:pPr marL="914400" lvl="1" indent="-457200">
              <a:buFont typeface="+mj-lt"/>
              <a:buAutoNum type="alphaUcPeriod"/>
            </a:pPr>
            <a:r>
              <a:rPr lang="en-US" altLang="en-US" sz="2000" dirty="0"/>
              <a:t>Static</a:t>
            </a:r>
          </a:p>
          <a:p>
            <a:pPr marL="914400" lvl="1" indent="-457200">
              <a:buFont typeface="+mj-lt"/>
              <a:buAutoNum type="alphaUcPeriod"/>
            </a:pPr>
            <a:r>
              <a:rPr lang="en-US" altLang="en-US" sz="2000" dirty="0"/>
              <a:t>Individualized</a:t>
            </a:r>
          </a:p>
          <a:p>
            <a:pPr marL="914400" lvl="1" indent="-457200">
              <a:buFont typeface="+mj-lt"/>
              <a:buAutoNum type="alphaUcPeriod"/>
            </a:pPr>
            <a:r>
              <a:rPr lang="en-US" altLang="en-US" sz="2000" dirty="0"/>
              <a:t>Tacit</a:t>
            </a:r>
          </a:p>
        </p:txBody>
      </p:sp>
      <p:pic>
        <p:nvPicPr>
          <p:cNvPr id="2" name="Picture 1">
            <a:extLst>
              <a:ext uri="{FF2B5EF4-FFF2-40B4-BE49-F238E27FC236}">
                <a16:creationId xmlns:a16="http://schemas.microsoft.com/office/drawing/2014/main" id="{A4129628-F68B-CAC4-7ED3-A41289362855}"/>
              </a:ext>
            </a:extLst>
          </p:cNvPr>
          <p:cNvPicPr>
            <a:picLocks noChangeAspect="1"/>
          </p:cNvPicPr>
          <p:nvPr/>
        </p:nvPicPr>
        <p:blipFill rotWithShape="1">
          <a:blip r:embed="rId3"/>
          <a:srcRect l="11111"/>
          <a:stretch/>
        </p:blipFill>
        <p:spPr>
          <a:xfrm>
            <a:off x="6096000" y="10"/>
            <a:ext cx="6095999" cy="6857990"/>
          </a:xfrm>
          <a:prstGeom prst="rect">
            <a:avLst/>
          </a:prstGeom>
        </p:spPr>
      </p:pic>
    </p:spTree>
    <p:extLst>
      <p:ext uri="{BB962C8B-B14F-4D97-AF65-F5344CB8AC3E}">
        <p14:creationId xmlns:p14="http://schemas.microsoft.com/office/powerpoint/2010/main" val="9010312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p:cNvSpPr>
            <a:spLocks noGrp="1" noChangeArrowheads="1"/>
          </p:cNvSpPr>
          <p:nvPr>
            <p:ph type="title"/>
          </p:nvPr>
        </p:nvSpPr>
        <p:spPr>
          <a:xfrm>
            <a:off x="1957389" y="606934"/>
            <a:ext cx="8524875" cy="553998"/>
          </a:xfrm>
        </p:spPr>
        <p:txBody>
          <a:bodyPr>
            <a:normAutofit fontScale="90000"/>
          </a:bodyPr>
          <a:lstStyle/>
          <a:p>
            <a:pPr eaLnBrk="1" hangingPunct="1">
              <a:defRPr/>
            </a:pPr>
            <a:r>
              <a:rPr lang="en-US" sz="4000" dirty="0"/>
              <a:t>Answer to Question #2</a:t>
            </a:r>
          </a:p>
        </p:txBody>
      </p:sp>
      <p:sp>
        <p:nvSpPr>
          <p:cNvPr id="15363" name="Rectangle 3"/>
          <p:cNvSpPr>
            <a:spLocks noGrp="1" noChangeArrowheads="1"/>
          </p:cNvSpPr>
          <p:nvPr>
            <p:ph idx="1"/>
          </p:nvPr>
        </p:nvSpPr>
        <p:spPr>
          <a:xfrm>
            <a:off x="2128745" y="1543424"/>
            <a:ext cx="7546975" cy="3686175"/>
          </a:xfrm>
        </p:spPr>
        <p:txBody>
          <a:bodyPr/>
          <a:lstStyle/>
          <a:p>
            <a:pPr marL="0" indent="0">
              <a:buNone/>
            </a:pPr>
            <a:r>
              <a:rPr lang="en-US" altLang="en-US" b="1" dirty="0"/>
              <a:t>D. Tacit</a:t>
            </a:r>
          </a:p>
          <a:p>
            <a:pPr eaLnBrk="1" hangingPunct="1"/>
            <a:endParaRPr lang="en-US" altLang="en-US" dirty="0"/>
          </a:p>
          <a:p>
            <a:pPr eaLnBrk="1" hangingPunct="1"/>
            <a:r>
              <a:rPr lang="en-US" altLang="en-US" dirty="0"/>
              <a:t>Rationale: Culture is learned, integrated, shared, mostly tacit, and dynamic.</a:t>
            </a:r>
          </a:p>
        </p:txBody>
      </p:sp>
      <p:pic>
        <p:nvPicPr>
          <p:cNvPr id="2" name="Picture 1">
            <a:extLst>
              <a:ext uri="{FF2B5EF4-FFF2-40B4-BE49-F238E27FC236}">
                <a16:creationId xmlns:a16="http://schemas.microsoft.com/office/drawing/2014/main" id="{28D817A1-9BF3-F6ED-2338-19820EFFC372}"/>
              </a:ext>
            </a:extLst>
          </p:cNvPr>
          <p:cNvPicPr>
            <a:picLocks noChangeAspect="1"/>
          </p:cNvPicPr>
          <p:nvPr/>
        </p:nvPicPr>
        <p:blipFill>
          <a:blip r:embed="rId2"/>
          <a:stretch>
            <a:fillRect/>
          </a:stretch>
        </p:blipFill>
        <p:spPr>
          <a:xfrm>
            <a:off x="6605822" y="3952725"/>
            <a:ext cx="4596682" cy="2298341"/>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p:cNvSpPr>
            <a:spLocks noGrp="1" noChangeArrowheads="1"/>
          </p:cNvSpPr>
          <p:nvPr>
            <p:ph type="title"/>
          </p:nvPr>
        </p:nvSpPr>
        <p:spPr>
          <a:xfrm>
            <a:off x="1610388" y="912470"/>
            <a:ext cx="8524875" cy="775597"/>
          </a:xfrm>
        </p:spPr>
        <p:txBody>
          <a:bodyPr>
            <a:normAutofit fontScale="90000"/>
          </a:bodyPr>
          <a:lstStyle/>
          <a:p>
            <a:pPr algn="ctr" eaLnBrk="1" hangingPunct="1">
              <a:defRPr/>
            </a:pPr>
            <a:r>
              <a:rPr lang="en-US" b="1" dirty="0">
                <a:solidFill>
                  <a:schemeClr val="accent2"/>
                </a:solidFill>
                <a:latin typeface="Algerian" panose="04020705040A02060702" pitchFamily="82" charset="0"/>
              </a:rPr>
              <a:t>Activity: </a:t>
            </a:r>
            <a:br>
              <a:rPr lang="en-US" b="1" dirty="0">
                <a:solidFill>
                  <a:schemeClr val="accent2"/>
                </a:solidFill>
                <a:latin typeface="Algerian" panose="04020705040A02060702" pitchFamily="82" charset="0"/>
              </a:rPr>
            </a:br>
            <a:r>
              <a:rPr lang="en-US" b="1" dirty="0">
                <a:solidFill>
                  <a:srgbClr val="C00000"/>
                </a:solidFill>
              </a:rPr>
              <a:t>Select a  Cultural Community and discuss the following:</a:t>
            </a:r>
          </a:p>
        </p:txBody>
      </p:sp>
      <p:sp>
        <p:nvSpPr>
          <p:cNvPr id="18435" name="Rectangle 3"/>
          <p:cNvSpPr>
            <a:spLocks noGrp="1" noChangeArrowheads="1"/>
          </p:cNvSpPr>
          <p:nvPr>
            <p:ph idx="1"/>
          </p:nvPr>
        </p:nvSpPr>
        <p:spPr>
          <a:xfrm>
            <a:off x="355601" y="2552479"/>
            <a:ext cx="6224104" cy="3686175"/>
          </a:xfrm>
        </p:spPr>
        <p:txBody>
          <a:bodyPr>
            <a:normAutofit/>
          </a:bodyPr>
          <a:lstStyle/>
          <a:p>
            <a:pPr lvl="1" eaLnBrk="1" hangingPunct="1">
              <a:lnSpc>
                <a:spcPct val="150000"/>
              </a:lnSpc>
              <a:buFont typeface="Wingdings" panose="05000000000000000000" pitchFamily="2" charset="2"/>
              <a:buChar char="ü"/>
            </a:pPr>
            <a:r>
              <a:rPr lang="en-US" altLang="en-US" sz="3200" dirty="0"/>
              <a:t>Population characteristics and culture</a:t>
            </a:r>
          </a:p>
          <a:p>
            <a:pPr lvl="1" eaLnBrk="1" hangingPunct="1">
              <a:lnSpc>
                <a:spcPct val="150000"/>
              </a:lnSpc>
              <a:buFont typeface="Wingdings" panose="05000000000000000000" pitchFamily="2" charset="2"/>
              <a:buChar char="ü"/>
            </a:pPr>
            <a:r>
              <a:rPr lang="en-US" altLang="en-US" sz="3200" dirty="0"/>
              <a:t>Health problems</a:t>
            </a:r>
          </a:p>
          <a:p>
            <a:pPr lvl="1" eaLnBrk="1" hangingPunct="1">
              <a:lnSpc>
                <a:spcPct val="150000"/>
              </a:lnSpc>
              <a:buFont typeface="Wingdings" panose="05000000000000000000" pitchFamily="2" charset="2"/>
              <a:buChar char="ü"/>
            </a:pPr>
            <a:r>
              <a:rPr lang="en-US" altLang="en-US" sz="3200" dirty="0"/>
              <a:t>Health beliefs and practices</a:t>
            </a:r>
          </a:p>
        </p:txBody>
      </p:sp>
      <p:pic>
        <p:nvPicPr>
          <p:cNvPr id="2" name="Picture 1">
            <a:extLst>
              <a:ext uri="{FF2B5EF4-FFF2-40B4-BE49-F238E27FC236}">
                <a16:creationId xmlns:a16="http://schemas.microsoft.com/office/drawing/2014/main" id="{CFBCBCDE-27F9-7743-258C-4CE0C5133C2D}"/>
              </a:ext>
            </a:extLst>
          </p:cNvPr>
          <p:cNvPicPr>
            <a:picLocks noChangeAspect="1"/>
          </p:cNvPicPr>
          <p:nvPr/>
        </p:nvPicPr>
        <p:blipFill>
          <a:blip r:embed="rId2"/>
          <a:stretch>
            <a:fillRect/>
          </a:stretch>
        </p:blipFill>
        <p:spPr>
          <a:xfrm>
            <a:off x="6796599" y="3272313"/>
            <a:ext cx="3927944" cy="224650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A16F2-3B13-431D-8C76-7E8F63C151E2}"/>
              </a:ext>
            </a:extLst>
          </p:cNvPr>
          <p:cNvSpPr>
            <a:spLocks noGrp="1"/>
          </p:cNvSpPr>
          <p:nvPr>
            <p:ph type="title"/>
          </p:nvPr>
        </p:nvSpPr>
        <p:spPr>
          <a:xfrm>
            <a:off x="643468" y="643467"/>
            <a:ext cx="4620584" cy="4567137"/>
          </a:xfrm>
        </p:spPr>
        <p:txBody>
          <a:bodyPr vert="horz" lIns="91440" tIns="45720" rIns="91440" bIns="45720" rtlCol="0" anchor="b">
            <a:normAutofit/>
          </a:bodyPr>
          <a:lstStyle/>
          <a:p>
            <a:pPr algn="ctr"/>
            <a:r>
              <a:rPr lang="en-US" b="1" dirty="0"/>
              <a:t>Example: </a:t>
            </a:r>
            <a:br>
              <a:rPr lang="en-US" b="1" dirty="0"/>
            </a:br>
            <a:r>
              <a:rPr lang="en-US" dirty="0"/>
              <a:t>Arab Populations and Muslims</a:t>
            </a:r>
            <a:br>
              <a:rPr lang="en-US" dirty="0"/>
            </a:br>
            <a:endParaRPr lang="en-US" dirty="0"/>
          </a:p>
        </p:txBody>
      </p:sp>
      <p:pic>
        <p:nvPicPr>
          <p:cNvPr id="5" name="Picture 4">
            <a:extLst>
              <a:ext uri="{FF2B5EF4-FFF2-40B4-BE49-F238E27FC236}">
                <a16:creationId xmlns:a16="http://schemas.microsoft.com/office/drawing/2014/main" id="{04F89884-72EA-4CE1-93D4-55108B6B51BA}"/>
              </a:ext>
            </a:extLst>
          </p:cNvPr>
          <p:cNvPicPr>
            <a:picLocks noChangeAspect="1"/>
          </p:cNvPicPr>
          <p:nvPr/>
        </p:nvPicPr>
        <p:blipFill rotWithShape="1">
          <a:blip r:embed="rId2"/>
          <a:srcRect r="-2" b="16614"/>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4" name="AutoShape 2" descr="Rector-ch005-unimage012">
            <a:extLst>
              <a:ext uri="{FF2B5EF4-FFF2-40B4-BE49-F238E27FC236}">
                <a16:creationId xmlns:a16="http://schemas.microsoft.com/office/drawing/2014/main" id="{A24E484F-5CE4-4D57-B792-412F747C139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6627137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5">
            <a:extLst>
              <a:ext uri="{FF2B5EF4-FFF2-40B4-BE49-F238E27FC236}">
                <a16:creationId xmlns:a16="http://schemas.microsoft.com/office/drawing/2014/main" id="{9FC9E537-94DA-41BB-9CCA-75F2CC0BE22C}"/>
              </a:ext>
            </a:extLst>
          </p:cNvPr>
          <p:cNvGraphicFramePr>
            <a:graphicFrameLocks noGrp="1"/>
          </p:cNvGraphicFramePr>
          <p:nvPr/>
        </p:nvGraphicFramePr>
        <p:xfrm>
          <a:off x="2112398" y="1240403"/>
          <a:ext cx="7712764" cy="4946360"/>
        </p:xfrm>
        <a:graphic>
          <a:graphicData uri="http://schemas.openxmlformats.org/drawingml/2006/table">
            <a:tbl>
              <a:tblPr firstRow="1" bandRow="1">
                <a:tableStyleId>{5C22544A-7EE6-4342-B048-85BDC9FD1C3A}</a:tableStyleId>
              </a:tblPr>
              <a:tblGrid>
                <a:gridCol w="7712764">
                  <a:extLst>
                    <a:ext uri="{9D8B030D-6E8A-4147-A177-3AD203B41FA5}">
                      <a16:colId xmlns:a16="http://schemas.microsoft.com/office/drawing/2014/main" val="3051119313"/>
                    </a:ext>
                  </a:extLst>
                </a:gridCol>
              </a:tblGrid>
              <a:tr h="4946360">
                <a:tc>
                  <a:txBody>
                    <a:bodyPr/>
                    <a:lstStyle/>
                    <a:p>
                      <a:pPr marL="0" indent="0" algn="l" rtl="0" eaLnBrk="0" fontAlgn="base" hangingPunct="0">
                        <a:lnSpc>
                          <a:spcPct val="90000"/>
                        </a:lnSpc>
                        <a:spcBef>
                          <a:spcPct val="60000"/>
                        </a:spcBef>
                        <a:spcAft>
                          <a:spcPct val="0"/>
                        </a:spcAft>
                        <a:buClr>
                          <a:srgbClr val="CC9900"/>
                        </a:buClr>
                        <a:buFont typeface="Wingdings" panose="05000000000000000000" pitchFamily="2" charset="2"/>
                        <a:buNone/>
                      </a:pPr>
                      <a:r>
                        <a:rPr lang="en-US" sz="1800" b="1" u="sng" dirty="0">
                          <a:solidFill>
                            <a:schemeClr val="tx1"/>
                          </a:solidFill>
                          <a:latin typeface="+mn-lt"/>
                          <a:ea typeface="+mn-ea"/>
                          <a:cs typeface="+mn-cs"/>
                        </a:rPr>
                        <a:t>Population Characteristics and Culture:</a:t>
                      </a:r>
                    </a:p>
                    <a:p>
                      <a:pPr marL="0" indent="0" algn="l" rtl="0" eaLnBrk="0" fontAlgn="base" hangingPunct="0">
                        <a:lnSpc>
                          <a:spcPct val="90000"/>
                        </a:lnSpc>
                        <a:spcBef>
                          <a:spcPct val="60000"/>
                        </a:spcBef>
                        <a:spcAft>
                          <a:spcPct val="0"/>
                        </a:spcAft>
                        <a:buClr>
                          <a:srgbClr val="CC9900"/>
                        </a:buClr>
                        <a:buFont typeface="Wingdings" panose="05000000000000000000" pitchFamily="2" charset="2"/>
                        <a:buNone/>
                      </a:pPr>
                      <a:endParaRPr lang="en-US" sz="1800" b="1" u="sng" dirty="0">
                        <a:solidFill>
                          <a:schemeClr val="tx1"/>
                        </a:solidFill>
                        <a:latin typeface="+mn-lt"/>
                        <a:ea typeface="+mn-ea"/>
                        <a:cs typeface="+mn-cs"/>
                      </a:endParaRPr>
                    </a:p>
                    <a:p>
                      <a:pPr marL="285750" indent="-285750">
                        <a:buFont typeface="Wingdings" panose="05000000000000000000" pitchFamily="2" charset="2"/>
                        <a:buChar char="ü"/>
                      </a:pPr>
                      <a:r>
                        <a:rPr lang="en-US" sz="1600" b="0" i="0" kern="1200" dirty="0">
                          <a:solidFill>
                            <a:schemeClr val="tx1">
                              <a:lumMod val="95000"/>
                              <a:lumOff val="5000"/>
                            </a:schemeClr>
                          </a:solidFill>
                          <a:effectLst/>
                          <a:latin typeface="Times New Roman" panose="02020603050405020304" pitchFamily="18" charset="0"/>
                          <a:ea typeface="+mn-ea"/>
                          <a:cs typeface="+mn-cs"/>
                        </a:rPr>
                        <a:t>A common language (Arabic).</a:t>
                      </a:r>
                    </a:p>
                    <a:p>
                      <a:pPr marL="285750" indent="-285750">
                        <a:buFont typeface="Wingdings" panose="05000000000000000000" pitchFamily="2" charset="2"/>
                        <a:buChar char="ü"/>
                      </a:pPr>
                      <a:r>
                        <a:rPr lang="en-US" sz="1600" b="0" i="0" kern="1200" dirty="0">
                          <a:solidFill>
                            <a:schemeClr val="tx1">
                              <a:lumMod val="95000"/>
                              <a:lumOff val="5000"/>
                            </a:schemeClr>
                          </a:solidFill>
                          <a:effectLst/>
                          <a:latin typeface="Times New Roman" panose="02020603050405020304" pitchFamily="18" charset="0"/>
                          <a:ea typeface="+mn-ea"/>
                          <a:cs typeface="+mn-cs"/>
                        </a:rPr>
                        <a:t>Arabs are largely Christian or Muslim, although some Arabs may be Jews or Druze.</a:t>
                      </a:r>
                    </a:p>
                    <a:p>
                      <a:pPr marL="285750" indent="-285750">
                        <a:buFont typeface="Wingdings" panose="05000000000000000000" pitchFamily="2" charset="2"/>
                        <a:buChar char="ü"/>
                      </a:pPr>
                      <a:r>
                        <a:rPr lang="en-US" sz="1600" b="0" i="0" kern="1200" dirty="0">
                          <a:solidFill>
                            <a:schemeClr val="tx1">
                              <a:lumMod val="95000"/>
                              <a:lumOff val="5000"/>
                            </a:schemeClr>
                          </a:solidFill>
                          <a:effectLst/>
                          <a:latin typeface="Times New Roman" panose="02020603050405020304" pitchFamily="18" charset="0"/>
                          <a:ea typeface="+mn-ea"/>
                          <a:cs typeface="+mn-cs"/>
                        </a:rPr>
                        <a:t>Arabs generally value Western medicine, trust health care workers, and do not generally postpone seeking medical care</a:t>
                      </a:r>
                    </a:p>
                    <a:p>
                      <a:pPr marL="285750" indent="-285750">
                        <a:buFont typeface="Wingdings" panose="05000000000000000000" pitchFamily="2" charset="2"/>
                        <a:buChar char="ü"/>
                      </a:pPr>
                      <a:r>
                        <a:rPr lang="en-US" sz="1600" b="0" i="0" kern="1200" dirty="0">
                          <a:solidFill>
                            <a:schemeClr val="tx1">
                              <a:lumMod val="95000"/>
                              <a:lumOff val="5000"/>
                            </a:schemeClr>
                          </a:solidFill>
                          <a:effectLst/>
                          <a:latin typeface="Times New Roman" panose="02020603050405020304" pitchFamily="18" charset="0"/>
                          <a:ea typeface="+mn-ea"/>
                          <a:cs typeface="+mn-cs"/>
                        </a:rPr>
                        <a:t>Many Arabic women stay at home and are not in the workforce. </a:t>
                      </a:r>
                    </a:p>
                    <a:p>
                      <a:pPr marL="285750" indent="-285750">
                        <a:buFont typeface="Wingdings" panose="05000000000000000000" pitchFamily="2" charset="2"/>
                        <a:buChar char="ü"/>
                      </a:pPr>
                      <a:r>
                        <a:rPr lang="en-US" sz="1600" b="0" i="0" kern="1200" dirty="0">
                          <a:solidFill>
                            <a:schemeClr val="tx1">
                              <a:lumMod val="95000"/>
                              <a:lumOff val="5000"/>
                            </a:schemeClr>
                          </a:solidFill>
                          <a:effectLst/>
                          <a:latin typeface="Times New Roman" panose="02020603050405020304" pitchFamily="18" charset="0"/>
                          <a:ea typeface="+mn-ea"/>
                          <a:cs typeface="+mn-cs"/>
                        </a:rPr>
                        <a:t>Families impose stricter rules for girls than for boys. </a:t>
                      </a:r>
                    </a:p>
                    <a:p>
                      <a:pPr marL="285750" indent="-285750">
                        <a:buFont typeface="Wingdings" panose="05000000000000000000" pitchFamily="2" charset="2"/>
                        <a:buChar char="ü"/>
                      </a:pPr>
                      <a:r>
                        <a:rPr lang="en-US" sz="1600" b="0" i="0" kern="1200" dirty="0">
                          <a:solidFill>
                            <a:schemeClr val="tx1">
                              <a:lumMod val="95000"/>
                              <a:lumOff val="5000"/>
                            </a:schemeClr>
                          </a:solidFill>
                          <a:effectLst/>
                          <a:latin typeface="Times New Roman" panose="02020603050405020304" pitchFamily="18" charset="0"/>
                          <a:ea typeface="+mn-ea"/>
                          <a:cs typeface="+mn-cs"/>
                        </a:rPr>
                        <a:t>After menarche, teenage girls may not socialize with boys. </a:t>
                      </a:r>
                    </a:p>
                    <a:p>
                      <a:pPr marL="285750" indent="-285750">
                        <a:buFont typeface="Wingdings" panose="05000000000000000000" pitchFamily="2" charset="2"/>
                        <a:buChar char="ü"/>
                      </a:pPr>
                      <a:r>
                        <a:rPr lang="en-US" sz="1600" b="0" i="0" kern="1200" dirty="0">
                          <a:solidFill>
                            <a:schemeClr val="tx1">
                              <a:lumMod val="95000"/>
                              <a:lumOff val="5000"/>
                            </a:schemeClr>
                          </a:solidFill>
                          <a:effectLst/>
                          <a:latin typeface="Times New Roman" panose="02020603050405020304" pitchFamily="18" charset="0"/>
                          <a:ea typeface="+mn-ea"/>
                          <a:cs typeface="+mn-cs"/>
                        </a:rPr>
                        <a:t>The adolescent female also begins to cover her head and perhaps wears a </a:t>
                      </a:r>
                      <a:r>
                        <a:rPr lang="en-US" sz="1600" b="0" i="0" kern="1200" dirty="0" err="1">
                          <a:solidFill>
                            <a:schemeClr val="tx1">
                              <a:lumMod val="95000"/>
                              <a:lumOff val="5000"/>
                            </a:schemeClr>
                          </a:solidFill>
                          <a:effectLst/>
                          <a:latin typeface="Times New Roman" panose="02020603050405020304" pitchFamily="18" charset="0"/>
                          <a:ea typeface="+mn-ea"/>
                          <a:cs typeface="+mn-cs"/>
                        </a:rPr>
                        <a:t>hajab</a:t>
                      </a:r>
                      <a:r>
                        <a:rPr lang="en-US" sz="1600" b="0" i="0" kern="1200" dirty="0">
                          <a:solidFill>
                            <a:schemeClr val="tx1">
                              <a:lumMod val="95000"/>
                              <a:lumOff val="5000"/>
                            </a:schemeClr>
                          </a:solidFill>
                          <a:effectLst/>
                          <a:latin typeface="Times New Roman" panose="02020603050405020304" pitchFamily="18" charset="0"/>
                          <a:ea typeface="+mn-ea"/>
                          <a:cs typeface="+mn-cs"/>
                        </a:rPr>
                        <a:t>, which takes the form of a modest dress and veil designed to diminish attractiveness and appeal to the opposite sex. Some Arab groups take this mode of dress to extremes, not even allowing a woman’s eyes to show out of the </a:t>
                      </a:r>
                      <a:r>
                        <a:rPr lang="en-US" sz="1600" b="0" i="0" kern="1200" dirty="0" err="1">
                          <a:solidFill>
                            <a:schemeClr val="tx1">
                              <a:lumMod val="95000"/>
                              <a:lumOff val="5000"/>
                            </a:schemeClr>
                          </a:solidFill>
                          <a:effectLst/>
                          <a:latin typeface="Times New Roman" panose="02020603050405020304" pitchFamily="18" charset="0"/>
                          <a:ea typeface="+mn-ea"/>
                          <a:cs typeface="+mn-cs"/>
                        </a:rPr>
                        <a:t>hajab</a:t>
                      </a:r>
                      <a:r>
                        <a:rPr lang="en-US" sz="1600" b="0" i="0" kern="1200" dirty="0">
                          <a:solidFill>
                            <a:schemeClr val="tx1">
                              <a:lumMod val="95000"/>
                              <a:lumOff val="5000"/>
                            </a:schemeClr>
                          </a:solidFill>
                          <a:effectLst/>
                          <a:latin typeface="Times New Roman" panose="02020603050405020304" pitchFamily="18" charset="0"/>
                          <a:ea typeface="+mn-ea"/>
                          <a:cs typeface="+mn-cs"/>
                        </a:rPr>
                        <a:t>. Modesty is one of the core values for Arabs; it is expressed by both genders, although more evidently by females.</a:t>
                      </a:r>
                    </a:p>
                    <a:p>
                      <a:pPr marL="285750" indent="-285750">
                        <a:buFont typeface="Wingdings" panose="05000000000000000000" pitchFamily="2" charset="2"/>
                        <a:buChar char="ü"/>
                      </a:pPr>
                      <a:r>
                        <a:rPr lang="en-US" sz="1600" b="0" i="0" kern="1200" dirty="0">
                          <a:solidFill>
                            <a:schemeClr val="tx1">
                              <a:lumMod val="95000"/>
                              <a:lumOff val="5000"/>
                            </a:schemeClr>
                          </a:solidFill>
                          <a:effectLst/>
                          <a:latin typeface="Times New Roman" panose="02020603050405020304" pitchFamily="18" charset="0"/>
                          <a:ea typeface="+mn-ea"/>
                          <a:cs typeface="+mn-cs"/>
                        </a:rPr>
                        <a:t>All sexual contacts outside the marital bond are considered illegal. </a:t>
                      </a:r>
                    </a:p>
                  </a:txBody>
                  <a:tc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794362153"/>
                  </a:ext>
                </a:extLst>
              </a:tr>
            </a:tbl>
          </a:graphicData>
        </a:graphic>
      </p:graphicFrame>
      <p:pic>
        <p:nvPicPr>
          <p:cNvPr id="6" name="Picture 5">
            <a:extLst>
              <a:ext uri="{FF2B5EF4-FFF2-40B4-BE49-F238E27FC236}">
                <a16:creationId xmlns:a16="http://schemas.microsoft.com/office/drawing/2014/main" id="{4FA79A17-FA77-5452-3028-01286667D0D9}"/>
              </a:ext>
            </a:extLst>
          </p:cNvPr>
          <p:cNvPicPr>
            <a:picLocks noChangeAspect="1"/>
          </p:cNvPicPr>
          <p:nvPr/>
        </p:nvPicPr>
        <p:blipFill>
          <a:blip r:embed="rId2"/>
          <a:stretch>
            <a:fillRect/>
          </a:stretch>
        </p:blipFill>
        <p:spPr>
          <a:xfrm>
            <a:off x="2525982" y="490531"/>
            <a:ext cx="6456224" cy="749873"/>
          </a:xfrm>
          <a:prstGeom prst="rect">
            <a:avLst/>
          </a:prstGeom>
        </p:spPr>
      </p:pic>
    </p:spTree>
    <p:extLst>
      <p:ext uri="{BB962C8B-B14F-4D97-AF65-F5344CB8AC3E}">
        <p14:creationId xmlns:p14="http://schemas.microsoft.com/office/powerpoint/2010/main" val="7913928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73A95-42B1-476A-BA87-B2DDD1CBAFA6}"/>
              </a:ext>
            </a:extLst>
          </p:cNvPr>
          <p:cNvSpPr>
            <a:spLocks noGrp="1"/>
          </p:cNvSpPr>
          <p:nvPr>
            <p:ph idx="1"/>
          </p:nvPr>
        </p:nvSpPr>
        <p:spPr>
          <a:xfrm>
            <a:off x="2112398" y="1288112"/>
            <a:ext cx="7744569" cy="506498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lstStyle/>
          <a:p>
            <a:pPr marL="0" indent="0">
              <a:buNone/>
            </a:pPr>
            <a:r>
              <a:rPr lang="en-US" sz="1800" b="1" u="sng" dirty="0"/>
              <a:t>Health Problems</a:t>
            </a:r>
          </a:p>
          <a:p>
            <a:pPr>
              <a:buFont typeface="Wingdings" panose="05000000000000000000" pitchFamily="2" charset="2"/>
              <a:buChar char="ü"/>
            </a:pPr>
            <a:r>
              <a:rPr lang="en-US" sz="1600" dirty="0">
                <a:solidFill>
                  <a:schemeClr val="tx1">
                    <a:lumMod val="95000"/>
                    <a:lumOff val="5000"/>
                  </a:schemeClr>
                </a:solidFill>
                <a:latin typeface="Times New Roman" panose="02020603050405020304" pitchFamily="18" charset="0"/>
              </a:rPr>
              <a:t>Health problems among Middle Easterners are most frequently lifestyle related. These include poor nutritional practices, resulting in obesity, especially among women; smoking among men; and lack of physical exercise </a:t>
            </a:r>
          </a:p>
          <a:p>
            <a:pPr>
              <a:buFont typeface="Wingdings" panose="05000000000000000000" pitchFamily="2" charset="2"/>
              <a:buChar char="ü"/>
            </a:pPr>
            <a:r>
              <a:rPr lang="en-US" sz="1600" dirty="0">
                <a:solidFill>
                  <a:schemeClr val="tx1">
                    <a:lumMod val="95000"/>
                    <a:lumOff val="5000"/>
                  </a:schemeClr>
                </a:solidFill>
                <a:latin typeface="Times New Roman" panose="02020603050405020304" pitchFamily="18" charset="0"/>
              </a:rPr>
              <a:t>In some rural areas, especially in Saudi Arabia, men and women chew tobacco, and an increase of oral cancers is seen. </a:t>
            </a:r>
          </a:p>
          <a:p>
            <a:pPr>
              <a:buFont typeface="Wingdings" panose="05000000000000000000" pitchFamily="2" charset="2"/>
              <a:buChar char="ü"/>
            </a:pPr>
            <a:r>
              <a:rPr lang="en-US" sz="1600" dirty="0">
                <a:solidFill>
                  <a:schemeClr val="tx1">
                    <a:lumMod val="95000"/>
                    <a:lumOff val="5000"/>
                  </a:schemeClr>
                </a:solidFill>
                <a:latin typeface="Times New Roman" panose="02020603050405020304" pitchFamily="18" charset="0"/>
              </a:rPr>
              <a:t>Major public health concerns for most Arabs are related to motor vehicle accidents, maternal–child health, TB, malaria, trachoma, typhus, hepatitis, typhoid fever, dysentery, and parasitic infection.</a:t>
            </a:r>
          </a:p>
          <a:p>
            <a:pPr>
              <a:buFont typeface="Wingdings" panose="05000000000000000000" pitchFamily="2" charset="2"/>
              <a:buChar char="ü"/>
            </a:pPr>
            <a:r>
              <a:rPr lang="en-US" sz="1600" dirty="0">
                <a:solidFill>
                  <a:schemeClr val="tx1">
                    <a:lumMod val="95000"/>
                    <a:lumOff val="5000"/>
                  </a:schemeClr>
                </a:solidFill>
                <a:latin typeface="Times New Roman" panose="02020603050405020304" pitchFamily="18" charset="0"/>
              </a:rPr>
              <a:t>Most social restrictions are directed toward women and can affect their health. pregnancy can be complicated by genital mutilation, with infections and difficult deliveries. </a:t>
            </a:r>
          </a:p>
          <a:p>
            <a:pPr>
              <a:buFont typeface="Wingdings" panose="05000000000000000000" pitchFamily="2" charset="2"/>
              <a:buChar char="ü"/>
            </a:pPr>
            <a:r>
              <a:rPr lang="en-US" sz="1600" dirty="0">
                <a:solidFill>
                  <a:schemeClr val="tx1">
                    <a:lumMod val="95000"/>
                    <a:lumOff val="5000"/>
                  </a:schemeClr>
                </a:solidFill>
                <a:latin typeface="Times New Roman" panose="02020603050405020304" pitchFamily="18" charset="0"/>
              </a:rPr>
              <a:t>Childbearing continues up until menopause. There is often a desire to have more sons than daughters, and this may result in very large families and closely spaced pregnancies—often without the benefit of family planning.</a:t>
            </a:r>
          </a:p>
          <a:p>
            <a:pPr>
              <a:buFont typeface="Wingdings" panose="05000000000000000000" pitchFamily="2" charset="2"/>
              <a:buChar char="ü"/>
            </a:pPr>
            <a:r>
              <a:rPr lang="en-US" sz="1600" dirty="0">
                <a:solidFill>
                  <a:schemeClr val="tx1">
                    <a:lumMod val="95000"/>
                    <a:lumOff val="5000"/>
                  </a:schemeClr>
                </a:solidFill>
                <a:latin typeface="Times New Roman" panose="02020603050405020304" pitchFamily="18" charset="0"/>
              </a:rPr>
              <a:t>Abortion and infanticide are not accepted.</a:t>
            </a:r>
          </a:p>
          <a:p>
            <a:endParaRPr lang="en-US" dirty="0"/>
          </a:p>
        </p:txBody>
      </p:sp>
      <p:pic>
        <p:nvPicPr>
          <p:cNvPr id="4" name="Picture 3">
            <a:extLst>
              <a:ext uri="{FF2B5EF4-FFF2-40B4-BE49-F238E27FC236}">
                <a16:creationId xmlns:a16="http://schemas.microsoft.com/office/drawing/2014/main" id="{5A776FB3-733D-F9F1-EFC9-3E111139EB82}"/>
              </a:ext>
            </a:extLst>
          </p:cNvPr>
          <p:cNvPicPr>
            <a:picLocks noChangeAspect="1"/>
          </p:cNvPicPr>
          <p:nvPr/>
        </p:nvPicPr>
        <p:blipFill>
          <a:blip r:embed="rId2"/>
          <a:stretch>
            <a:fillRect/>
          </a:stretch>
        </p:blipFill>
        <p:spPr>
          <a:xfrm>
            <a:off x="2756569" y="438085"/>
            <a:ext cx="6456224" cy="749873"/>
          </a:xfrm>
          <a:prstGeom prst="rect">
            <a:avLst/>
          </a:prstGeom>
        </p:spPr>
      </p:pic>
    </p:spTree>
    <p:extLst>
      <p:ext uri="{BB962C8B-B14F-4D97-AF65-F5344CB8AC3E}">
        <p14:creationId xmlns:p14="http://schemas.microsoft.com/office/powerpoint/2010/main" val="39522519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B485CF-B54A-42D1-BFB2-B1DBDBDB0085}"/>
              </a:ext>
            </a:extLst>
          </p:cNvPr>
          <p:cNvSpPr>
            <a:spLocks noGrp="1"/>
          </p:cNvSpPr>
          <p:nvPr>
            <p:ph idx="1"/>
          </p:nvPr>
        </p:nvSpPr>
        <p:spPr>
          <a:xfrm>
            <a:off x="1937469" y="1359674"/>
            <a:ext cx="8237550" cy="4777355"/>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lstStyle/>
          <a:p>
            <a:pPr marL="0" indent="0">
              <a:buNone/>
            </a:pPr>
            <a:r>
              <a:rPr lang="en-US" sz="1800" b="1" u="sng" dirty="0"/>
              <a:t>Health Beliefs and Practices</a:t>
            </a:r>
          </a:p>
          <a:p>
            <a:pPr>
              <a:buFont typeface="Wingdings" panose="05000000000000000000" pitchFamily="2" charset="2"/>
              <a:buChar char="ü"/>
            </a:pPr>
            <a:r>
              <a:rPr lang="en-US" sz="1600" dirty="0">
                <a:solidFill>
                  <a:schemeClr val="tx1">
                    <a:lumMod val="95000"/>
                    <a:lumOff val="5000"/>
                  </a:schemeClr>
                </a:solidFill>
                <a:latin typeface="Times New Roman" panose="02020603050405020304" pitchFamily="18" charset="0"/>
              </a:rPr>
              <a:t>Traditional medicine is practiced in spite of the growth of Western medical services in some of the richer Arab nations. </a:t>
            </a:r>
          </a:p>
          <a:p>
            <a:pPr>
              <a:buFont typeface="Wingdings" panose="05000000000000000000" pitchFamily="2" charset="2"/>
              <a:buChar char="ü"/>
            </a:pPr>
            <a:r>
              <a:rPr lang="en-US" sz="1600" dirty="0">
                <a:solidFill>
                  <a:schemeClr val="tx1">
                    <a:lumMod val="95000"/>
                    <a:lumOff val="5000"/>
                  </a:schemeClr>
                </a:solidFill>
                <a:latin typeface="Times New Roman" panose="02020603050405020304" pitchFamily="18" charset="0"/>
              </a:rPr>
              <a:t>Traditional health care practices are much more common in the poorer Middle Eastern countries and in rural areas of all Arabic countries.</a:t>
            </a:r>
          </a:p>
          <a:p>
            <a:pPr>
              <a:buFont typeface="Wingdings" panose="05000000000000000000" pitchFamily="2" charset="2"/>
              <a:buChar char="ü"/>
            </a:pPr>
            <a:r>
              <a:rPr lang="en-US" sz="1600" dirty="0">
                <a:solidFill>
                  <a:schemeClr val="tx1">
                    <a:lumMod val="95000"/>
                    <a:lumOff val="5000"/>
                  </a:schemeClr>
                </a:solidFill>
                <a:latin typeface="Times New Roman" panose="02020603050405020304" pitchFamily="18" charset="0"/>
              </a:rPr>
              <a:t>Muslims believe in predestination—that life is determined beforehand—and they attribute the occurrence of disease to the will of Allah. However, this does not prevent people from seeking medical treatment. </a:t>
            </a:r>
          </a:p>
          <a:p>
            <a:pPr>
              <a:buFont typeface="Wingdings" panose="05000000000000000000" pitchFamily="2" charset="2"/>
              <a:buChar char="ü"/>
            </a:pPr>
            <a:r>
              <a:rPr lang="en-US" sz="1600" dirty="0">
                <a:solidFill>
                  <a:schemeClr val="tx1">
                    <a:lumMod val="95000"/>
                    <a:lumOff val="5000"/>
                  </a:schemeClr>
                </a:solidFill>
                <a:latin typeface="Times New Roman" panose="02020603050405020304" pitchFamily="18" charset="0"/>
              </a:rPr>
              <a:t>Islamic law prohibits the use of illicit drugs, which include alcohol. Users of such substances are liable to trial, and those convicted of smuggling substances into an Arab country can be sentenced to death in some cases. </a:t>
            </a:r>
          </a:p>
          <a:p>
            <a:pPr>
              <a:buFont typeface="Wingdings" panose="05000000000000000000" pitchFamily="2" charset="2"/>
              <a:buChar char="ü"/>
            </a:pPr>
            <a:r>
              <a:rPr lang="en-US" sz="1600" dirty="0">
                <a:solidFill>
                  <a:schemeClr val="tx1">
                    <a:lumMod val="95000"/>
                    <a:lumOff val="5000"/>
                  </a:schemeClr>
                </a:solidFill>
                <a:latin typeface="Times New Roman" panose="02020603050405020304" pitchFamily="18" charset="0"/>
              </a:rPr>
              <a:t>Sharaf, or honor, is an important concept in Arab American beliefs, and drug addiction, mental illness, or unwed pregnancy of a family member brings shame to the entire family. Conversely, when a member does something good or is recognized for an achievement, that honor is reflected on the family as a whole.</a:t>
            </a:r>
          </a:p>
          <a:p>
            <a:endParaRPr lang="en-US" dirty="0"/>
          </a:p>
        </p:txBody>
      </p:sp>
      <p:pic>
        <p:nvPicPr>
          <p:cNvPr id="4" name="Picture 3">
            <a:extLst>
              <a:ext uri="{FF2B5EF4-FFF2-40B4-BE49-F238E27FC236}">
                <a16:creationId xmlns:a16="http://schemas.microsoft.com/office/drawing/2014/main" id="{F7E980FD-B61B-7808-3C02-2C01D5D50919}"/>
              </a:ext>
            </a:extLst>
          </p:cNvPr>
          <p:cNvPicPr>
            <a:picLocks noChangeAspect="1"/>
          </p:cNvPicPr>
          <p:nvPr/>
        </p:nvPicPr>
        <p:blipFill>
          <a:blip r:embed="rId2"/>
          <a:stretch>
            <a:fillRect/>
          </a:stretch>
        </p:blipFill>
        <p:spPr>
          <a:xfrm>
            <a:off x="2685008" y="501696"/>
            <a:ext cx="6456224" cy="749873"/>
          </a:xfrm>
          <a:prstGeom prst="rect">
            <a:avLst/>
          </a:prstGeom>
        </p:spPr>
      </p:pic>
    </p:spTree>
    <p:extLst>
      <p:ext uri="{BB962C8B-B14F-4D97-AF65-F5344CB8AC3E}">
        <p14:creationId xmlns:p14="http://schemas.microsoft.com/office/powerpoint/2010/main" val="32629004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470154C2-05B9-4354-B0BF-9C3797E2A46D}"/>
              </a:ext>
            </a:extLst>
          </p:cNvPr>
          <p:cNvSpPr>
            <a:spLocks noGrp="1"/>
          </p:cNvSpPr>
          <p:nvPr>
            <p:ph idx="1"/>
          </p:nvPr>
        </p:nvSpPr>
        <p:spPr>
          <a:xfrm>
            <a:off x="1884529" y="1407381"/>
            <a:ext cx="7900878" cy="4332082"/>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lstStyle/>
          <a:p>
            <a:pPr marL="0" indent="0">
              <a:buNone/>
            </a:pPr>
            <a:r>
              <a:rPr lang="en-US" sz="1800" b="1" u="sng" dirty="0"/>
              <a:t>Health Beliefs and Practices</a:t>
            </a:r>
          </a:p>
          <a:p>
            <a:pPr>
              <a:buFont typeface="Wingdings" panose="05000000000000000000" pitchFamily="2" charset="2"/>
              <a:buChar char="ü"/>
            </a:pPr>
            <a:r>
              <a:rPr lang="en-US" sz="1600" dirty="0">
                <a:solidFill>
                  <a:schemeClr val="tx1">
                    <a:lumMod val="95000"/>
                    <a:lumOff val="5000"/>
                  </a:schemeClr>
                </a:solidFill>
                <a:latin typeface="Times New Roman" panose="02020603050405020304" pitchFamily="18" charset="0"/>
              </a:rPr>
              <a:t>Cleanliness is paramount and ritualistic, especially before prayers and after sexual intercourse. The bodies of both genders are kept free of axillary and pubic hair. The left hand is used for cleaning the genitals and the right one is reserved for eating, hand shaking, and other hygienic activities. </a:t>
            </a:r>
          </a:p>
          <a:p>
            <a:pPr>
              <a:buFont typeface="Wingdings" panose="05000000000000000000" pitchFamily="2" charset="2"/>
              <a:buChar char="ü"/>
            </a:pPr>
            <a:r>
              <a:rPr lang="en-US" sz="1600" dirty="0">
                <a:solidFill>
                  <a:schemeClr val="tx1">
                    <a:lumMod val="95000"/>
                    <a:lumOff val="5000"/>
                  </a:schemeClr>
                </a:solidFill>
                <a:latin typeface="Times New Roman" panose="02020603050405020304" pitchFamily="18" charset="0"/>
              </a:rPr>
              <a:t>Muslims fast during Ramadan from sunrise to sunset, and this can include abstinence from all things (including medications or intravenous fluids). Illness can be an exception to this rule, but public health nurses should consult with a family elder or Muslim leader to encourage the client to continue with any necessary treatments. </a:t>
            </a:r>
          </a:p>
          <a:p>
            <a:pPr>
              <a:buFont typeface="Wingdings" panose="05000000000000000000" pitchFamily="2" charset="2"/>
              <a:buChar char="ü"/>
            </a:pPr>
            <a:r>
              <a:rPr lang="en-US" sz="1600" dirty="0">
                <a:solidFill>
                  <a:schemeClr val="tx1">
                    <a:lumMod val="95000"/>
                    <a:lumOff val="5000"/>
                  </a:schemeClr>
                </a:solidFill>
                <a:latin typeface="Times New Roman" panose="02020603050405020304" pitchFamily="18" charset="0"/>
              </a:rPr>
              <a:t>Also, Muslims pray several times daily, facing toward Mecca. Home visits should be planned so that prayers are not interrupted.</a:t>
            </a:r>
          </a:p>
          <a:p>
            <a:pPr>
              <a:buFont typeface="Wingdings" panose="05000000000000000000" pitchFamily="2" charset="2"/>
              <a:buChar char="ü"/>
            </a:pPr>
            <a:r>
              <a:rPr lang="en-US" sz="1600" dirty="0">
                <a:solidFill>
                  <a:schemeClr val="tx1">
                    <a:lumMod val="95000"/>
                    <a:lumOff val="5000"/>
                  </a:schemeClr>
                </a:solidFill>
                <a:latin typeface="Times New Roman" panose="02020603050405020304" pitchFamily="18" charset="0"/>
              </a:rPr>
              <a:t>When caring for Arabs in clinics or at home, a nurse of the same sex as the client should be assigned. It is important to note that only women may discuss many topics (e.g., menstruation, family planning, pregnancy, and childbirth), and men are not included in these discussions.</a:t>
            </a:r>
          </a:p>
          <a:p>
            <a:endParaRPr lang="en-US" sz="1800" dirty="0"/>
          </a:p>
        </p:txBody>
      </p:sp>
      <p:pic>
        <p:nvPicPr>
          <p:cNvPr id="3" name="Picture 2">
            <a:extLst>
              <a:ext uri="{FF2B5EF4-FFF2-40B4-BE49-F238E27FC236}">
                <a16:creationId xmlns:a16="http://schemas.microsoft.com/office/drawing/2014/main" id="{4BDBE4AF-4E24-9070-4626-E521E695C90C}"/>
              </a:ext>
            </a:extLst>
          </p:cNvPr>
          <p:cNvPicPr>
            <a:picLocks noChangeAspect="1"/>
          </p:cNvPicPr>
          <p:nvPr/>
        </p:nvPicPr>
        <p:blipFill>
          <a:blip r:embed="rId2"/>
          <a:stretch>
            <a:fillRect/>
          </a:stretch>
        </p:blipFill>
        <p:spPr>
          <a:xfrm>
            <a:off x="2867888" y="430134"/>
            <a:ext cx="6456224" cy="749873"/>
          </a:xfrm>
          <a:prstGeom prst="rect">
            <a:avLst/>
          </a:prstGeom>
        </p:spPr>
      </p:pic>
    </p:spTree>
    <p:extLst>
      <p:ext uri="{BB962C8B-B14F-4D97-AF65-F5344CB8AC3E}">
        <p14:creationId xmlns:p14="http://schemas.microsoft.com/office/powerpoint/2010/main" val="35147650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E1600-2D1D-88B0-A229-378860E88943}"/>
              </a:ext>
            </a:extLst>
          </p:cNvPr>
          <p:cNvSpPr>
            <a:spLocks noGrp="1"/>
          </p:cNvSpPr>
          <p:nvPr>
            <p:ph type="title"/>
          </p:nvPr>
        </p:nvSpPr>
        <p:spPr>
          <a:xfrm>
            <a:off x="1334293" y="925511"/>
            <a:ext cx="9771064" cy="387798"/>
          </a:xfrm>
        </p:spPr>
        <p:txBody>
          <a:bodyPr>
            <a:normAutofit fontScale="90000"/>
          </a:bodyPr>
          <a:lstStyle/>
          <a:p>
            <a:pPr algn="ctr">
              <a:lnSpc>
                <a:spcPct val="150000"/>
              </a:lnSpc>
            </a:pPr>
            <a:r>
              <a:rPr lang="en-US" b="1" kern="0" dirty="0">
                <a:solidFill>
                  <a:srgbClr val="C00000"/>
                </a:solidFill>
                <a:latin typeface="Verdana"/>
                <a:ea typeface="+mn-ea"/>
                <a:cs typeface="+mn-cs"/>
              </a:rPr>
              <a:t>Guidelines for nurses working with groups</a:t>
            </a:r>
            <a:endParaRPr lang="en-US" dirty="0">
              <a:solidFill>
                <a:srgbClr val="C00000"/>
              </a:solidFill>
            </a:endParaRPr>
          </a:p>
        </p:txBody>
      </p:sp>
      <p:pic>
        <p:nvPicPr>
          <p:cNvPr id="4" name="Online Media 3" title="Six Steps to Become a More Culturally Sensitive Nurse">
            <a:hlinkClick r:id="" action="ppaction://media"/>
            <a:extLst>
              <a:ext uri="{FF2B5EF4-FFF2-40B4-BE49-F238E27FC236}">
                <a16:creationId xmlns:a16="http://schemas.microsoft.com/office/drawing/2014/main" id="{2B5FD1E6-7137-3589-3691-6D485A1E695C}"/>
              </a:ext>
            </a:extLst>
          </p:cNvPr>
          <p:cNvPicPr>
            <a:picLocks noGrp="1" noRot="1" noChangeAspect="1"/>
          </p:cNvPicPr>
          <p:nvPr>
            <p:ph idx="1"/>
            <a:videoFile r:link="rId1"/>
          </p:nvPr>
        </p:nvPicPr>
        <p:blipFill>
          <a:blip r:embed="rId3"/>
          <a:stretch>
            <a:fillRect/>
          </a:stretch>
        </p:blipFill>
        <p:spPr>
          <a:xfrm>
            <a:off x="2957513" y="2246314"/>
            <a:ext cx="6524625" cy="3686175"/>
          </a:xfrm>
          <a:prstGeom prst="rect">
            <a:avLst/>
          </a:prstGeom>
        </p:spPr>
      </p:pic>
    </p:spTree>
    <p:extLst>
      <p:ext uri="{BB962C8B-B14F-4D97-AF65-F5344CB8AC3E}">
        <p14:creationId xmlns:p14="http://schemas.microsoft.com/office/powerpoint/2010/main" val="1117653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2">
            <a:extLst>
              <a:ext uri="{FF2B5EF4-FFF2-40B4-BE49-F238E27FC236}">
                <a16:creationId xmlns:a16="http://schemas.microsoft.com/office/drawing/2014/main" id="{5495C374-0F39-C13C-50FE-EB87A31E44CD}"/>
              </a:ext>
            </a:extLst>
          </p:cNvPr>
          <p:cNvGraphicFramePr>
            <a:graphicFrameLocks noGrp="1"/>
          </p:cNvGraphicFramePr>
          <p:nvPr>
            <p:ph idx="1"/>
          </p:nvPr>
        </p:nvGraphicFramePr>
        <p:xfrm>
          <a:off x="1749273" y="1251715"/>
          <a:ext cx="8613775" cy="3686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16A7110F-8507-DB41-7CA0-828B7DCAC7F9}"/>
              </a:ext>
            </a:extLst>
          </p:cNvPr>
          <p:cNvSpPr txBox="1"/>
          <p:nvPr/>
        </p:nvSpPr>
        <p:spPr>
          <a:xfrm>
            <a:off x="1749273" y="579437"/>
            <a:ext cx="8693455" cy="424732"/>
          </a:xfrm>
          <a:prstGeom prst="rect">
            <a:avLst/>
          </a:prstGeom>
          <a:noFill/>
        </p:spPr>
        <p:txBody>
          <a:bodyPr wrap="square">
            <a:spAutoFit/>
          </a:bodyPr>
          <a:lstStyle/>
          <a:p>
            <a:pPr eaLnBrk="0" fontAlgn="base" hangingPunct="0">
              <a:lnSpc>
                <a:spcPct val="90000"/>
              </a:lnSpc>
              <a:spcBef>
                <a:spcPct val="60000"/>
              </a:spcBef>
              <a:spcAft>
                <a:spcPct val="0"/>
              </a:spcAft>
              <a:buClr>
                <a:srgbClr val="CC9900"/>
              </a:buClr>
              <a:defRPr/>
            </a:pPr>
            <a:r>
              <a:rPr lang="en-US" sz="2400" b="1" kern="0" dirty="0">
                <a:solidFill>
                  <a:srgbClr val="C00000"/>
                </a:solidFill>
                <a:latin typeface="Verdana"/>
              </a:rPr>
              <a:t>Guidelines for nurses working with groups</a:t>
            </a:r>
            <a:endParaRPr lang="en-US" sz="2400" kern="0" dirty="0">
              <a:solidFill>
                <a:srgbClr val="C00000"/>
              </a:solidFill>
              <a:latin typeface="Verdana"/>
            </a:endParaRPr>
          </a:p>
        </p:txBody>
      </p:sp>
      <p:pic>
        <p:nvPicPr>
          <p:cNvPr id="5" name="Picture 4">
            <a:extLst>
              <a:ext uri="{FF2B5EF4-FFF2-40B4-BE49-F238E27FC236}">
                <a16:creationId xmlns:a16="http://schemas.microsoft.com/office/drawing/2014/main" id="{FF5E5796-B610-B7AF-72AE-D058F90AA18E}"/>
              </a:ext>
            </a:extLst>
          </p:cNvPr>
          <p:cNvPicPr>
            <a:picLocks noChangeAspect="1"/>
          </p:cNvPicPr>
          <p:nvPr/>
        </p:nvPicPr>
        <p:blipFill>
          <a:blip r:embed="rId8"/>
          <a:stretch>
            <a:fillRect/>
          </a:stretch>
        </p:blipFill>
        <p:spPr>
          <a:xfrm>
            <a:off x="7217135" y="4895215"/>
            <a:ext cx="4548146" cy="1781295"/>
          </a:xfrm>
          <a:prstGeom prst="rect">
            <a:avLst/>
          </a:prstGeom>
          <a:ln>
            <a:noFill/>
          </a:ln>
          <a:effectLst>
            <a:softEdge rad="112500"/>
          </a:effectLst>
        </p:spPr>
      </p:pic>
    </p:spTree>
    <p:extLst>
      <p:ext uri="{BB962C8B-B14F-4D97-AF65-F5344CB8AC3E}">
        <p14:creationId xmlns:p14="http://schemas.microsoft.com/office/powerpoint/2010/main" val="19167440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519A3F-DDD1-4D67-A3DC-037BDA0ECA9A}"/>
              </a:ext>
            </a:extLst>
          </p:cNvPr>
          <p:cNvSpPr>
            <a:spLocks noGrp="1"/>
          </p:cNvSpPr>
          <p:nvPr>
            <p:ph idx="1"/>
          </p:nvPr>
        </p:nvSpPr>
        <p:spPr>
          <a:xfrm>
            <a:off x="1710131" y="717751"/>
            <a:ext cx="8613775" cy="5015513"/>
          </a:xfrm>
        </p:spPr>
        <p:txBody>
          <a:bodyPr/>
          <a:lstStyle/>
          <a:p>
            <a:pPr marL="0" indent="0" algn="ctr">
              <a:buNone/>
            </a:pPr>
            <a:r>
              <a:rPr lang="en-US" sz="3600" b="1" dirty="0">
                <a:solidFill>
                  <a:srgbClr val="C00000"/>
                </a:solidFill>
              </a:rPr>
              <a:t>TRANSCULTURAL COMMUNITY HEALTH NURSING PRINCIPLES</a:t>
            </a:r>
          </a:p>
          <a:p>
            <a:pPr algn="ctr"/>
            <a:endParaRPr lang="en-US" sz="3200" dirty="0"/>
          </a:p>
        </p:txBody>
      </p:sp>
      <p:pic>
        <p:nvPicPr>
          <p:cNvPr id="2" name="Picture 1">
            <a:extLst>
              <a:ext uri="{FF2B5EF4-FFF2-40B4-BE49-F238E27FC236}">
                <a16:creationId xmlns:a16="http://schemas.microsoft.com/office/drawing/2014/main" id="{B70710A8-6CB4-C567-FE89-AC08E3DD54EA}"/>
              </a:ext>
            </a:extLst>
          </p:cNvPr>
          <p:cNvPicPr>
            <a:picLocks noChangeAspect="1"/>
          </p:cNvPicPr>
          <p:nvPr/>
        </p:nvPicPr>
        <p:blipFill>
          <a:blip r:embed="rId2"/>
          <a:stretch>
            <a:fillRect/>
          </a:stretch>
        </p:blipFill>
        <p:spPr>
          <a:xfrm>
            <a:off x="4776085" y="3317536"/>
            <a:ext cx="3387255" cy="2822713"/>
          </a:xfrm>
          <a:prstGeom prst="rect">
            <a:avLst/>
          </a:prstGeom>
        </p:spPr>
      </p:pic>
      <p:pic>
        <p:nvPicPr>
          <p:cNvPr id="4" name="Picture 3">
            <a:extLst>
              <a:ext uri="{FF2B5EF4-FFF2-40B4-BE49-F238E27FC236}">
                <a16:creationId xmlns:a16="http://schemas.microsoft.com/office/drawing/2014/main" id="{2AB3AA22-2567-7E16-5B43-C3936A0C7E00}"/>
              </a:ext>
            </a:extLst>
          </p:cNvPr>
          <p:cNvPicPr>
            <a:picLocks noChangeAspect="1"/>
          </p:cNvPicPr>
          <p:nvPr/>
        </p:nvPicPr>
        <p:blipFill>
          <a:blip r:embed="rId3"/>
          <a:stretch>
            <a:fillRect/>
          </a:stretch>
        </p:blipFill>
        <p:spPr>
          <a:xfrm>
            <a:off x="7360258" y="3077154"/>
            <a:ext cx="2614984" cy="2202512"/>
          </a:xfrm>
          <a:prstGeom prst="ellipse">
            <a:avLst/>
          </a:prstGeom>
          <a:ln>
            <a:noFill/>
          </a:ln>
          <a:effectLst>
            <a:softEdge rad="112500"/>
          </a:effectLst>
        </p:spPr>
      </p:pic>
      <p:pic>
        <p:nvPicPr>
          <p:cNvPr id="5" name="Picture 4">
            <a:extLst>
              <a:ext uri="{FF2B5EF4-FFF2-40B4-BE49-F238E27FC236}">
                <a16:creationId xmlns:a16="http://schemas.microsoft.com/office/drawing/2014/main" id="{7E273601-76C2-FF82-E8C9-59C096E34FAD}"/>
              </a:ext>
            </a:extLst>
          </p:cNvPr>
          <p:cNvPicPr>
            <a:picLocks noChangeAspect="1"/>
          </p:cNvPicPr>
          <p:nvPr/>
        </p:nvPicPr>
        <p:blipFill>
          <a:blip r:embed="rId4"/>
          <a:stretch>
            <a:fillRect/>
          </a:stretch>
        </p:blipFill>
        <p:spPr>
          <a:xfrm>
            <a:off x="2194660" y="3204668"/>
            <a:ext cx="2768576" cy="2074999"/>
          </a:xfrm>
          <a:prstGeom prst="ellipse">
            <a:avLst/>
          </a:prstGeom>
          <a:ln>
            <a:noFill/>
          </a:ln>
          <a:effectLst>
            <a:softEdge rad="112500"/>
          </a:effectLst>
        </p:spPr>
      </p:pic>
    </p:spTree>
    <p:extLst>
      <p:ext uri="{BB962C8B-B14F-4D97-AF65-F5344CB8AC3E}">
        <p14:creationId xmlns:p14="http://schemas.microsoft.com/office/powerpoint/2010/main" val="37216362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oup of hands around a green globe&#10;&#10;Description automatically generated">
            <a:extLst>
              <a:ext uri="{FF2B5EF4-FFF2-40B4-BE49-F238E27FC236}">
                <a16:creationId xmlns:a16="http://schemas.microsoft.com/office/drawing/2014/main" id="{126FA85A-4D90-D0CB-BD1F-F19951774C20}"/>
              </a:ext>
            </a:extLst>
          </p:cNvPr>
          <p:cNvPicPr>
            <a:picLocks noChangeAspect="1"/>
          </p:cNvPicPr>
          <p:nvPr/>
        </p:nvPicPr>
        <p:blipFill>
          <a:blip r:embed="rId3"/>
          <a:stretch>
            <a:fillRect/>
          </a:stretch>
        </p:blipFill>
        <p:spPr>
          <a:xfrm>
            <a:off x="8637517" y="4317875"/>
            <a:ext cx="2574360" cy="2143125"/>
          </a:xfrm>
          <a:prstGeom prst="rect">
            <a:avLst/>
          </a:prstGeom>
        </p:spPr>
      </p:pic>
      <p:sp>
        <p:nvSpPr>
          <p:cNvPr id="275458" name="Rectangle 2"/>
          <p:cNvSpPr>
            <a:spLocks noGrp="1" noChangeArrowheads="1"/>
          </p:cNvSpPr>
          <p:nvPr>
            <p:ph type="title"/>
          </p:nvPr>
        </p:nvSpPr>
        <p:spPr>
          <a:xfrm>
            <a:off x="1833563" y="633070"/>
            <a:ext cx="8524875" cy="498598"/>
          </a:xfrm>
        </p:spPr>
        <p:txBody>
          <a:bodyPr>
            <a:normAutofit fontScale="90000"/>
          </a:bodyPr>
          <a:lstStyle/>
          <a:p>
            <a:pPr eaLnBrk="1" hangingPunct="1">
              <a:defRPr/>
            </a:pPr>
            <a:r>
              <a:rPr lang="en-US" sz="3600" dirty="0"/>
              <a:t> </a:t>
            </a:r>
            <a:r>
              <a:rPr lang="en-US" b="1" dirty="0">
                <a:solidFill>
                  <a:srgbClr val="C00000"/>
                </a:solidFill>
              </a:rPr>
              <a:t>Transcultural Nursing Principles</a:t>
            </a:r>
            <a:endParaRPr lang="en-US" sz="3600" b="1" dirty="0">
              <a:solidFill>
                <a:srgbClr val="C00000"/>
              </a:solidFill>
            </a:endParaRPr>
          </a:p>
        </p:txBody>
      </p:sp>
      <p:graphicFrame>
        <p:nvGraphicFramePr>
          <p:cNvPr id="275460" name="Rectangle 3">
            <a:extLst>
              <a:ext uri="{FF2B5EF4-FFF2-40B4-BE49-F238E27FC236}">
                <a16:creationId xmlns:a16="http://schemas.microsoft.com/office/drawing/2014/main" id="{E4CFC9D7-FF90-D38B-8A2F-1AFCDB3343D7}"/>
              </a:ext>
            </a:extLst>
          </p:cNvPr>
          <p:cNvGraphicFramePr>
            <a:graphicFrameLocks noGrp="1"/>
          </p:cNvGraphicFramePr>
          <p:nvPr>
            <p:ph idx="1"/>
          </p:nvPr>
        </p:nvGraphicFramePr>
        <p:xfrm>
          <a:off x="1596101" y="1374753"/>
          <a:ext cx="8762337" cy="44259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8F7340-E6FC-418C-B92E-5DA137BD3513}"/>
              </a:ext>
            </a:extLst>
          </p:cNvPr>
          <p:cNvSpPr>
            <a:spLocks noGrp="1"/>
          </p:cNvSpPr>
          <p:nvPr>
            <p:ph type="title"/>
          </p:nvPr>
        </p:nvSpPr>
        <p:spPr>
          <a:xfrm>
            <a:off x="838201" y="365125"/>
            <a:ext cx="5251316" cy="1807305"/>
          </a:xfrm>
        </p:spPr>
        <p:txBody>
          <a:bodyPr>
            <a:normAutofit/>
          </a:bodyPr>
          <a:lstStyle/>
          <a:p>
            <a:r>
              <a:rPr lang="en-US" sz="4100" b="1" dirty="0">
                <a:solidFill>
                  <a:srgbClr val="C00000"/>
                </a:solidFill>
              </a:rPr>
              <a:t>Develop Cultural Self-Awareness</a:t>
            </a:r>
            <a:br>
              <a:rPr lang="en-US" sz="4100" b="1" dirty="0"/>
            </a:br>
            <a:endParaRPr lang="en-US" sz="4100" b="1" dirty="0"/>
          </a:p>
        </p:txBody>
      </p:sp>
      <p:sp>
        <p:nvSpPr>
          <p:cNvPr id="3" name="Content Placeholder 2">
            <a:extLst>
              <a:ext uri="{FF2B5EF4-FFF2-40B4-BE49-F238E27FC236}">
                <a16:creationId xmlns:a16="http://schemas.microsoft.com/office/drawing/2014/main" id="{3F723A97-C153-4FEF-AD1E-8740934D5E7A}"/>
              </a:ext>
            </a:extLst>
          </p:cNvPr>
          <p:cNvSpPr>
            <a:spLocks noGrp="1"/>
          </p:cNvSpPr>
          <p:nvPr>
            <p:ph idx="1"/>
          </p:nvPr>
        </p:nvSpPr>
        <p:spPr>
          <a:xfrm>
            <a:off x="838200" y="2333297"/>
            <a:ext cx="4619621" cy="3843666"/>
          </a:xfrm>
        </p:spPr>
        <p:txBody>
          <a:bodyPr>
            <a:normAutofit/>
          </a:bodyPr>
          <a:lstStyle/>
          <a:p>
            <a:r>
              <a:rPr lang="en-US" sz="1700" dirty="0"/>
              <a:t>Recognizing the values, beliefs, and practices that make up one’s own culture. </a:t>
            </a:r>
          </a:p>
          <a:p>
            <a:r>
              <a:rPr lang="en-US" sz="1700" b="1" dirty="0"/>
              <a:t>To gain skill in understanding their own culturally based behavior, nurses can complete a cultural self-assessment by analyzing their own:</a:t>
            </a:r>
          </a:p>
          <a:p>
            <a:pPr lvl="1"/>
            <a:r>
              <a:rPr lang="en-US" sz="1700" dirty="0"/>
              <a:t>Influences related to racial background</a:t>
            </a:r>
          </a:p>
          <a:p>
            <a:pPr lvl="1"/>
            <a:r>
              <a:rPr lang="en-US" sz="1700" dirty="0"/>
              <a:t>Verbal and nonverbal communication patterns</a:t>
            </a:r>
          </a:p>
          <a:p>
            <a:pPr lvl="1"/>
            <a:r>
              <a:rPr lang="en-US" sz="1700" dirty="0"/>
              <a:t>Values and </a:t>
            </a:r>
            <a:r>
              <a:rPr lang="en-US" sz="1700" b="1" dirty="0"/>
              <a:t>norms</a:t>
            </a:r>
            <a:r>
              <a:rPr lang="en-US" sz="1700" dirty="0"/>
              <a:t> (expected cultural practices or behaviors)</a:t>
            </a:r>
          </a:p>
          <a:p>
            <a:pPr lvl="1"/>
            <a:r>
              <a:rPr lang="en-US" sz="1700" dirty="0"/>
              <a:t>Beliefs and practices</a:t>
            </a:r>
          </a:p>
          <a:p>
            <a:endParaRPr lang="en-US" sz="1700" dirty="0"/>
          </a:p>
        </p:txBody>
      </p:sp>
      <p:pic>
        <p:nvPicPr>
          <p:cNvPr id="5" name="Picture 4" descr="A group of multi coloured wooden stick figures">
            <a:extLst>
              <a:ext uri="{FF2B5EF4-FFF2-40B4-BE49-F238E27FC236}">
                <a16:creationId xmlns:a16="http://schemas.microsoft.com/office/drawing/2014/main" id="{AA2D8DCF-C3B5-8340-7732-7F7FBA9587B0}"/>
              </a:ext>
            </a:extLst>
          </p:cNvPr>
          <p:cNvPicPr>
            <a:picLocks noChangeAspect="1"/>
          </p:cNvPicPr>
          <p:nvPr/>
        </p:nvPicPr>
        <p:blipFill rotWithShape="1">
          <a:blip r:embed="rId3"/>
          <a:srcRect l="12829" r="26960"/>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3970357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95CC00-E880-488C-9B5C-E30230389118}"/>
              </a:ext>
            </a:extLst>
          </p:cNvPr>
          <p:cNvSpPr>
            <a:spLocks noGrp="1"/>
          </p:cNvSpPr>
          <p:nvPr>
            <p:ph type="title"/>
          </p:nvPr>
        </p:nvSpPr>
        <p:spPr>
          <a:xfrm>
            <a:off x="838201" y="365125"/>
            <a:ext cx="5251316" cy="1807305"/>
          </a:xfrm>
        </p:spPr>
        <p:txBody>
          <a:bodyPr>
            <a:normAutofit/>
          </a:bodyPr>
          <a:lstStyle/>
          <a:p>
            <a:r>
              <a:rPr lang="en-US" sz="4100" dirty="0">
                <a:solidFill>
                  <a:srgbClr val="C00000"/>
                </a:solidFill>
              </a:rPr>
              <a:t>Cultivate Cultural Sensitivity</a:t>
            </a:r>
            <a:br>
              <a:rPr lang="en-US" sz="4100" dirty="0"/>
            </a:br>
            <a:endParaRPr lang="en-US" sz="4100" dirty="0"/>
          </a:p>
        </p:txBody>
      </p:sp>
      <p:sp>
        <p:nvSpPr>
          <p:cNvPr id="3" name="Content Placeholder 2">
            <a:extLst>
              <a:ext uri="{FF2B5EF4-FFF2-40B4-BE49-F238E27FC236}">
                <a16:creationId xmlns:a16="http://schemas.microsoft.com/office/drawing/2014/main" id="{BABE0A55-697B-4820-8558-7ABDDCAADBEB}"/>
              </a:ext>
            </a:extLst>
          </p:cNvPr>
          <p:cNvSpPr>
            <a:spLocks noGrp="1"/>
          </p:cNvSpPr>
          <p:nvPr>
            <p:ph idx="1"/>
          </p:nvPr>
        </p:nvSpPr>
        <p:spPr>
          <a:xfrm>
            <a:off x="838200" y="2333297"/>
            <a:ext cx="4619621" cy="3843666"/>
          </a:xfrm>
        </p:spPr>
        <p:txBody>
          <a:bodyPr>
            <a:normAutofit/>
          </a:bodyPr>
          <a:lstStyle/>
          <a:p>
            <a:pPr>
              <a:lnSpc>
                <a:spcPct val="150000"/>
              </a:lnSpc>
            </a:pPr>
            <a:r>
              <a:rPr lang="en-US" sz="2000" b="1" dirty="0"/>
              <a:t>Cultural sensitivity</a:t>
            </a:r>
            <a:r>
              <a:rPr lang="en-US" sz="2000" dirty="0"/>
              <a:t> requires recognizing that culturally based values, beliefs, and practices influence people’s health and lifestyles and need to be considered in plans for service.</a:t>
            </a:r>
          </a:p>
        </p:txBody>
      </p:sp>
      <p:pic>
        <p:nvPicPr>
          <p:cNvPr id="4" name="Picture 3" descr="A group of colorful figures next to a human head&#10;&#10;Description automatically generated">
            <a:extLst>
              <a:ext uri="{FF2B5EF4-FFF2-40B4-BE49-F238E27FC236}">
                <a16:creationId xmlns:a16="http://schemas.microsoft.com/office/drawing/2014/main" id="{F7A14E12-AD75-EE2F-7F04-B2F86F308F61}"/>
              </a:ext>
            </a:extLst>
          </p:cNvPr>
          <p:cNvPicPr>
            <a:picLocks noChangeAspect="1"/>
          </p:cNvPicPr>
          <p:nvPr/>
        </p:nvPicPr>
        <p:blipFill rotWithShape="1">
          <a:blip r:embed="rId3"/>
          <a:srcRect l="18462" r="31762" b="1"/>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3634222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956AD-D066-A9CA-E5EA-75F7449F6730}"/>
              </a:ext>
            </a:extLst>
          </p:cNvPr>
          <p:cNvSpPr>
            <a:spLocks noGrp="1"/>
          </p:cNvSpPr>
          <p:nvPr>
            <p:ph type="title"/>
          </p:nvPr>
        </p:nvSpPr>
        <p:spPr/>
        <p:txBody>
          <a:bodyPr/>
          <a:lstStyle/>
          <a:p>
            <a:r>
              <a:rPr lang="en-US" b="1" dirty="0">
                <a:solidFill>
                  <a:srgbClr val="FF0000"/>
                </a:solidFill>
              </a:rPr>
              <a:t>Assess the Client Group’s Culture</a:t>
            </a:r>
          </a:p>
        </p:txBody>
      </p:sp>
      <p:pic>
        <p:nvPicPr>
          <p:cNvPr id="4" name="Picture 3">
            <a:extLst>
              <a:ext uri="{FF2B5EF4-FFF2-40B4-BE49-F238E27FC236}">
                <a16:creationId xmlns:a16="http://schemas.microsoft.com/office/drawing/2014/main" id="{1C743D08-5243-31E5-CDE4-15671591DE2E}"/>
              </a:ext>
            </a:extLst>
          </p:cNvPr>
          <p:cNvPicPr>
            <a:picLocks noChangeAspect="1"/>
          </p:cNvPicPr>
          <p:nvPr/>
        </p:nvPicPr>
        <p:blipFill>
          <a:blip r:embed="rId2"/>
          <a:stretch>
            <a:fillRect/>
          </a:stretch>
        </p:blipFill>
        <p:spPr>
          <a:xfrm>
            <a:off x="1029907" y="1631155"/>
            <a:ext cx="5036508" cy="4828300"/>
          </a:xfrm>
          <a:prstGeom prst="rect">
            <a:avLst/>
          </a:prstGeom>
        </p:spPr>
      </p:pic>
      <p:sp>
        <p:nvSpPr>
          <p:cNvPr id="6" name="TextBox 5">
            <a:extLst>
              <a:ext uri="{FF2B5EF4-FFF2-40B4-BE49-F238E27FC236}">
                <a16:creationId xmlns:a16="http://schemas.microsoft.com/office/drawing/2014/main" id="{0EEFD737-27C7-B0FD-77CF-A35EA034BD97}"/>
              </a:ext>
            </a:extLst>
          </p:cNvPr>
          <p:cNvSpPr txBox="1"/>
          <p:nvPr/>
        </p:nvSpPr>
        <p:spPr>
          <a:xfrm>
            <a:off x="6500812" y="2014538"/>
            <a:ext cx="5157788" cy="3911135"/>
          </a:xfrm>
          <a:prstGeom prst="rect">
            <a:avLst/>
          </a:prstGeom>
          <a:noFill/>
        </p:spPr>
        <p:txBody>
          <a:bodyPr wrap="square">
            <a:spAutoFit/>
          </a:bodyPr>
          <a:lstStyle/>
          <a:p>
            <a:pPr>
              <a:lnSpc>
                <a:spcPct val="150000"/>
              </a:lnSpc>
            </a:pPr>
            <a:r>
              <a:rPr lang="en-US" sz="2400" dirty="0">
                <a:solidFill>
                  <a:srgbClr val="000000"/>
                </a:solidFill>
                <a:latin typeface="Times New Roman" panose="02020603050405020304" pitchFamily="18" charset="0"/>
              </a:rPr>
              <a:t>Transcultural Assessment Model showing the culturally diverse individual through communication, space, social organization, time, environmental control, and biologic variations. (Adapted from Giger, J. M. (2017).</a:t>
            </a:r>
            <a:endParaRPr lang="en-US" sz="2400" dirty="0"/>
          </a:p>
        </p:txBody>
      </p:sp>
    </p:spTree>
    <p:extLst>
      <p:ext uri="{BB962C8B-B14F-4D97-AF65-F5344CB8AC3E}">
        <p14:creationId xmlns:p14="http://schemas.microsoft.com/office/powerpoint/2010/main" val="36378853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91868" y="375285"/>
            <a:ext cx="4840010" cy="1807305"/>
          </a:xfrm>
        </p:spPr>
        <p:txBody>
          <a:bodyPr>
            <a:normAutofit/>
          </a:bodyPr>
          <a:lstStyle/>
          <a:p>
            <a:r>
              <a:rPr lang="en-US" b="1" dirty="0">
                <a:solidFill>
                  <a:srgbClr val="C00000"/>
                </a:solidFill>
              </a:rPr>
              <a:t>Cultural Assessment</a:t>
            </a:r>
          </a:p>
        </p:txBody>
      </p:sp>
      <p:pic>
        <p:nvPicPr>
          <p:cNvPr id="4" name="Picture 3">
            <a:extLst>
              <a:ext uri="{FF2B5EF4-FFF2-40B4-BE49-F238E27FC236}">
                <a16:creationId xmlns:a16="http://schemas.microsoft.com/office/drawing/2014/main" id="{9DFDE05A-F233-D8D7-FB3F-D8F63E4DB456}"/>
              </a:ext>
            </a:extLst>
          </p:cNvPr>
          <p:cNvPicPr>
            <a:picLocks noChangeAspect="1"/>
          </p:cNvPicPr>
          <p:nvPr/>
        </p:nvPicPr>
        <p:blipFill rotWithShape="1">
          <a:blip r:embed="rId3"/>
          <a:srcRect l="4313" r="6498"/>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p:cNvSpPr>
            <a:spLocks noGrp="1"/>
          </p:cNvSpPr>
          <p:nvPr>
            <p:ph idx="1"/>
          </p:nvPr>
        </p:nvSpPr>
        <p:spPr>
          <a:xfrm>
            <a:off x="6513788" y="2333297"/>
            <a:ext cx="4840010" cy="3843666"/>
          </a:xfrm>
        </p:spPr>
        <p:txBody>
          <a:bodyPr>
            <a:normAutofit/>
          </a:bodyPr>
          <a:lstStyle/>
          <a:p>
            <a:r>
              <a:rPr lang="en-US" sz="2000" dirty="0"/>
              <a:t>Ethnic/racial background</a:t>
            </a:r>
          </a:p>
          <a:p>
            <a:r>
              <a:rPr lang="en-US" sz="2000" dirty="0"/>
              <a:t>Language and communication patterns</a:t>
            </a:r>
          </a:p>
          <a:p>
            <a:r>
              <a:rPr lang="en-US" sz="2000" dirty="0"/>
              <a:t>Cultural values and norms</a:t>
            </a:r>
          </a:p>
          <a:p>
            <a:r>
              <a:rPr lang="en-US" sz="2000" dirty="0"/>
              <a:t>Biocultural factors</a:t>
            </a:r>
          </a:p>
          <a:p>
            <a:r>
              <a:rPr lang="en-US" sz="2000" dirty="0"/>
              <a:t>Religious beliefs and practices</a:t>
            </a:r>
          </a:p>
          <a:p>
            <a:r>
              <a:rPr lang="en-US" sz="2000" dirty="0"/>
              <a:t>Health beliefs and practices</a:t>
            </a:r>
          </a:p>
        </p:txBody>
      </p:sp>
    </p:spTree>
    <p:extLst>
      <p:ext uri="{BB962C8B-B14F-4D97-AF65-F5344CB8AC3E}">
        <p14:creationId xmlns:p14="http://schemas.microsoft.com/office/powerpoint/2010/main" val="24697730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B5928-0CA9-4996-84BD-35877C0E6D12}"/>
              </a:ext>
            </a:extLst>
          </p:cNvPr>
          <p:cNvSpPr>
            <a:spLocks noGrp="1"/>
          </p:cNvSpPr>
          <p:nvPr>
            <p:ph type="title"/>
          </p:nvPr>
        </p:nvSpPr>
        <p:spPr>
          <a:xfrm>
            <a:off x="1944528" y="511647"/>
            <a:ext cx="8524875" cy="1163395"/>
          </a:xfrm>
        </p:spPr>
        <p:txBody>
          <a:bodyPr>
            <a:normAutofit fontScale="90000"/>
          </a:bodyPr>
          <a:lstStyle/>
          <a:p>
            <a:r>
              <a:rPr lang="en-US" b="1" dirty="0">
                <a:solidFill>
                  <a:srgbClr val="C00000"/>
                </a:solidFill>
              </a:rPr>
              <a:t>Show Respect and Patience While Learning About Other Cultures</a:t>
            </a:r>
            <a:br>
              <a:rPr lang="en-US" dirty="0"/>
            </a:br>
            <a:endParaRPr lang="en-US" dirty="0"/>
          </a:p>
        </p:txBody>
      </p:sp>
      <p:sp>
        <p:nvSpPr>
          <p:cNvPr id="3" name="Content Placeholder 2">
            <a:extLst>
              <a:ext uri="{FF2B5EF4-FFF2-40B4-BE49-F238E27FC236}">
                <a16:creationId xmlns:a16="http://schemas.microsoft.com/office/drawing/2014/main" id="{89155116-3EBC-4646-A292-A6C292276EC7}"/>
              </a:ext>
            </a:extLst>
          </p:cNvPr>
          <p:cNvSpPr>
            <a:spLocks noGrp="1"/>
          </p:cNvSpPr>
          <p:nvPr>
            <p:ph idx="1"/>
          </p:nvPr>
        </p:nvSpPr>
        <p:spPr/>
        <p:txBody>
          <a:bodyPr/>
          <a:lstStyle/>
          <a:p>
            <a:pPr>
              <a:lnSpc>
                <a:spcPct val="200000"/>
              </a:lnSpc>
            </a:pPr>
            <a:r>
              <a:rPr lang="en-US" dirty="0"/>
              <a:t>Attentive listening is a way to show respect and to learn about a client’s culture.</a:t>
            </a:r>
          </a:p>
        </p:txBody>
      </p:sp>
      <p:pic>
        <p:nvPicPr>
          <p:cNvPr id="4" name="Picture 3">
            <a:extLst>
              <a:ext uri="{FF2B5EF4-FFF2-40B4-BE49-F238E27FC236}">
                <a16:creationId xmlns:a16="http://schemas.microsoft.com/office/drawing/2014/main" id="{BB773E60-7E57-4E8C-ADE2-E6360E4DB546}"/>
              </a:ext>
            </a:extLst>
          </p:cNvPr>
          <p:cNvPicPr>
            <a:picLocks noChangeAspect="1"/>
          </p:cNvPicPr>
          <p:nvPr/>
        </p:nvPicPr>
        <p:blipFill>
          <a:blip r:embed="rId2"/>
          <a:stretch>
            <a:fillRect/>
          </a:stretch>
        </p:blipFill>
        <p:spPr>
          <a:xfrm>
            <a:off x="3828738" y="3325174"/>
            <a:ext cx="4756453" cy="263766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6464232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8AE85-F21F-9030-294B-94582F741D30}"/>
              </a:ext>
            </a:extLst>
          </p:cNvPr>
          <p:cNvSpPr>
            <a:spLocks noGrp="1"/>
          </p:cNvSpPr>
          <p:nvPr>
            <p:ph type="title"/>
          </p:nvPr>
        </p:nvSpPr>
        <p:spPr>
          <a:xfrm>
            <a:off x="1466374" y="633460"/>
            <a:ext cx="9259251" cy="775597"/>
          </a:xfrm>
        </p:spPr>
        <p:txBody>
          <a:bodyPr>
            <a:normAutofit fontScale="90000"/>
          </a:bodyPr>
          <a:lstStyle/>
          <a:p>
            <a:r>
              <a:rPr lang="en-US" b="1" dirty="0">
                <a:solidFill>
                  <a:srgbClr val="C00000"/>
                </a:solidFill>
              </a:rPr>
              <a:t>Examine Culturally Derived Health Practices </a:t>
            </a:r>
          </a:p>
        </p:txBody>
      </p:sp>
      <p:sp>
        <p:nvSpPr>
          <p:cNvPr id="3" name="Content Placeholder 2">
            <a:extLst>
              <a:ext uri="{FF2B5EF4-FFF2-40B4-BE49-F238E27FC236}">
                <a16:creationId xmlns:a16="http://schemas.microsoft.com/office/drawing/2014/main" id="{60C83965-FA4D-AAC6-ACC6-3E8B9F826552}"/>
              </a:ext>
            </a:extLst>
          </p:cNvPr>
          <p:cNvSpPr>
            <a:spLocks noGrp="1"/>
          </p:cNvSpPr>
          <p:nvPr>
            <p:ph idx="1"/>
          </p:nvPr>
        </p:nvSpPr>
        <p:spPr/>
        <p:txBody>
          <a:bodyPr/>
          <a:lstStyle/>
          <a:p>
            <a:pPr algn="just">
              <a:lnSpc>
                <a:spcPct val="150000"/>
              </a:lnSpc>
            </a:pPr>
            <a:r>
              <a:rPr lang="en-US" dirty="0"/>
              <a:t>Examine the cultural practices affecting health </a:t>
            </a:r>
          </a:p>
          <a:p>
            <a:pPr algn="just">
              <a:lnSpc>
                <a:spcPct val="150000"/>
              </a:lnSpc>
            </a:pPr>
            <a:r>
              <a:rPr lang="en-US" dirty="0"/>
              <a:t>Are these behaviors preserving or enhancing the group’s health </a:t>
            </a:r>
          </a:p>
          <a:p>
            <a:pPr algn="just">
              <a:lnSpc>
                <a:spcPct val="150000"/>
              </a:lnSpc>
            </a:pPr>
            <a:r>
              <a:rPr lang="en-US" dirty="0"/>
              <a:t>A cultural practice can be modified or continued while respecting the culture is maintained. </a:t>
            </a:r>
          </a:p>
        </p:txBody>
      </p:sp>
      <p:pic>
        <p:nvPicPr>
          <p:cNvPr id="4" name="Picture 3">
            <a:extLst>
              <a:ext uri="{FF2B5EF4-FFF2-40B4-BE49-F238E27FC236}">
                <a16:creationId xmlns:a16="http://schemas.microsoft.com/office/drawing/2014/main" id="{871B904C-F83E-3C01-D974-F164E95BD7A4}"/>
              </a:ext>
            </a:extLst>
          </p:cNvPr>
          <p:cNvPicPr>
            <a:picLocks noChangeAspect="1"/>
          </p:cNvPicPr>
          <p:nvPr/>
        </p:nvPicPr>
        <p:blipFill>
          <a:blip r:embed="rId2"/>
          <a:stretch>
            <a:fillRect/>
          </a:stretch>
        </p:blipFill>
        <p:spPr>
          <a:xfrm>
            <a:off x="8607291" y="3912800"/>
            <a:ext cx="2907525" cy="1635483"/>
          </a:xfrm>
          <a:prstGeom prst="ellipse">
            <a:avLst/>
          </a:prstGeom>
          <a:ln>
            <a:noFill/>
          </a:ln>
          <a:effectLst>
            <a:softEdge rad="112500"/>
          </a:effectLst>
        </p:spPr>
      </p:pic>
      <p:pic>
        <p:nvPicPr>
          <p:cNvPr id="5" name="Picture 4">
            <a:extLst>
              <a:ext uri="{FF2B5EF4-FFF2-40B4-BE49-F238E27FC236}">
                <a16:creationId xmlns:a16="http://schemas.microsoft.com/office/drawing/2014/main" id="{4B1CF112-57A7-FD41-6576-5FE6C4CB11CF}"/>
              </a:ext>
            </a:extLst>
          </p:cNvPr>
          <p:cNvPicPr>
            <a:picLocks noChangeAspect="1"/>
          </p:cNvPicPr>
          <p:nvPr/>
        </p:nvPicPr>
        <p:blipFill>
          <a:blip r:embed="rId3"/>
          <a:stretch>
            <a:fillRect/>
          </a:stretch>
        </p:blipFill>
        <p:spPr>
          <a:xfrm>
            <a:off x="5074701" y="4830464"/>
            <a:ext cx="2578873" cy="1724621"/>
          </a:xfrm>
          <a:prstGeom prst="ellipse">
            <a:avLst/>
          </a:prstGeom>
          <a:ln>
            <a:noFill/>
          </a:ln>
          <a:effectLst>
            <a:softEdge rad="112500"/>
          </a:effectLst>
        </p:spPr>
      </p:pic>
    </p:spTree>
    <p:extLst>
      <p:ext uri="{BB962C8B-B14F-4D97-AF65-F5344CB8AC3E}">
        <p14:creationId xmlns:p14="http://schemas.microsoft.com/office/powerpoint/2010/main" val="16178919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4919" name="Rectangle 294918">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914" name="Rectangle 2"/>
          <p:cNvSpPr>
            <a:spLocks noGrp="1" noChangeArrowheads="1"/>
          </p:cNvSpPr>
          <p:nvPr>
            <p:ph type="title"/>
          </p:nvPr>
        </p:nvSpPr>
        <p:spPr>
          <a:xfrm>
            <a:off x="1136397" y="502020"/>
            <a:ext cx="5323715" cy="1642970"/>
          </a:xfrm>
        </p:spPr>
        <p:txBody>
          <a:bodyPr anchor="b">
            <a:normAutofit/>
          </a:bodyPr>
          <a:lstStyle/>
          <a:p>
            <a:pPr eaLnBrk="1" hangingPunct="1">
              <a:defRPr/>
            </a:pPr>
            <a:r>
              <a:rPr lang="en-US" sz="4000" b="1" dirty="0">
                <a:solidFill>
                  <a:schemeClr val="accent1">
                    <a:lumMod val="75000"/>
                  </a:schemeClr>
                </a:solidFill>
              </a:rPr>
              <a:t>Question #3</a:t>
            </a:r>
          </a:p>
        </p:txBody>
      </p:sp>
      <p:sp>
        <p:nvSpPr>
          <p:cNvPr id="21507" name="Rectangle 3"/>
          <p:cNvSpPr>
            <a:spLocks noGrp="1" noChangeArrowheads="1"/>
          </p:cNvSpPr>
          <p:nvPr>
            <p:ph idx="1"/>
          </p:nvPr>
        </p:nvSpPr>
        <p:spPr>
          <a:xfrm>
            <a:off x="1144923" y="2405894"/>
            <a:ext cx="5315189" cy="3535083"/>
          </a:xfrm>
        </p:spPr>
        <p:txBody>
          <a:bodyPr anchor="t">
            <a:normAutofit/>
          </a:bodyPr>
          <a:lstStyle/>
          <a:p>
            <a:pPr marL="0" indent="0">
              <a:buNone/>
            </a:pPr>
            <a:r>
              <a:rPr lang="en-US" altLang="en-US" sz="2000" b="1"/>
              <a:t>Is the following statement true or false?</a:t>
            </a:r>
          </a:p>
          <a:p>
            <a:pPr eaLnBrk="1" hangingPunct="1"/>
            <a:endParaRPr lang="en-US" altLang="en-US" sz="2000"/>
          </a:p>
          <a:p>
            <a:pPr marL="0" indent="0">
              <a:buNone/>
            </a:pPr>
            <a:r>
              <a:rPr lang="en-US" altLang="en-US" sz="2000"/>
              <a:t>“The first step that a nurse does when applying transcultural nursing principles is to cultivate cultural sensitivity”</a:t>
            </a:r>
          </a:p>
        </p:txBody>
      </p:sp>
      <p:sp>
        <p:nvSpPr>
          <p:cNvPr id="294921" name="Rectangle 294920">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923" name="Rectangle 294922">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4925" name="Rectangle 294924">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4927" name="Rectangle 294926">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1">
            <a:extLst>
              <a:ext uri="{FF2B5EF4-FFF2-40B4-BE49-F238E27FC236}">
                <a16:creationId xmlns:a16="http://schemas.microsoft.com/office/drawing/2014/main" id="{546B10FD-11B6-2B39-6E98-870A93AE38F4}"/>
              </a:ext>
            </a:extLst>
          </p:cNvPr>
          <p:cNvPicPr>
            <a:picLocks noChangeAspect="1"/>
          </p:cNvPicPr>
          <p:nvPr/>
        </p:nvPicPr>
        <p:blipFill>
          <a:blip r:embed="rId2"/>
          <a:stretch>
            <a:fillRect/>
          </a:stretch>
        </p:blipFill>
        <p:spPr>
          <a:xfrm>
            <a:off x="7075967" y="1061786"/>
            <a:ext cx="4170530" cy="476632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5945" name="Rectangle 295944">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938" name="Rectangle 2"/>
          <p:cNvSpPr>
            <a:spLocks noGrp="1" noChangeArrowheads="1"/>
          </p:cNvSpPr>
          <p:nvPr>
            <p:ph type="title"/>
          </p:nvPr>
        </p:nvSpPr>
        <p:spPr>
          <a:xfrm>
            <a:off x="1136397" y="502020"/>
            <a:ext cx="5323715" cy="1642970"/>
          </a:xfrm>
        </p:spPr>
        <p:txBody>
          <a:bodyPr anchor="b">
            <a:normAutofit/>
          </a:bodyPr>
          <a:lstStyle/>
          <a:p>
            <a:pPr eaLnBrk="1" hangingPunct="1">
              <a:defRPr/>
            </a:pPr>
            <a:r>
              <a:rPr lang="en-US" sz="4000" b="1" dirty="0"/>
              <a:t>Answer to Question #3</a:t>
            </a:r>
          </a:p>
        </p:txBody>
      </p:sp>
      <p:sp>
        <p:nvSpPr>
          <p:cNvPr id="22531" name="Rectangle 3"/>
          <p:cNvSpPr>
            <a:spLocks noGrp="1" noChangeArrowheads="1"/>
          </p:cNvSpPr>
          <p:nvPr>
            <p:ph idx="1"/>
          </p:nvPr>
        </p:nvSpPr>
        <p:spPr>
          <a:xfrm>
            <a:off x="1144923" y="2405894"/>
            <a:ext cx="5315189" cy="3535083"/>
          </a:xfrm>
        </p:spPr>
        <p:txBody>
          <a:bodyPr anchor="t">
            <a:normAutofit/>
          </a:bodyPr>
          <a:lstStyle/>
          <a:p>
            <a:pPr marL="0" indent="0">
              <a:buNone/>
            </a:pPr>
            <a:r>
              <a:rPr lang="en-US" altLang="en-US" sz="2000" b="1"/>
              <a:t>False</a:t>
            </a:r>
          </a:p>
          <a:p>
            <a:pPr eaLnBrk="1" hangingPunct="1"/>
            <a:endParaRPr lang="en-US" altLang="en-US" sz="2000"/>
          </a:p>
          <a:p>
            <a:pPr eaLnBrk="1" hangingPunct="1"/>
            <a:r>
              <a:rPr lang="en-US" altLang="en-US" sz="2000"/>
              <a:t>Rationale: The nurse first develops cultural self-awareness and then cultivates cultural sensitivity.</a:t>
            </a:r>
          </a:p>
        </p:txBody>
      </p:sp>
      <p:sp>
        <p:nvSpPr>
          <p:cNvPr id="295947" name="Rectangle 295946">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949" name="Rectangle 295948">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5951" name="Rectangle 295950">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5953" name="Rectangle 295952">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5942" name="Graphic 295941" descr="Doctor">
            <a:extLst>
              <a:ext uri="{FF2B5EF4-FFF2-40B4-BE49-F238E27FC236}">
                <a16:creationId xmlns:a16="http://schemas.microsoft.com/office/drawing/2014/main" id="{4764D3EB-7F0C-EF0E-BA82-11C3455D150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75967" y="1359681"/>
            <a:ext cx="4170530" cy="417053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358FA3-D752-4C65-B67F-FA2C934E3BDB}"/>
              </a:ext>
            </a:extLst>
          </p:cNvPr>
          <p:cNvSpPr>
            <a:spLocks noGrp="1"/>
          </p:cNvSpPr>
          <p:nvPr>
            <p:ph idx="1"/>
          </p:nvPr>
        </p:nvSpPr>
        <p:spPr>
          <a:xfrm>
            <a:off x="1228726" y="5143017"/>
            <a:ext cx="9610649" cy="2343633"/>
          </a:xfrm>
        </p:spPr>
        <p:txBody>
          <a:bodyPr>
            <a:normAutofit/>
          </a:bodyPr>
          <a:lstStyle/>
          <a:p>
            <a:pPr marL="0" indent="0" algn="ctr">
              <a:buNone/>
            </a:pPr>
            <a:r>
              <a:rPr lang="en-US" sz="6600" b="1" dirty="0">
                <a:solidFill>
                  <a:schemeClr val="accent2">
                    <a:lumMod val="50000"/>
                  </a:schemeClr>
                </a:solidFill>
              </a:rPr>
              <a:t>Thank you </a:t>
            </a:r>
          </a:p>
        </p:txBody>
      </p:sp>
      <p:pic>
        <p:nvPicPr>
          <p:cNvPr id="2" name="Picture 1">
            <a:extLst>
              <a:ext uri="{FF2B5EF4-FFF2-40B4-BE49-F238E27FC236}">
                <a16:creationId xmlns:a16="http://schemas.microsoft.com/office/drawing/2014/main" id="{5E86EBC3-3E40-A99D-9723-02D39A499BA1}"/>
              </a:ext>
            </a:extLst>
          </p:cNvPr>
          <p:cNvPicPr>
            <a:picLocks noChangeAspect="1"/>
          </p:cNvPicPr>
          <p:nvPr/>
        </p:nvPicPr>
        <p:blipFill>
          <a:blip r:embed="rId2"/>
          <a:stretch>
            <a:fillRect/>
          </a:stretch>
        </p:blipFill>
        <p:spPr>
          <a:xfrm>
            <a:off x="3757328" y="808181"/>
            <a:ext cx="4823957" cy="4438040"/>
          </a:xfrm>
          <a:prstGeom prst="rect">
            <a:avLst/>
          </a:prstGeom>
        </p:spPr>
      </p:pic>
    </p:spTree>
    <p:extLst>
      <p:ext uri="{BB962C8B-B14F-4D97-AF65-F5344CB8AC3E}">
        <p14:creationId xmlns:p14="http://schemas.microsoft.com/office/powerpoint/2010/main" val="16124111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a:xfrm>
            <a:off x="1957389" y="611229"/>
            <a:ext cx="8524875" cy="553998"/>
          </a:xfrm>
        </p:spPr>
        <p:txBody>
          <a:bodyPr>
            <a:normAutofit fontScale="90000"/>
          </a:bodyPr>
          <a:lstStyle/>
          <a:p>
            <a:pPr eaLnBrk="1" hangingPunct="1">
              <a:defRPr/>
            </a:pPr>
            <a:r>
              <a:rPr lang="en-US" sz="4000" b="1" dirty="0">
                <a:solidFill>
                  <a:srgbClr val="FF0000"/>
                </a:solidFill>
              </a:rPr>
              <a:t>Dominant Values</a:t>
            </a:r>
          </a:p>
        </p:txBody>
      </p:sp>
      <p:sp>
        <p:nvSpPr>
          <p:cNvPr id="4099" name="Rectangle 3"/>
          <p:cNvSpPr>
            <a:spLocks noGrp="1" noChangeArrowheads="1"/>
          </p:cNvSpPr>
          <p:nvPr>
            <p:ph idx="1"/>
          </p:nvPr>
        </p:nvSpPr>
        <p:spPr>
          <a:xfrm>
            <a:off x="975360" y="1750000"/>
            <a:ext cx="10241280" cy="4750000"/>
          </a:xfrm>
        </p:spPr>
        <p:txBody>
          <a:bodyPr>
            <a:normAutofit fontScale="90000" lnSpcReduction="10000"/>
          </a:bodyPr>
          <a:lstStyle/>
          <a:p>
            <a:pPr algn="just">
              <a:lnSpc>
                <a:spcPct val="130000"/>
              </a:lnSpc>
            </a:pPr>
            <a:r>
              <a:rPr lang="en-US" sz="1600" b="1" dirty="0"/>
              <a:t>Dominant values </a:t>
            </a:r>
            <a:r>
              <a:rPr lang="en-US" sz="1600" dirty="0"/>
              <a:t>– the beliefs and sanctions of the dominant or majority culture</a:t>
            </a:r>
          </a:p>
          <a:p>
            <a:pPr algn="just">
              <a:lnSpc>
                <a:spcPct val="130000"/>
              </a:lnSpc>
            </a:pPr>
            <a:r>
              <a:rPr lang="en-US" sz="1600" dirty="0"/>
              <a:t>In the US, the majority culture is non-Hispanic Whites; dominant values have largely included the work ethic, thrift, success, independence, initiative, privacy, cleanliness, attractive appearance, and a focus on the future</a:t>
            </a:r>
          </a:p>
          <a:p>
            <a:pPr algn="just">
              <a:lnSpc>
                <a:spcPct val="130000"/>
              </a:lnSpc>
            </a:pPr>
            <a:r>
              <a:rPr lang="en-US" sz="1600" b="1" dirty="0"/>
              <a:t>Awareness of dominant values matters in nursing </a:t>
            </a:r>
            <a:r>
              <a:rPr lang="en-US" sz="1600" dirty="0"/>
              <a:t>– it helps explain why some client behaviors are accepted by health professionals and others are not, and why persuading clients to adopt new ways of thinking can be difficult</a:t>
            </a:r>
          </a:p>
          <a:p>
            <a:pPr algn="just">
              <a:lnSpc>
                <a:spcPct val="130000"/>
              </a:lnSpc>
            </a:pPr>
            <a:r>
              <a:rPr lang="en-US" sz="1600" b="1" dirty="0"/>
              <a:t>Dominant values can and do change as demographics shift </a:t>
            </a:r>
            <a:r>
              <a:rPr lang="en-US" sz="1600" dirty="0"/>
              <a:t>– the US is projected to become a majority–minority nation by mid-century as current minority groups grow in population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a:xfrm>
            <a:off x="1957389" y="611229"/>
            <a:ext cx="8524875" cy="553998"/>
          </a:xfrm>
        </p:spPr>
        <p:txBody>
          <a:bodyPr>
            <a:normAutofit fontScale="90000"/>
          </a:bodyPr>
          <a:lstStyle/>
          <a:p>
            <a:pPr eaLnBrk="1" hangingPunct="1">
              <a:defRPr/>
            </a:pPr>
            <a:r>
              <a:rPr lang="en-US" sz="4000" b="1" dirty="0">
                <a:solidFill>
                  <a:srgbClr val="FF0000"/>
                </a:solidFill>
              </a:rPr>
              <a:t>Subcultures &amp; Microcultures</a:t>
            </a:r>
          </a:p>
        </p:txBody>
      </p:sp>
      <p:sp>
        <p:nvSpPr>
          <p:cNvPr id="4099" name="Rectangle 3"/>
          <p:cNvSpPr>
            <a:spLocks noGrp="1" noChangeArrowheads="1"/>
          </p:cNvSpPr>
          <p:nvPr>
            <p:ph idx="1"/>
          </p:nvPr>
        </p:nvSpPr>
        <p:spPr>
          <a:xfrm>
            <a:off x="975360" y="1750000"/>
            <a:ext cx="10241280" cy="4750000"/>
          </a:xfrm>
        </p:spPr>
        <p:txBody>
          <a:bodyPr>
            <a:normAutofit fontScale="90000" lnSpcReduction="10000"/>
          </a:bodyPr>
          <a:lstStyle/>
          <a:p>
            <a:pPr marL="0" indent="0" algn="l">
              <a:lnSpc>
                <a:spcPct val="130000"/>
              </a:lnSpc>
              <a:buNone/>
            </a:pPr>
            <a:r>
              <a:rPr lang="en-US" sz="1900" b="1" dirty="0">
                <a:solidFill>
                  <a:srgbClr val="FF0000"/>
                </a:solidFill>
              </a:rPr>
              <a:t>Subcultures</a:t>
            </a:r>
          </a:p>
          <a:p>
            <a:pPr algn="just">
              <a:lnSpc>
                <a:spcPct val="130000"/>
              </a:lnSpc>
            </a:pPr>
            <a:r>
              <a:rPr lang="en-US" sz="1600" dirty="0"/>
              <a:t>Smaller cultural groups within a larger society, developed and preserved to meet the unique needs, values, and beliefs of their members</a:t>
            </a:r>
          </a:p>
          <a:p>
            <a:pPr algn="just">
              <a:lnSpc>
                <a:spcPct val="130000"/>
              </a:lnSpc>
            </a:pPr>
            <a:r>
              <a:rPr lang="en-US" sz="1600" dirty="0"/>
              <a:t>Distinguished by shared characteristics such as ethnicity, occupation, socioeconomic status, religion, geographic area, age, gender, or sexual preference</a:t>
            </a:r>
          </a:p>
          <a:p>
            <a:pPr marL="0" indent="0" algn="l">
              <a:lnSpc>
                <a:spcPct val="130000"/>
              </a:lnSpc>
              <a:buNone/>
            </a:pPr>
            <a:r>
              <a:rPr lang="en-US" sz="1900" b="1" dirty="0">
                <a:solidFill>
                  <a:srgbClr val="FF0000"/>
                </a:solidFill>
              </a:rPr>
              <a:t>Microcultures</a:t>
            </a:r>
          </a:p>
          <a:p>
            <a:pPr algn="just">
              <a:lnSpc>
                <a:spcPct val="130000"/>
              </a:lnSpc>
            </a:pPr>
            <a:r>
              <a:rPr lang="en-US" sz="1600" dirty="0"/>
              <a:t>Even smaller groups who share specific experiences or special cultural knowledge unique to the subgroup (e.g., recent refugees sharing resources, third-generation immigrants sharing food and traditions)</a:t>
            </a:r>
          </a:p>
          <a:p>
            <a:pPr algn="just">
              <a:lnSpc>
                <a:spcPct val="130000"/>
              </a:lnSpc>
            </a:pPr>
            <a:r>
              <a:rPr lang="en-US" sz="1600" dirty="0"/>
              <a:t>Also include groups on the margins of mainstream culture with their own ways of coping (e.g., migrant farm workers, urban homeless families, gangs)</a:t>
            </a:r>
          </a:p>
          <a:p>
            <a:pPr marL="0" indent="0" algn="l">
              <a:lnSpc>
                <a:spcPct val="130000"/>
              </a:lnSpc>
              <a:buNone/>
            </a:pPr>
            <a:r>
              <a:rPr lang="en-US" sz="1900" b="1" dirty="0">
                <a:solidFill>
                  <a:srgbClr val="FF0000"/>
                </a:solidFill>
              </a:rPr>
              <a:t>Related Concepts</a:t>
            </a:r>
          </a:p>
          <a:p>
            <a:pPr algn="just">
              <a:lnSpc>
                <a:spcPct val="130000"/>
              </a:lnSpc>
            </a:pPr>
            <a:r>
              <a:rPr lang="en-US" sz="1600" b="1" dirty="0"/>
              <a:t>Intraethnic variations </a:t>
            </a:r>
            <a:r>
              <a:rPr lang="en-US" sz="1600" dirty="0"/>
              <a:t>– differences within a microculture due to social class, socioeconomic status, age, or degree of acculturation</a:t>
            </a:r>
          </a:p>
          <a:p>
            <a:pPr algn="just">
              <a:lnSpc>
                <a:spcPct val="130000"/>
              </a:lnSpc>
            </a:pPr>
            <a:r>
              <a:rPr lang="en-US" sz="1600" b="1" dirty="0"/>
              <a:t>Minority group </a:t>
            </a:r>
            <a:r>
              <a:rPr lang="en-US" sz="1600" dirty="0"/>
              <a:t>– part of a population that differs from the majority and often receives different and unequal treatment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a:xfrm>
            <a:off x="1957389" y="611229"/>
            <a:ext cx="8524875" cy="553998"/>
          </a:xfrm>
        </p:spPr>
        <p:txBody>
          <a:bodyPr>
            <a:normAutofit fontScale="90000"/>
          </a:bodyPr>
          <a:lstStyle/>
          <a:p>
            <a:pPr eaLnBrk="1" hangingPunct="1">
              <a:defRPr/>
            </a:pPr>
            <a:r>
              <a:rPr lang="en-US" sz="4000" b="1" dirty="0">
                <a:solidFill>
                  <a:srgbClr val="FF0000"/>
                </a:solidFill>
              </a:rPr>
              <a:t>Key Transcultural Concepts</a:t>
            </a:r>
          </a:p>
        </p:txBody>
      </p:sp>
      <p:sp>
        <p:nvSpPr>
          <p:cNvPr id="4099" name="Rectangle 3"/>
          <p:cNvSpPr>
            <a:spLocks noGrp="1" noChangeArrowheads="1"/>
          </p:cNvSpPr>
          <p:nvPr>
            <p:ph idx="1"/>
          </p:nvPr>
        </p:nvSpPr>
        <p:spPr>
          <a:xfrm>
            <a:off x="975360" y="1750000"/>
            <a:ext cx="10241280" cy="4750000"/>
          </a:xfrm>
        </p:spPr>
        <p:txBody>
          <a:bodyPr>
            <a:normAutofit fontScale="90000" lnSpcReduction="10000"/>
          </a:bodyPr>
          <a:lstStyle/>
          <a:p>
            <a:pPr algn="just">
              <a:lnSpc>
                <a:spcPct val="130000"/>
              </a:lnSpc>
            </a:pPr>
            <a:r>
              <a:rPr lang="en-US" sz="1600" b="1" dirty="0"/>
              <a:t>Transcultural (cross-cultural) nursing </a:t>
            </a:r>
            <a:r>
              <a:rPr lang="en-US" sz="1600" dirty="0"/>
              <a:t>– providing culturally sensitive nursing service to people of an ethnic or racial background different from the nurse's</a:t>
            </a:r>
          </a:p>
          <a:p>
            <a:pPr algn="just">
              <a:lnSpc>
                <a:spcPct val="130000"/>
              </a:lnSpc>
            </a:pPr>
            <a:r>
              <a:rPr lang="en-US" sz="1600" b="1" dirty="0"/>
              <a:t>Cultural relativism </a:t>
            </a:r>
            <a:r>
              <a:rPr lang="en-US" sz="1600" dirty="0"/>
              <a:t>– recognizing and respecting alternative viewpoints and understanding values, beliefs, and practices within their own cultural context</a:t>
            </a:r>
          </a:p>
          <a:p>
            <a:pPr algn="just">
              <a:lnSpc>
                <a:spcPct val="130000"/>
              </a:lnSpc>
            </a:pPr>
            <a:r>
              <a:rPr lang="en-US" sz="1600" b="1" dirty="0"/>
              <a:t>Cultural brokering </a:t>
            </a:r>
            <a:r>
              <a:rPr lang="en-US" sz="1600" dirty="0"/>
              <a:t>– mediating or building connections between people from different cultural backgrounds to promote change</a:t>
            </a:r>
          </a:p>
          <a:p>
            <a:pPr algn="just">
              <a:lnSpc>
                <a:spcPct val="130000"/>
              </a:lnSpc>
            </a:pPr>
            <a:r>
              <a:rPr lang="en-US" sz="1600" b="1" dirty="0"/>
              <a:t>Cultural conflict </a:t>
            </a:r>
            <a:r>
              <a:rPr lang="en-US" sz="1600" dirty="0"/>
              <a:t>– a perceived threat arising from a misunderstanding of expectations between clients and nurses when either group is unaware of cultural differences</a:t>
            </a:r>
          </a:p>
          <a:p>
            <a:pPr algn="just">
              <a:lnSpc>
                <a:spcPct val="130000"/>
              </a:lnSpc>
            </a:pPr>
            <a:r>
              <a:rPr lang="en-US" sz="1600" b="1" dirty="0"/>
              <a:t>Cultural adaptation </a:t>
            </a:r>
            <a:r>
              <a:rPr lang="en-US" sz="1600" dirty="0"/>
              <a:t>– the successful adjustment to cultural changes, often following a period of culture shock</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a:xfrm>
            <a:off x="1957389" y="611229"/>
            <a:ext cx="8524875" cy="553998"/>
          </a:xfrm>
        </p:spPr>
        <p:txBody>
          <a:bodyPr>
            <a:normAutofit fontScale="90000"/>
          </a:bodyPr>
          <a:lstStyle/>
          <a:p>
            <a:pPr eaLnBrk="1" hangingPunct="1">
              <a:defRPr/>
            </a:pPr>
            <a:r>
              <a:rPr lang="en-US" sz="4000" b="1" dirty="0">
                <a:solidFill>
                  <a:srgbClr val="FF0000"/>
                </a:solidFill>
              </a:rPr>
              <a:t>Cultural Diversity &amp; Immigration in the US</a:t>
            </a:r>
          </a:p>
        </p:txBody>
      </p:sp>
      <p:sp>
        <p:nvSpPr>
          <p:cNvPr id="4099" name="Rectangle 3"/>
          <p:cNvSpPr>
            <a:spLocks noGrp="1" noChangeArrowheads="1"/>
          </p:cNvSpPr>
          <p:nvPr>
            <p:ph idx="1"/>
          </p:nvPr>
        </p:nvSpPr>
        <p:spPr>
          <a:xfrm>
            <a:off x="975360" y="1750000"/>
            <a:ext cx="10241280" cy="4750000"/>
          </a:xfrm>
        </p:spPr>
        <p:txBody>
          <a:bodyPr>
            <a:normAutofit fontScale="90000" lnSpcReduction="10000"/>
          </a:bodyPr>
          <a:lstStyle/>
          <a:p>
            <a:pPr algn="just">
              <a:lnSpc>
                <a:spcPct val="130000"/>
              </a:lnSpc>
            </a:pPr>
            <a:r>
              <a:rPr lang="en-US" sz="1600" dirty="0"/>
              <a:t>Immigration has been a major driver of cultural diversity in the US, from early Indigenous peoples and European settlers to enslaved Africans and generations of refugees and immigrants</a:t>
            </a:r>
          </a:p>
          <a:p>
            <a:pPr algn="just">
              <a:lnSpc>
                <a:spcPct val="130000"/>
              </a:lnSpc>
            </a:pPr>
            <a:r>
              <a:rPr lang="en-US" sz="1600" b="1" dirty="0"/>
              <a:t>Key immigration laws shaped current diversity </a:t>
            </a:r>
            <a:r>
              <a:rPr lang="en-US" sz="1600" dirty="0"/>
              <a:t>– medical/economic inspections (1891), the Immigration Act of 1924 (limited immigration by national origin), the 1965 Act (ended quotas, endorsed family migration), the Immigration Reform and Control Act of 1986, and the Immigration Act of 1990</a:t>
            </a:r>
          </a:p>
          <a:p>
            <a:pPr algn="just">
              <a:lnSpc>
                <a:spcPct val="130000"/>
              </a:lnSpc>
            </a:pPr>
            <a:r>
              <a:rPr lang="en-US" sz="1600" b="1" dirty="0"/>
              <a:t>Current trends </a:t>
            </a:r>
            <a:r>
              <a:rPr lang="en-US" sz="1600" dirty="0"/>
              <a:t>– a large undocumented population, rapid growth of multiracial and Asian populations, and fast-growing Hispanic/Latino communities</a:t>
            </a:r>
          </a:p>
          <a:p>
            <a:pPr algn="just">
              <a:lnSpc>
                <a:spcPct val="130000"/>
              </a:lnSpc>
            </a:pPr>
            <a:r>
              <a:rPr lang="en-US" sz="1600" b="1" dirty="0"/>
              <a:t>Ongoing issues </a:t>
            </a:r>
            <a:r>
              <a:rPr lang="en-US" sz="1600" dirty="0"/>
              <a:t>– ambivalence toward accepting refugees, family separation at the border, and increased border enforcement continue to shape the social climate for immigrants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a:xfrm>
            <a:off x="1957389" y="611229"/>
            <a:ext cx="8524875" cy="553998"/>
          </a:xfrm>
        </p:spPr>
        <p:txBody>
          <a:bodyPr>
            <a:normAutofit fontScale="90000"/>
          </a:bodyPr>
          <a:lstStyle/>
          <a:p>
            <a:pPr eaLnBrk="1" hangingPunct="1">
              <a:defRPr/>
            </a:pPr>
            <a:r>
              <a:rPr lang="en-US" sz="4000" b="1" dirty="0">
                <a:solidFill>
                  <a:srgbClr val="FF0000"/>
                </a:solidFill>
              </a:rPr>
              <a:t>Integrated Health Care &amp; CAM</a:t>
            </a:r>
          </a:p>
        </p:txBody>
      </p:sp>
      <p:sp>
        <p:nvSpPr>
          <p:cNvPr id="4099" name="Rectangle 3"/>
          <p:cNvSpPr>
            <a:spLocks noGrp="1" noChangeArrowheads="1"/>
          </p:cNvSpPr>
          <p:nvPr>
            <p:ph idx="1"/>
          </p:nvPr>
        </p:nvSpPr>
        <p:spPr>
          <a:xfrm>
            <a:off x="975360" y="1750000"/>
            <a:ext cx="10241280" cy="4750000"/>
          </a:xfrm>
        </p:spPr>
        <p:txBody>
          <a:bodyPr>
            <a:normAutofit fontScale="90000" lnSpcReduction="10000"/>
          </a:bodyPr>
          <a:lstStyle/>
          <a:p>
            <a:pPr algn="just">
              <a:lnSpc>
                <a:spcPct val="130000"/>
              </a:lnSpc>
            </a:pPr>
            <a:r>
              <a:rPr lang="en-US" sz="1600" b="1" dirty="0"/>
              <a:t>Complementary and alternative medicine (CAM) </a:t>
            </a:r>
            <a:r>
              <a:rPr lang="en-US" sz="1600" dirty="0"/>
              <a:t>– a broad, multibillion-dollar array of healing resources used to promote comfort, health, and well-being</a:t>
            </a:r>
          </a:p>
          <a:p>
            <a:pPr algn="just">
              <a:lnSpc>
                <a:spcPct val="130000"/>
              </a:lnSpc>
            </a:pPr>
            <a:r>
              <a:rPr lang="en-US" sz="1600" b="1" dirty="0"/>
              <a:t>Therapies </a:t>
            </a:r>
            <a:r>
              <a:rPr lang="en-US" sz="1600" dirty="0"/>
              <a:t>– juice diets, fasting, coffee enemas, biofeedback</a:t>
            </a:r>
          </a:p>
          <a:p>
            <a:pPr algn="just">
              <a:lnSpc>
                <a:spcPct val="130000"/>
              </a:lnSpc>
            </a:pPr>
            <a:r>
              <a:rPr lang="en-US" sz="1600" b="1" dirty="0"/>
              <a:t>Exercise activities </a:t>
            </a:r>
            <a:r>
              <a:rPr lang="en-US" sz="1600" dirty="0"/>
              <a:t>– T'ai chi, yoga, dance</a:t>
            </a:r>
          </a:p>
          <a:p>
            <a:pPr algn="just">
              <a:lnSpc>
                <a:spcPct val="130000"/>
              </a:lnSpc>
            </a:pPr>
            <a:r>
              <a:rPr lang="en-US" sz="1600" b="1" dirty="0"/>
              <a:t>Exposure </a:t>
            </a:r>
            <a:r>
              <a:rPr lang="en-US" sz="1600" dirty="0"/>
              <a:t>– aromatherapy, music therapy, light therapy</a:t>
            </a:r>
          </a:p>
          <a:p>
            <a:pPr algn="just">
              <a:lnSpc>
                <a:spcPct val="130000"/>
              </a:lnSpc>
            </a:pPr>
            <a:r>
              <a:rPr lang="en-US" sz="1600" b="1" dirty="0"/>
              <a:t>Manipulation </a:t>
            </a:r>
            <a:r>
              <a:rPr lang="en-US" sz="1600" dirty="0"/>
              <a:t>– acupuncture, acupressure, chiropractic, cupping, reflexology</a:t>
            </a:r>
          </a:p>
          <a:p>
            <a:pPr algn="just">
              <a:lnSpc>
                <a:spcPct val="130000"/>
              </a:lnSpc>
            </a:pPr>
            <a:r>
              <a:rPr lang="en-US" sz="1600" b="1" dirty="0"/>
              <a:t>Integrated health care </a:t>
            </a:r>
            <a:r>
              <a:rPr lang="en-US" sz="1600" dirty="0"/>
              <a:t>– combining complementary therapies with Western medicine (e.g., for pain relief in labor or to improve sleep in the ICU); nurses stay informed, remain objective, and weigh pros and cons when a therapy conflicts with medical advice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a:xfrm>
            <a:off x="1957389" y="611229"/>
            <a:ext cx="8524875" cy="553998"/>
          </a:xfrm>
        </p:spPr>
        <p:txBody>
          <a:bodyPr>
            <a:normAutofit fontScale="90000"/>
          </a:bodyPr>
          <a:lstStyle/>
          <a:p>
            <a:pPr eaLnBrk="1" hangingPunct="1">
              <a:defRPr/>
            </a:pPr>
            <a:r>
              <a:rPr lang="en-US" sz="4000" b="1" dirty="0">
                <a:solidFill>
                  <a:srgbClr val="FF0000"/>
                </a:solidFill>
              </a:rPr>
              <a:t>Role &amp; Preparation of the C/PHN</a:t>
            </a:r>
          </a:p>
        </p:txBody>
      </p:sp>
      <p:sp>
        <p:nvSpPr>
          <p:cNvPr id="4099" name="Rectangle 3"/>
          <p:cNvSpPr>
            <a:spLocks noGrp="1" noChangeArrowheads="1"/>
          </p:cNvSpPr>
          <p:nvPr>
            <p:ph idx="1"/>
          </p:nvPr>
        </p:nvSpPr>
        <p:spPr>
          <a:xfrm>
            <a:off x="975360" y="1750000"/>
            <a:ext cx="10241280" cy="4750000"/>
          </a:xfrm>
        </p:spPr>
        <p:txBody>
          <a:bodyPr>
            <a:normAutofit fontScale="90000" lnSpcReduction="10000"/>
          </a:bodyPr>
          <a:lstStyle/>
          <a:p>
            <a:pPr marL="0" indent="0" algn="l">
              <a:lnSpc>
                <a:spcPct val="130000"/>
              </a:lnSpc>
              <a:buNone/>
            </a:pPr>
            <a:r>
              <a:rPr lang="en-US" sz="1900" b="1" dirty="0">
                <a:solidFill>
                  <a:srgbClr val="FF0000"/>
                </a:solidFill>
              </a:rPr>
              <a:t>To be an effective advocate, the nurse must:</a:t>
            </a:r>
          </a:p>
          <a:p>
            <a:pPr algn="just">
              <a:lnSpc>
                <a:spcPct val="130000"/>
              </a:lnSpc>
            </a:pPr>
            <a:r>
              <a:rPr lang="en-US" sz="1600" dirty="0"/>
              <a:t>Speak knowledgeably about health care practices and choices</a:t>
            </a:r>
          </a:p>
          <a:p>
            <a:pPr algn="just">
              <a:lnSpc>
                <a:spcPct val="130000"/>
              </a:lnSpc>
            </a:pPr>
            <a:r>
              <a:rPr lang="en-US" sz="1600" dirty="0"/>
              <a:t>Assess the client or family adequately to know what belief system motivates their choices</a:t>
            </a:r>
          </a:p>
          <a:p>
            <a:pPr algn="just">
              <a:lnSpc>
                <a:spcPct val="130000"/>
              </a:lnSpc>
            </a:pPr>
            <a:r>
              <a:rPr lang="en-US" sz="1600" dirty="0"/>
              <a:t>Teach clients about the limits and benefits of cultural health care practices</a:t>
            </a:r>
          </a:p>
          <a:p>
            <a:pPr algn="just">
              <a:lnSpc>
                <a:spcPct val="130000"/>
              </a:lnSpc>
            </a:pPr>
            <a:r>
              <a:rPr lang="en-US" sz="1600" dirty="0"/>
              <a:t>Individualize assessment and caregiving within the client's culture, rather than generalizing based on group norms</a:t>
            </a:r>
          </a:p>
          <a:p>
            <a:pPr marL="0" indent="0" algn="l">
              <a:lnSpc>
                <a:spcPct val="130000"/>
              </a:lnSpc>
              <a:buNone/>
            </a:pPr>
            <a:r>
              <a:rPr lang="en-US" sz="1900" b="1" dirty="0">
                <a:solidFill>
                  <a:srgbClr val="FF0000"/>
                </a:solidFill>
              </a:rPr>
              <a:t>Nurses can prepare by:</a:t>
            </a:r>
          </a:p>
          <a:p>
            <a:pPr algn="just">
              <a:lnSpc>
                <a:spcPct val="130000"/>
              </a:lnSpc>
            </a:pPr>
            <a:r>
              <a:rPr lang="en-US" sz="1600" dirty="0"/>
              <a:t>Performing a cultural self-assessment to identify their own beliefs and biases</a:t>
            </a:r>
          </a:p>
          <a:p>
            <a:pPr algn="just">
              <a:lnSpc>
                <a:spcPct val="130000"/>
              </a:lnSpc>
            </a:pPr>
            <a:r>
              <a:rPr lang="en-US" sz="1600" dirty="0"/>
              <a:t>Learning from peers from the same cultural group as their clients</a:t>
            </a:r>
          </a:p>
          <a:p>
            <a:pPr algn="just">
              <a:lnSpc>
                <a:spcPct val="130000"/>
              </a:lnSpc>
            </a:pPr>
            <a:r>
              <a:rPr lang="en-US" sz="1600" dirty="0"/>
              <a:t>Attending workshops or conferences on transcultural nursing and cultural ethics</a:t>
            </a:r>
          </a:p>
          <a:p>
            <a:pPr algn="just">
              <a:lnSpc>
                <a:spcPct val="130000"/>
              </a:lnSpc>
            </a:pPr>
            <a:r>
              <a:rPr lang="en-US" sz="1600" dirty="0"/>
              <a:t>Reading about ethnocultural and alternative health care practices, talking with clients about their views, and attending community cultural events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a:xfrm>
            <a:off x="1957389" y="611229"/>
            <a:ext cx="8524875" cy="553998"/>
          </a:xfrm>
        </p:spPr>
        <p:txBody>
          <a:bodyPr>
            <a:normAutofit fontScale="90000"/>
          </a:bodyPr>
          <a:lstStyle/>
          <a:p>
            <a:pPr eaLnBrk="1" hangingPunct="1">
              <a:defRPr/>
            </a:pPr>
            <a:r>
              <a:rPr lang="en-US" sz="4000" b="1" dirty="0">
                <a:solidFill>
                  <a:srgbClr val="FF0000"/>
                </a:solidFill>
              </a:rPr>
              <a:t>Cross-Cultural Guidelines for Practice</a:t>
            </a:r>
          </a:p>
        </p:txBody>
      </p:sp>
      <p:sp>
        <p:nvSpPr>
          <p:cNvPr id="4099" name="Rectangle 3"/>
          <p:cNvSpPr>
            <a:spLocks noGrp="1" noChangeArrowheads="1"/>
          </p:cNvSpPr>
          <p:nvPr>
            <p:ph idx="1"/>
          </p:nvPr>
        </p:nvSpPr>
        <p:spPr>
          <a:xfrm>
            <a:off x="975360" y="1750000"/>
            <a:ext cx="10241280" cy="4750000"/>
          </a:xfrm>
        </p:spPr>
        <p:txBody>
          <a:bodyPr>
            <a:normAutofit fontScale="90000" lnSpcReduction="10000"/>
          </a:bodyPr>
          <a:lstStyle/>
          <a:p>
            <a:pPr algn="just">
              <a:lnSpc>
                <a:spcPct val="130000"/>
              </a:lnSpc>
            </a:pPr>
            <a:r>
              <a:rPr lang="en-US" sz="1600" dirty="0"/>
              <a:t>Know your own belief system and values, and acknowledge that cultural differences may exist</a:t>
            </a:r>
          </a:p>
          <a:p>
            <a:pPr algn="just">
              <a:lnSpc>
                <a:spcPct val="130000"/>
              </a:lnSpc>
            </a:pPr>
            <a:r>
              <a:rPr lang="en-US" sz="1600" dirty="0"/>
              <a:t>Build a basic understanding of other cultures without stereotyping or assuming you understand what any one person thinks or feels</a:t>
            </a:r>
          </a:p>
          <a:p>
            <a:pPr algn="just">
              <a:lnSpc>
                <a:spcPct val="130000"/>
              </a:lnSpc>
            </a:pPr>
            <a:r>
              <a:rPr lang="en-US" sz="1600" dirty="0"/>
              <a:t>Show genuine interest, suspend judgment, and work to establish trust</a:t>
            </a:r>
          </a:p>
          <a:p>
            <a:pPr algn="just">
              <a:lnSpc>
                <a:spcPct val="130000"/>
              </a:lnSpc>
            </a:pPr>
            <a:r>
              <a:rPr lang="en-US" sz="1600" dirty="0"/>
              <a:t>Respect power imbalances, status hierarchy, and gender and age differences within the family or group</a:t>
            </a:r>
          </a:p>
          <a:p>
            <a:pPr algn="just">
              <a:lnSpc>
                <a:spcPct val="130000"/>
              </a:lnSpc>
            </a:pPr>
            <a:r>
              <a:rPr lang="en-US" sz="1600" b="1" dirty="0"/>
              <a:t>Improve cross-cultural communication skills </a:t>
            </a:r>
            <a:r>
              <a:rPr lang="en-US" sz="1600" dirty="0"/>
              <a:t>– use clear, simple language and avoid jargon or slang</a:t>
            </a:r>
          </a:p>
          <a:p>
            <a:pPr algn="just">
              <a:lnSpc>
                <a:spcPct val="130000"/>
              </a:lnSpc>
            </a:pPr>
            <a:r>
              <a:rPr lang="en-US" sz="1600" dirty="0"/>
              <a:t>Attend to unspoken communication and appropriate body language; practice active listening</a:t>
            </a:r>
          </a:p>
          <a:p>
            <a:pPr algn="just">
              <a:lnSpc>
                <a:spcPct val="130000"/>
              </a:lnSpc>
            </a:pPr>
            <a:r>
              <a:rPr lang="en-US" sz="1600" b="1" dirty="0"/>
              <a:t>Don't assume understanding </a:t>
            </a:r>
            <a:r>
              <a:rPr lang="en-US" sz="1600" dirty="0"/>
              <a:t>– clarify and seek feedback to confirm the message was understood</a:t>
            </a:r>
          </a:p>
          <a:p>
            <a:pPr algn="just">
              <a:lnSpc>
                <a:spcPct val="130000"/>
              </a:lnSpc>
            </a:pPr>
            <a:r>
              <a:rPr lang="en-US" sz="1600" dirty="0"/>
              <a:t>Apologize for cultural mistakes and show willingness to learn</a:t>
            </a:r>
          </a:p>
          <a:p>
            <a:pPr algn="just">
              <a:lnSpc>
                <a:spcPct val="130000"/>
              </a:lnSpc>
            </a:pPr>
            <a:r>
              <a:rPr lang="en-US" sz="1600" dirty="0"/>
              <a:t>Use trained interpreters and deliver information in the client's preferred language whenever possible</a:t>
            </a:r>
          </a:p>
          <a:p>
            <a:pPr algn="just">
              <a:lnSpc>
                <a:spcPct val="130000"/>
              </a:lnSpc>
            </a:pPr>
            <a:r>
              <a:rPr lang="en-US" sz="1600" dirty="0"/>
              <a:t>Assess immigration history, refugee stress or trauma, acculturation gaps, and experiences of discrimination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a:xfrm>
            <a:off x="1957389" y="611229"/>
            <a:ext cx="8524875" cy="553998"/>
          </a:xfrm>
        </p:spPr>
        <p:txBody>
          <a:bodyPr>
            <a:normAutofit fontScale="90000"/>
          </a:bodyPr>
          <a:lstStyle/>
          <a:p>
            <a:pPr eaLnBrk="1" hangingPunct="1">
              <a:defRPr/>
            </a:pPr>
            <a:r>
              <a:rPr lang="en-US" sz="4000" b="1" dirty="0">
                <a:solidFill>
                  <a:srgbClr val="FF0000"/>
                </a:solidFill>
              </a:rPr>
              <a:t>Harmful vs. Helpful Cultural Practices</a:t>
            </a:r>
          </a:p>
        </p:txBody>
      </p:sp>
      <p:sp>
        <p:nvSpPr>
          <p:cNvPr id="4099" name="Rectangle 3"/>
          <p:cNvSpPr>
            <a:spLocks noGrp="1" noChangeArrowheads="1"/>
          </p:cNvSpPr>
          <p:nvPr>
            <p:ph idx="1"/>
          </p:nvPr>
        </p:nvSpPr>
        <p:spPr>
          <a:xfrm>
            <a:off x="975360" y="1750000"/>
            <a:ext cx="10241280" cy="4750000"/>
          </a:xfrm>
        </p:spPr>
        <p:txBody>
          <a:bodyPr>
            <a:normAutofit fontScale="90000" lnSpcReduction="10000"/>
          </a:bodyPr>
          <a:lstStyle/>
          <a:p>
            <a:pPr algn="just">
              <a:lnSpc>
                <a:spcPct val="130000"/>
              </a:lnSpc>
            </a:pPr>
            <a:r>
              <a:rPr lang="en-US" sz="1600" dirty="0"/>
              <a:t>Some traditional practices promote physical and psychological health (customary diet, birth rituals, certain folk remedies)</a:t>
            </a:r>
          </a:p>
          <a:p>
            <a:pPr algn="just">
              <a:lnSpc>
                <a:spcPct val="130000"/>
              </a:lnSpc>
            </a:pPr>
            <a:r>
              <a:rPr lang="en-US" sz="1600" dirty="0"/>
              <a:t>Other practices are neither harmful nor health-promoting but are important for preserving cultural identity and security</a:t>
            </a:r>
          </a:p>
          <a:p>
            <a:pPr algn="just">
              <a:lnSpc>
                <a:spcPct val="130000"/>
              </a:lnSpc>
            </a:pPr>
            <a:r>
              <a:rPr lang="en-US" sz="1600" dirty="0"/>
              <a:t>Some traditional practices can be directly harmful, such as relying solely on herbal poultices to treat an infected wound instead of antibiotics, “burning” the abdomen to compensate for heat loss from diarrhea, or using Greta or Azarcon (lead-containing Hispanic remedies for stomach discomfort)</a:t>
            </a:r>
          </a:p>
          <a:p>
            <a:pPr algn="just">
              <a:lnSpc>
                <a:spcPct val="130000"/>
              </a:lnSpc>
            </a:pPr>
            <a:r>
              <a:rPr lang="en-US" sz="1600" dirty="0"/>
              <a:t>Harmful practices are best addressed by discussing concerns with group leaders and healers, while respecting the group's norms for authority and decision-making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763899EB7218148ABC9BC5B0430BABF" ma:contentTypeVersion="0" ma:contentTypeDescription="Create a new document." ma:contentTypeScope="" ma:versionID="55ce4a50c4cdcf9ac8a474fe6390b72b">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692F854-3549-41CD-8F1E-5F79EE5B662A}"/>
</file>

<file path=customXml/itemProps2.xml><?xml version="1.0" encoding="utf-8"?>
<ds:datastoreItem xmlns:ds="http://schemas.openxmlformats.org/officeDocument/2006/customXml" ds:itemID="{9B203820-DF21-4F60-976E-C716F56B25B8}"/>
</file>

<file path=customXml/itemProps3.xml><?xml version="1.0" encoding="utf-8"?>
<ds:datastoreItem xmlns:ds="http://schemas.openxmlformats.org/officeDocument/2006/customXml" ds:itemID="{174F02BB-C4C5-4173-BAD4-1E413CD894AF}"/>
</file>

<file path=docMetadata/LabelInfo.xml><?xml version="1.0" encoding="utf-8"?>
<clbl:labelList xmlns:clbl="http://schemas.microsoft.com/office/2020/mipLabelMetadata">
  <clbl:label id="{de069c64-97de-41b1-b6a5-363c07bccaa3}" enabled="1" method="Standard" siteId="{026137b5-e313-46d1-9b2f-026ecb50c842}" contentBits="0" removed="0"/>
</clbl:labelList>
</file>

<file path=docProps/app.xml><?xml version="1.0" encoding="utf-8"?>
<Properties xmlns="http://schemas.openxmlformats.org/officeDocument/2006/extended-properties" xmlns:vt="http://schemas.openxmlformats.org/officeDocument/2006/docPropsVTypes">
  <TotalTime>2233</TotalTime>
  <Words>2388</Words>
  <Application>Microsoft Office PowerPoint</Application>
  <PresentationFormat>Widescreen</PresentationFormat>
  <Paragraphs>219</Paragraphs>
  <Slides>45</Slides>
  <Notes>25</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Algerian</vt:lpstr>
      <vt:lpstr>Arial</vt:lpstr>
      <vt:lpstr>Calibri</vt:lpstr>
      <vt:lpstr>Calibri Light</vt:lpstr>
      <vt:lpstr>Times New Roman</vt:lpstr>
      <vt:lpstr>Verdana</vt:lpstr>
      <vt:lpstr>Wingdings</vt:lpstr>
      <vt:lpstr>Office Theme</vt:lpstr>
      <vt:lpstr>  Transcultural Nursing     2025-2026 </vt:lpstr>
      <vt:lpstr>Objectives </vt:lpstr>
      <vt:lpstr>The Meaning of Culture</vt:lpstr>
      <vt:lpstr>Cultural Diversity</vt:lpstr>
      <vt:lpstr>PowerPoint Presentation</vt:lpstr>
      <vt:lpstr>Cultural Diversity</vt:lpstr>
      <vt:lpstr>Question #1</vt:lpstr>
      <vt:lpstr>Answer to Question #1</vt:lpstr>
      <vt:lpstr>Ethnocentrism</vt:lpstr>
      <vt:lpstr>Ethnorelativism</vt:lpstr>
      <vt:lpstr>Cultural Sensitivity Continuum</vt:lpstr>
      <vt:lpstr>Characteristics of Culture</vt:lpstr>
      <vt:lpstr>Characteristics of Culture</vt:lpstr>
      <vt:lpstr>Characteristics of Culture</vt:lpstr>
      <vt:lpstr>Characteristics of Culture</vt:lpstr>
      <vt:lpstr>Characteristics of Culture</vt:lpstr>
      <vt:lpstr>World community </vt:lpstr>
      <vt:lpstr>World community </vt:lpstr>
      <vt:lpstr>Biomedical</vt:lpstr>
      <vt:lpstr>Magicoreligious</vt:lpstr>
      <vt:lpstr>Holistic</vt:lpstr>
      <vt:lpstr>Folk medicine and home remedies </vt:lpstr>
      <vt:lpstr>Herbalism</vt:lpstr>
      <vt:lpstr>Prescription and over-the-counter drugs </vt:lpstr>
      <vt:lpstr>Question #2</vt:lpstr>
      <vt:lpstr>Answer to Question #2</vt:lpstr>
      <vt:lpstr>Activity:  Select a  Cultural Community and discuss the following:</vt:lpstr>
      <vt:lpstr>Example:  Arab Populations and Muslims </vt:lpstr>
      <vt:lpstr>PowerPoint Presentation</vt:lpstr>
      <vt:lpstr>PowerPoint Presentation</vt:lpstr>
      <vt:lpstr>PowerPoint Presentation</vt:lpstr>
      <vt:lpstr>PowerPoint Presentation</vt:lpstr>
      <vt:lpstr>Guidelines for nurses working with groups</vt:lpstr>
      <vt:lpstr>PowerPoint Presentation</vt:lpstr>
      <vt:lpstr>PowerPoint Presentation</vt:lpstr>
      <vt:lpstr> Transcultural Nursing Principles</vt:lpstr>
      <vt:lpstr>Develop Cultural Self-Awareness </vt:lpstr>
      <vt:lpstr>Cultivate Cultural Sensitivity </vt:lpstr>
      <vt:lpstr>Assess the Client Group’s Culture</vt:lpstr>
      <vt:lpstr>Cultural Assessment</vt:lpstr>
      <vt:lpstr>Show Respect and Patience While Learning About Other Cultures </vt:lpstr>
      <vt:lpstr>Examine Culturally Derived Health Practices </vt:lpstr>
      <vt:lpstr>Question #3</vt:lpstr>
      <vt:lpstr>Answer to Question #3</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Transcultural Nursing in the Community  Chapter 5   September 2023</dc:title>
  <dc:creator>Ahmed Hashem Elsayed Elmonshed</dc:creator>
  <cp:lastModifiedBy>Dr.TOQA JAMEEL ABBAS BUSEBAIA</cp:lastModifiedBy>
  <cp:revision>4</cp:revision>
  <dcterms:created xsi:type="dcterms:W3CDTF">2023-09-18T09:17:25Z</dcterms:created>
  <dcterms:modified xsi:type="dcterms:W3CDTF">2026-09-07T07:36:21Z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0x010100B763899EB7218148ABC9BC5B0430BABF</vt:lpwstr>
  </property>
</Properties>
</file>